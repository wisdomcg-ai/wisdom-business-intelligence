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91"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1B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47"/>
    <p:restoredTop sz="94610"/>
  </p:normalViewPr>
  <p:slideViewPr>
    <p:cSldViewPr snapToGrid="0" snapToObjects="1">
      <p:cViewPr varScale="1">
        <p:scale>
          <a:sx n="223" d="100"/>
          <a:sy n="223" d="100"/>
        </p:scale>
        <p:origin x="1120"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3829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Set the tone — this is a working session, not a lecture. By the end, they will have a tool in their hands they can use tomorrow morning.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them to type in chat. Read a few out. No judgement — 'wherever you are is the right starting point.' This gives you real-time intel on the room.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tells you how to pitch the session. Lots of A+B? More foundational. Lots of C+D? Lean into the upgrade framing — 'this is what's been missing.'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these answers later in Act 5 — 'Those of you who said A or B — here's the upgrade.' It makes the session feel personal.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make anyone feel stupid here. Frame this as 'what I see everywhere — not just in this room.' The problem is the mental model, not the person. Once you name it, people relax.</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room sit with this. Ask: 'Hands up if you've had an answer like this.' Pause. Let them recognise it. Then: 'What's missing?' The answer: AI knows nothing about her. The problem hasn't been described — it's been labelled.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problem. Different outcome.' What changed? The prompt. She gave AI context. She told it to ask questions before answering. That phrase — 'before you suggest anything, ask me questions one at a time' — is the most important thing in this session. We'll come back to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Clarity First
This is the bridge from the Before/After you just showed to the framework you're about to teach. Pause here.
'Here's why those two answers were so different. It wasn't a better question. It was a better problem description. The moment Sarah stopped asking for a solution and started describing the situation — everything changed.'
'Most people treat AI like a vending machine. They know what they want. They ask for it. They get a mediocre version of it. The people who get 10x results do something different: they describe the problem, not the solution. They give the conversation time to go somewhere they didn't expect.'
Read the quote. Let it land. Then move to the system.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photograph slide. 'If you screenshot one slide today, make it this one.'
Phase 1 — Unpack the problem. Know what you're actually solving before you ask for anything.
Phase 2 — Work with AI. The C³ method: Clarity, Curiosity, Challenge.
Phase 3 — Go DEEPER. Discover, Explore, Evaluate, Plan, Execute, Refine.
When you go DEEPER with AI — the results are 10x. We'll walk through every step using a real example.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Tell this as a story. Use her name. 'I want to tell you about Sarah.' The audience needs to care about her before the framework makes sense. She's not a case study — she's a person who's been stuck on the same problem for three years.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describe the symptom and stop. The breakthrough is always at the constraint. Sarah's symptom: 'compliance paperwork eats my Mondays.' Her constraint: 'no single owner, records in three places.' Completely different problem — completely different solution. Don't skip this step.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S15b: Where to start
'This is the starting point. This is the prompt Sarah used — and the prompt you'll use at the end of this session on your own problem.'
'Don't try to use it right now. Just read it. Notice what it does: it tells AI not to suggest solutions yet. It asks to work through the problem one layer at a time. And it ends with a quality check — AI has to restate the problem in two sentences before it's allowed to move on.'
'That last instruction is the important one. If AI can't restate it cleanly, the conversation hasn't gone deep enough yet.'
'Now watch Sarah use it — so you can see what good looks like before you do it yourself.'</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S15: Sarah's 5-Layer story
Read each layer as a beat. Pause after Layer 3.
'Layer 1 — compliance paperwork eating her Mondays. That's the symptom. That's where most people stop.'
'Layer 2 — she maps what's actually happening. Spreadsheet. Manual inductions. Nothing flagged.'
Pause here.
'Layer 3. No single owner. Whoever is around does it. Records in three places. That is a completely different problem from what she described in Layer 1.'
'Layer 4 — two near-misses. If audited this month, they fail. Now it's not a process problem. It's a compliance risk.'
'Layer 5 — it's technically her problem. But she can't be the solution.'
Pause again.
'She hasn't asked AI a single question yet. And she already knows what she's actually solving. That's the power of Phase 1 — it changes the problem before you open anything.'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C³ is not a list — it's a sequence. You can't skip Clarity and expect Curiosity to work. You can't skip both and expect Challenge to save you. Walk through each one. The phrase that matters most: 'Before you suggest anything, ask me questions one at a time.'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'Which row do you recognise yourself in?' Most people are row 2 — curious but no clarity. They get interesting answers that don't quite fit because they haven't loaded the context first.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S17: C³ Prompt Menu
'Three columns. One for each move in Phase 2.'
'Clarity — you load the context. Curiosity — you let AI investigate. Challenge — you push back on the first answer.'
Point to the starred phrase in Curiosity.
'This one. This is the phrase. Before answering, ask me questions one at a time. If you use nothing else from today — use this. It changes what AI does next.'
'Sarah is about to use all three. Watch how each column shows up in the conversation.'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S15c: Phase 2 bridge
'Notice what this prompt does NOT do. It doesn't ask Sarah to remember her five layers and type them all out. AI already has them — it just walked her through them. This prompt tells AI to use what it learned.'
'Summarise what you've understood. Ask anything you're still not sure about. Restate the problem. Get permission before suggesting solutions. That's it.'
'The last line is important: only then ask if you can start suggesting solutions. That's the gate. AI can't just skip to answers because it's confident. It has to earn the green light.'
Transition: 'Watch Sarah send this — and watch what happens next.'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other text on this slide. Just the phrase. Read it aloud. Pause. 'If you forget everything else today — remember this.' It's the single behavioural change that produces the biggest immediate result.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S16a: Clarity
Walk through the prompt. 'After Phase 1, AI has already walked Sarah through the layers. She's confirmed the restatement. Now she adds her role and the full constraint upfront — not to educate AI, but to anchor everything that follows.'
'The last line is the most important instruction in this session: ask me questions before you answer. She doesn't want a solution. She wants AI to keep going deeper.'
'Without Clarity — AI guesses the context. With it — every question it asks is the right one.'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S16b: Curiosity
'It didn't give her a list. It asked a question. One question. And notice — it's the right question. Because she loaded the context first.'
'She answers. It asks another. Each exchange goes one layer deeper. This is what Curiosity looks like — you're not directing, you're responding. AI is doing the investigating.'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S16c: The wrong answer
'Stop. Look at this. It's a reasonable answer. A Google Sheet, calendar alerts, a compliance owner. Most people would screenshot this, say thank you, and close the tab.'
'But Sarah knows something AI doesn't. She's tried the Google Sheet. She's tried the calendar alerts. Both times it worked for three weeks and then collapsed — because nobody had time to maintain it on top of their normal job.'
'AI gave her the symptom-level solution. She needed the constraint-level solution. And the only person who can tell the difference — is her.'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S16d: Challenge
'She doesn't accept the first answer. She tells AI why it won't work — and she uses the Curiosity phrase: "What am I not thinking about?"
'Watch what happens. AI doesn't defend its answer. It changes direction. It asks a completely different question — one it should have asked earlier. And now the conversation is in completely different territory.'
'This is the moment. Right here. This is where most people leave value on the table. They take the first answer. She didn't.'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S16e: The reframe
'Read that restatement out loud. Really read it.'
'That's not the answer to the question she asked. It's the answer to the question she should have asked. And AI only got there because she pushed back.
'She said "that's exactly it." Three years of struggling with the problem — and in four exchanges, it's been seen clearly for the first time. Now the solution can actually work.'</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S16f: The output
'Look at the gap between column one and column three. She asked for a checklist. She got a system that runs without anyone having to remember anything.
'That gap — between what you ask for and what you actually need — is exactly what the C³ method creates. Clarity gave AI the context. Curiosity let AI ask the right questions. Challenge made sure the first answer wasn't the last answer.
'Without Challenge — she takes the Google Sheet solution home and it fails in a month. Again.'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Plan prompt
'C³ ends with a solution. But a solution without a plan is just a good idea. This prompt bridges the two.'
'Notice what it does — it asks AI to generate the plan, not the user. AI has been in the conversation the whole time. It knows the problem, the constraint, the solution. It should produce the steps.'
'The user's job is to say yes or no. Adjust what's wrong. Then take it away and execute.'
'Sarah is about to do exactly this. Watch what the plan looks like when AI generates it from the conversation — rather than her having to remember everything and write it herself.'</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DEEPER Framework
Introduce each letter. Take your time.
'D — Discover. Before you open anything, you map the real problem. That's the 5-Layer Model.'
'E — Explore. C¹ and C². You load the context, you let AI ask questions. You don't jump to answers.'
'E — Evaluate. C³. You push back. You challenge the first answer. You agree the solution together.'
'P — Plan. You send the plan prompt. AI generates the implementation steps from the conversation it's been in.'
'E — Execute. One more session. You build it. Sarah built hers on a Thursday. It was running by Monday.'
'R — Refine. You look at what worked. What to improve. And you go again — deeper each time.'
Pause.
'That last step is what separates the people who use AI once and the people who keep getting better results. Refine is where the compounding starts.'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Sarah's Plan
'Sarah sends the plan prompt. She doesn't open a new document, she doesn't write the steps herself. She just sends four lines — and AI generates the whole implementation plan from the conversation it's been in.'
'Look at what AI produced. The solution in one sentence. Three concrete steps with owners and timelines. A measurable definition of done. And one specific first action.
And the only thing Sarah had to do was say yes.'
'That's the P in DEEPER. Plan. Not a strategy document — a practical commitment she can hand to someone on Monday.'
Transition: 'Now she executes it. And that's where the result comes from.'</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Sample Plan
'Look at this. Four things. That's it. Not a strategy document. Not a 40-slide deck.
The solution in one sentence — what was agreed.
The steps — in order, with owners, with timelines.
Done when — specific enough that on any Monday morning you can ask: has this happened?
First action — not "investigate this" or "think about it". One action. This week.
'Sarah got this from the plan prompt. She didn't write it — AI wrote it from the conversation they'd already had. She just read it, said yes, and booked the meeting.'
'That's the Plan step. It takes three minutes. And it's the difference between a great insight and a real result.'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Execute and Refine
Pause after the result. Let 2 hours → 20 minutes land.
'Execute — one more AI session Thursday. Built the integration. Tested it. Running Monday.'
'And then — Refine. This is the step most people miss. Month 1 she creates an AI Project that knows her business. Month 3 the whole thing is a live tool that runs without her.'
'The R is where the compounding starts. Every time she runs DEEPER, she goes a little further. The ceiling keeps moving.'
Transition: 'Now it's your turn. What's your version of Sarah's Monday morning?'</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the earlier poll answers: 'Those of you who said A or B — this is the method. Those of you who said C — this is the upgrade.' Give them 60 seconds to identify their problem before you move 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hype — these are the timelines I see in the businesses I work with.' Week 1 is immediate. The phrase from S21. Tonight. Month 1 is about applying the method consistently. Month 3 is where the compounding starts.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Everyone in the room is somewhere on it — and the method that got you to Beginner is the same one that gets you to Advanced. The only difference is how deep you go and what you connect it to.' Reference Q2 poll answers: 'Those of you who said A or B — you're at Beginner. Those who said C or D — Intermediate is your next stop.'</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room. 'Point to your level — not out loud, just in your head. Now look at the row above it. That's your next 90 days.' This slide is the permission slip. It shows the C+D people in the room that there's still a ceiling to reach — and shows the A+B people that there's a clear on-ramp. The method is the same either way.</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the three takeaways — not a list of everything they learned, but the three actions. The phrase, the template, the model. 'One real problem this week. That's all. The method does the rest.'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4641A"/>
          </a:solidFill>
          <a:ln w="12700">
            <a:solidFill>
              <a:srgbClr val="D4641A"/>
            </a:solidFill>
            <a:prstDash val="solid"/>
          </a:ln>
        </p:spPr>
      </p:sp>
      <p:pic>
        <p:nvPicPr>
          <p:cNvPr id="3" name="Image 0" descr="preencoded.png"/>
          <p:cNvPicPr>
            <a:picLocks noChangeAspect="1"/>
          </p:cNvPicPr>
          <p:nvPr/>
        </p:nvPicPr>
        <p:blipFill>
          <a:blip r:embed="rId3"/>
          <a:stretch>
            <a:fillRect/>
          </a:stretch>
        </p:blipFill>
        <p:spPr>
          <a:xfrm>
            <a:off x="347472" y="411480"/>
            <a:ext cx="685800" cy="685800"/>
          </a:xfrm>
          <a:prstGeom prst="rect">
            <a:avLst/>
          </a:prstGeom>
        </p:spPr>
      </p:pic>
      <p:sp>
        <p:nvSpPr>
          <p:cNvPr id="4" name="Text 1"/>
          <p:cNvSpPr/>
          <p:nvPr/>
        </p:nvSpPr>
        <p:spPr>
          <a:xfrm>
            <a:off x="347472" y="1234440"/>
            <a:ext cx="8412480" cy="1188720"/>
          </a:xfrm>
          <a:prstGeom prst="rect">
            <a:avLst/>
          </a:prstGeom>
          <a:noFill/>
          <a:ln/>
        </p:spPr>
        <p:txBody>
          <a:bodyPr wrap="square" rtlCol="0" anchor="ctr"/>
          <a:lstStyle/>
          <a:p>
            <a:pPr marL="0" indent="0">
              <a:buNone/>
            </a:pPr>
            <a:r>
              <a:rPr lang="en-US" sz="5400" b="1" dirty="0">
                <a:solidFill>
                  <a:srgbClr val="FFFFFF"/>
                </a:solidFill>
                <a:latin typeface="Arial Black" pitchFamily="34" charset="0"/>
                <a:ea typeface="Arial Black" pitchFamily="34" charset="-122"/>
                <a:cs typeface="Arial Black" pitchFamily="34" charset="-120"/>
              </a:rPr>
              <a:t>THE AI ADVANTAGE</a:t>
            </a:r>
            <a:endParaRPr lang="en-US" sz="5400" dirty="0"/>
          </a:p>
        </p:txBody>
      </p:sp>
      <p:sp>
        <p:nvSpPr>
          <p:cNvPr id="5" name="Text 2"/>
          <p:cNvSpPr/>
          <p:nvPr/>
        </p:nvSpPr>
        <p:spPr>
          <a:xfrm>
            <a:off x="347472" y="2468880"/>
            <a:ext cx="8412480" cy="502920"/>
          </a:xfrm>
          <a:prstGeom prst="rect">
            <a:avLst/>
          </a:prstGeom>
          <a:noFill/>
          <a:ln/>
        </p:spPr>
        <p:txBody>
          <a:bodyPr wrap="square" rtlCol="0" anchor="ctr"/>
          <a:lstStyle/>
          <a:p>
            <a:r>
              <a:rPr lang="en-US" sz="2000" dirty="0">
                <a:solidFill>
                  <a:srgbClr val="AECBDC"/>
                </a:solidFill>
                <a:latin typeface="Calibri" pitchFamily="34" charset="0"/>
                <a:ea typeface="Calibri" pitchFamily="34" charset="-122"/>
                <a:cs typeface="Calibri" pitchFamily="34" charset="-120"/>
              </a:rPr>
              <a:t>From asking questions to solving real problems in your role — today.</a:t>
            </a:r>
            <a:endParaRPr lang="en-US" sz="2000" dirty="0"/>
          </a:p>
        </p:txBody>
      </p:sp>
      <p:sp>
        <p:nvSpPr>
          <p:cNvPr id="6" name="Shape 3"/>
          <p:cNvSpPr/>
          <p:nvPr/>
        </p:nvSpPr>
        <p:spPr>
          <a:xfrm>
            <a:off x="347472" y="3108960"/>
            <a:ext cx="3200400" cy="54864"/>
          </a:xfrm>
          <a:prstGeom prst="rect">
            <a:avLst/>
          </a:prstGeom>
          <a:solidFill>
            <a:srgbClr val="D4641A"/>
          </a:solidFill>
          <a:ln/>
        </p:spPr>
      </p:sp>
      <p:sp>
        <p:nvSpPr>
          <p:cNvPr id="7" name="Text 4"/>
          <p:cNvSpPr/>
          <p:nvPr/>
        </p:nvSpPr>
        <p:spPr>
          <a:xfrm>
            <a:off x="347472" y="3291840"/>
            <a:ext cx="8046720" cy="594360"/>
          </a:xfrm>
          <a:prstGeom prst="rect">
            <a:avLst/>
          </a:prstGeom>
          <a:noFill/>
          <a:ln/>
        </p:spPr>
        <p:txBody>
          <a:bodyPr wrap="square" rtlCol="0" anchor="ctr"/>
          <a:lstStyle/>
          <a:p>
            <a:pPr marL="0" indent="0">
              <a:buNone/>
            </a:pP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A7A9E"/>
          </a:solidFill>
          <a:ln w="12700">
            <a:solidFill>
              <a:srgbClr val="1A7A9E"/>
            </a:solidFill>
            <a:prstDash val="solid"/>
          </a:ln>
        </p:spPr>
      </p:sp>
      <p:sp>
        <p:nvSpPr>
          <p:cNvPr id="3" name="Text 1"/>
          <p:cNvSpPr/>
          <p:nvPr/>
        </p:nvSpPr>
        <p:spPr>
          <a:xfrm>
            <a:off x="347472" y="594360"/>
            <a:ext cx="8412480" cy="502920"/>
          </a:xfrm>
          <a:prstGeom prst="rect">
            <a:avLst/>
          </a:prstGeom>
          <a:noFill/>
          <a:ln/>
        </p:spPr>
        <p:txBody>
          <a:bodyPr wrap="square" rtlCol="0" anchor="ctr"/>
          <a:lstStyle/>
          <a:p>
            <a:pPr marL="0" indent="0">
              <a:buNone/>
            </a:pPr>
            <a:r>
              <a:rPr lang="en-US" sz="1400" b="1" dirty="0">
                <a:solidFill>
                  <a:srgbClr val="1A7A9E"/>
                </a:solidFill>
                <a:latin typeface="Calibri" pitchFamily="34" charset="0"/>
                <a:ea typeface="Calibri" pitchFamily="34" charset="-122"/>
                <a:cs typeface="Calibri" pitchFamily="34" charset="-120"/>
              </a:rPr>
              <a:t>QUICK QUESTION:</a:t>
            </a:r>
            <a:endParaRPr lang="en-US" sz="1400" dirty="0"/>
          </a:p>
        </p:txBody>
      </p:sp>
      <p:sp>
        <p:nvSpPr>
          <p:cNvPr id="4" name="Text 2"/>
          <p:cNvSpPr/>
          <p:nvPr/>
        </p:nvSpPr>
        <p:spPr>
          <a:xfrm>
            <a:off x="347472" y="1078992"/>
            <a:ext cx="8412480" cy="685800"/>
          </a:xfrm>
          <a:prstGeom prst="rect">
            <a:avLst/>
          </a:prstGeom>
          <a:noFill/>
          <a:ln/>
        </p:spPr>
        <p:txBody>
          <a:bodyPr wrap="square" rtlCol="0" anchor="ctr"/>
          <a:lstStyle/>
          <a:p>
            <a:pPr marL="0" indent="0">
              <a:buNone/>
            </a:pPr>
            <a:r>
              <a:rPr lang="en-US" sz="3200" b="1" dirty="0">
                <a:solidFill>
                  <a:srgbClr val="FFFFFF"/>
                </a:solidFill>
                <a:latin typeface="Arial Black" pitchFamily="34" charset="0"/>
                <a:ea typeface="Arial Black" pitchFamily="34" charset="-122"/>
                <a:cs typeface="Arial Black" pitchFamily="34" charset="-120"/>
              </a:rPr>
              <a:t>Which AI tools are you currently using?</a:t>
            </a:r>
            <a:endParaRPr lang="en-US" sz="3200" dirty="0"/>
          </a:p>
        </p:txBody>
      </p:sp>
      <p:sp>
        <p:nvSpPr>
          <p:cNvPr id="5" name="Shape 3"/>
          <p:cNvSpPr/>
          <p:nvPr/>
        </p:nvSpPr>
        <p:spPr>
          <a:xfrm>
            <a:off x="347472" y="1920240"/>
            <a:ext cx="4114800" cy="1143000"/>
          </a:xfrm>
          <a:prstGeom prst="rect">
            <a:avLst/>
          </a:prstGeom>
          <a:solidFill>
            <a:srgbClr val="1E2D3D"/>
          </a:solidFill>
          <a:ln/>
          <a:effectLst>
            <a:outerShdw blurRad="76200" dist="25400" dir="8100000" algn="bl" rotWithShape="0">
              <a:srgbClr val="000000">
                <a:alpha val="15000"/>
              </a:srgbClr>
            </a:outerShdw>
          </a:effectLst>
        </p:spPr>
      </p:sp>
      <p:sp>
        <p:nvSpPr>
          <p:cNvPr id="6" name="Shape 4"/>
          <p:cNvSpPr/>
          <p:nvPr/>
        </p:nvSpPr>
        <p:spPr>
          <a:xfrm>
            <a:off x="347472" y="1920240"/>
            <a:ext cx="594360" cy="1143000"/>
          </a:xfrm>
          <a:prstGeom prst="rect">
            <a:avLst/>
          </a:prstGeom>
          <a:solidFill>
            <a:srgbClr val="1A7A9E"/>
          </a:solidFill>
          <a:ln/>
        </p:spPr>
      </p:sp>
      <p:sp>
        <p:nvSpPr>
          <p:cNvPr id="7" name="Text 5"/>
          <p:cNvSpPr/>
          <p:nvPr/>
        </p:nvSpPr>
        <p:spPr>
          <a:xfrm>
            <a:off x="347472" y="1920240"/>
            <a:ext cx="594360" cy="1143000"/>
          </a:xfrm>
          <a:prstGeom prst="rect">
            <a:avLst/>
          </a:prstGeom>
          <a:noFill/>
          <a:ln/>
        </p:spPr>
        <p:txBody>
          <a:bodyPr wrap="square"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A</a:t>
            </a:r>
            <a:endParaRPr lang="en-US" sz="2200" dirty="0"/>
          </a:p>
        </p:txBody>
      </p:sp>
      <p:sp>
        <p:nvSpPr>
          <p:cNvPr id="8" name="Text 6"/>
          <p:cNvSpPr/>
          <p:nvPr/>
        </p:nvSpPr>
        <p:spPr>
          <a:xfrm>
            <a:off x="1033272" y="1920240"/>
            <a:ext cx="3337560" cy="1143000"/>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ChatGPT</a:t>
            </a:r>
            <a:endParaRPr lang="en-US" sz="1800" dirty="0"/>
          </a:p>
        </p:txBody>
      </p:sp>
      <p:sp>
        <p:nvSpPr>
          <p:cNvPr id="9" name="Shape 7"/>
          <p:cNvSpPr/>
          <p:nvPr/>
        </p:nvSpPr>
        <p:spPr>
          <a:xfrm>
            <a:off x="4690872" y="1920240"/>
            <a:ext cx="4114800" cy="1143000"/>
          </a:xfrm>
          <a:prstGeom prst="rect">
            <a:avLst/>
          </a:prstGeom>
          <a:solidFill>
            <a:srgbClr val="1E2D3D"/>
          </a:solidFill>
          <a:ln/>
          <a:effectLst>
            <a:outerShdw blurRad="76200" dist="25400" dir="8100000" algn="bl" rotWithShape="0">
              <a:srgbClr val="000000">
                <a:alpha val="15000"/>
              </a:srgbClr>
            </a:outerShdw>
          </a:effectLst>
        </p:spPr>
      </p:sp>
      <p:sp>
        <p:nvSpPr>
          <p:cNvPr id="10" name="Shape 8"/>
          <p:cNvSpPr/>
          <p:nvPr/>
        </p:nvSpPr>
        <p:spPr>
          <a:xfrm>
            <a:off x="4690872" y="1920240"/>
            <a:ext cx="594360" cy="1143000"/>
          </a:xfrm>
          <a:prstGeom prst="rect">
            <a:avLst/>
          </a:prstGeom>
          <a:solidFill>
            <a:srgbClr val="D4641A"/>
          </a:solidFill>
          <a:ln/>
        </p:spPr>
      </p:sp>
      <p:sp>
        <p:nvSpPr>
          <p:cNvPr id="11" name="Text 9"/>
          <p:cNvSpPr/>
          <p:nvPr/>
        </p:nvSpPr>
        <p:spPr>
          <a:xfrm>
            <a:off x="4690872" y="1920240"/>
            <a:ext cx="594360" cy="1143000"/>
          </a:xfrm>
          <a:prstGeom prst="rect">
            <a:avLst/>
          </a:prstGeom>
          <a:noFill/>
          <a:ln/>
        </p:spPr>
        <p:txBody>
          <a:bodyPr wrap="square"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B</a:t>
            </a:r>
            <a:endParaRPr lang="en-US" sz="2200" dirty="0"/>
          </a:p>
        </p:txBody>
      </p:sp>
      <p:sp>
        <p:nvSpPr>
          <p:cNvPr id="12" name="Text 10"/>
          <p:cNvSpPr/>
          <p:nvPr/>
        </p:nvSpPr>
        <p:spPr>
          <a:xfrm>
            <a:off x="5376672" y="1920240"/>
            <a:ext cx="3337560" cy="1143000"/>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Claude</a:t>
            </a:r>
            <a:endParaRPr lang="en-US" sz="1800" dirty="0"/>
          </a:p>
        </p:txBody>
      </p:sp>
      <p:sp>
        <p:nvSpPr>
          <p:cNvPr id="13" name="Shape 11"/>
          <p:cNvSpPr/>
          <p:nvPr/>
        </p:nvSpPr>
        <p:spPr>
          <a:xfrm>
            <a:off x="347472" y="3246120"/>
            <a:ext cx="4114800" cy="1143000"/>
          </a:xfrm>
          <a:prstGeom prst="rect">
            <a:avLst/>
          </a:prstGeom>
          <a:solidFill>
            <a:srgbClr val="1E2D3D"/>
          </a:solidFill>
          <a:ln/>
          <a:effectLst>
            <a:outerShdw blurRad="76200" dist="25400" dir="8100000" algn="bl" rotWithShape="0">
              <a:srgbClr val="000000">
                <a:alpha val="15000"/>
              </a:srgbClr>
            </a:outerShdw>
          </a:effectLst>
        </p:spPr>
      </p:sp>
      <p:sp>
        <p:nvSpPr>
          <p:cNvPr id="14" name="Shape 12"/>
          <p:cNvSpPr/>
          <p:nvPr/>
        </p:nvSpPr>
        <p:spPr>
          <a:xfrm>
            <a:off x="347472" y="3246120"/>
            <a:ext cx="594360" cy="1143000"/>
          </a:xfrm>
          <a:prstGeom prst="rect">
            <a:avLst/>
          </a:prstGeom>
          <a:solidFill>
            <a:srgbClr val="E8A020"/>
          </a:solidFill>
          <a:ln/>
        </p:spPr>
      </p:sp>
      <p:sp>
        <p:nvSpPr>
          <p:cNvPr id="15" name="Text 13"/>
          <p:cNvSpPr/>
          <p:nvPr/>
        </p:nvSpPr>
        <p:spPr>
          <a:xfrm>
            <a:off x="347472" y="3246120"/>
            <a:ext cx="594360" cy="1143000"/>
          </a:xfrm>
          <a:prstGeom prst="rect">
            <a:avLst/>
          </a:prstGeom>
          <a:noFill/>
          <a:ln/>
        </p:spPr>
        <p:txBody>
          <a:bodyPr wrap="square"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C</a:t>
            </a:r>
            <a:endParaRPr lang="en-US" sz="2200" dirty="0"/>
          </a:p>
        </p:txBody>
      </p:sp>
      <p:sp>
        <p:nvSpPr>
          <p:cNvPr id="16" name="Text 14"/>
          <p:cNvSpPr/>
          <p:nvPr/>
        </p:nvSpPr>
        <p:spPr>
          <a:xfrm>
            <a:off x="1033272" y="3246120"/>
            <a:ext cx="3337560" cy="1143000"/>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Gemini / Copilot</a:t>
            </a:r>
            <a:endParaRPr lang="en-US" sz="1800" dirty="0"/>
          </a:p>
        </p:txBody>
      </p:sp>
      <p:sp>
        <p:nvSpPr>
          <p:cNvPr id="17" name="Shape 15"/>
          <p:cNvSpPr/>
          <p:nvPr/>
        </p:nvSpPr>
        <p:spPr>
          <a:xfrm>
            <a:off x="4690872" y="3246120"/>
            <a:ext cx="4114800" cy="1143000"/>
          </a:xfrm>
          <a:prstGeom prst="rect">
            <a:avLst/>
          </a:prstGeom>
          <a:solidFill>
            <a:srgbClr val="1E2D3D"/>
          </a:solidFill>
          <a:ln/>
          <a:effectLst>
            <a:outerShdw blurRad="76200" dist="25400" dir="8100000" algn="bl" rotWithShape="0">
              <a:srgbClr val="000000">
                <a:alpha val="15000"/>
              </a:srgbClr>
            </a:outerShdw>
          </a:effectLst>
        </p:spPr>
      </p:sp>
      <p:sp>
        <p:nvSpPr>
          <p:cNvPr id="18" name="Shape 16"/>
          <p:cNvSpPr/>
          <p:nvPr/>
        </p:nvSpPr>
        <p:spPr>
          <a:xfrm>
            <a:off x="4690872" y="3246120"/>
            <a:ext cx="594360" cy="1143000"/>
          </a:xfrm>
          <a:prstGeom prst="rect">
            <a:avLst/>
          </a:prstGeom>
          <a:solidFill>
            <a:srgbClr val="6B7280"/>
          </a:solidFill>
          <a:ln/>
        </p:spPr>
      </p:sp>
      <p:sp>
        <p:nvSpPr>
          <p:cNvPr id="19" name="Text 17"/>
          <p:cNvSpPr/>
          <p:nvPr/>
        </p:nvSpPr>
        <p:spPr>
          <a:xfrm>
            <a:off x="4690872" y="3246120"/>
            <a:ext cx="594360" cy="1143000"/>
          </a:xfrm>
          <a:prstGeom prst="rect">
            <a:avLst/>
          </a:prstGeom>
          <a:noFill/>
          <a:ln/>
        </p:spPr>
        <p:txBody>
          <a:bodyPr wrap="square"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D</a:t>
            </a:r>
            <a:endParaRPr lang="en-US" sz="2200" dirty="0"/>
          </a:p>
        </p:txBody>
      </p:sp>
      <p:sp>
        <p:nvSpPr>
          <p:cNvPr id="20" name="Text 18"/>
          <p:cNvSpPr/>
          <p:nvPr/>
        </p:nvSpPr>
        <p:spPr>
          <a:xfrm>
            <a:off x="5376672" y="3246120"/>
            <a:ext cx="3337560" cy="1143000"/>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None yet</a:t>
            </a:r>
            <a:endParaRPr lang="en-US" sz="1800" dirty="0"/>
          </a:p>
        </p:txBody>
      </p:sp>
      <p:sp>
        <p:nvSpPr>
          <p:cNvPr id="21" name="Text 19"/>
          <p:cNvSpPr/>
          <p:nvPr/>
        </p:nvSpPr>
        <p:spPr>
          <a:xfrm>
            <a:off x="347472" y="4617720"/>
            <a:ext cx="8412480" cy="347472"/>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Type your answer in the chat →</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A7A9E"/>
          </a:solidFill>
          <a:ln w="12700">
            <a:solidFill>
              <a:srgbClr val="1A7A9E"/>
            </a:solidFill>
            <a:prstDash val="solid"/>
          </a:ln>
        </p:spPr>
      </p:sp>
      <p:sp>
        <p:nvSpPr>
          <p:cNvPr id="3" name="Text 1"/>
          <p:cNvSpPr/>
          <p:nvPr/>
        </p:nvSpPr>
        <p:spPr>
          <a:xfrm>
            <a:off x="347472" y="594360"/>
            <a:ext cx="8412480" cy="502920"/>
          </a:xfrm>
          <a:prstGeom prst="rect">
            <a:avLst/>
          </a:prstGeom>
          <a:noFill/>
          <a:ln/>
        </p:spPr>
        <p:txBody>
          <a:bodyPr wrap="square" rtlCol="0" anchor="ctr"/>
          <a:lstStyle/>
          <a:p>
            <a:pPr marL="0" indent="0">
              <a:buNone/>
            </a:pPr>
            <a:r>
              <a:rPr lang="en-US" sz="1400" b="1" dirty="0">
                <a:solidFill>
                  <a:srgbClr val="1A7A9E"/>
                </a:solidFill>
                <a:latin typeface="Calibri" pitchFamily="34" charset="0"/>
                <a:ea typeface="Calibri" pitchFamily="34" charset="-122"/>
                <a:cs typeface="Calibri" pitchFamily="34" charset="-120"/>
              </a:rPr>
              <a:t>QUICK QUESTION:</a:t>
            </a:r>
            <a:endParaRPr lang="en-US" sz="1400" dirty="0"/>
          </a:p>
        </p:txBody>
      </p:sp>
      <p:sp>
        <p:nvSpPr>
          <p:cNvPr id="4" name="Text 2"/>
          <p:cNvSpPr/>
          <p:nvPr/>
        </p:nvSpPr>
        <p:spPr>
          <a:xfrm>
            <a:off x="347472" y="1078992"/>
            <a:ext cx="8412480" cy="685800"/>
          </a:xfrm>
          <a:prstGeom prst="rect">
            <a:avLst/>
          </a:prstGeom>
          <a:noFill/>
          <a:ln/>
        </p:spPr>
        <p:txBody>
          <a:bodyPr wrap="square" rtlCol="0" anchor="ctr"/>
          <a:lstStyle/>
          <a:p>
            <a:pPr marL="0" indent="0">
              <a:buNone/>
            </a:pPr>
            <a:r>
              <a:rPr lang="en-US" sz="3200" b="1" dirty="0">
                <a:solidFill>
                  <a:srgbClr val="FFFFFF"/>
                </a:solidFill>
                <a:latin typeface="Arial Black" pitchFamily="34" charset="0"/>
                <a:ea typeface="Arial Black" pitchFamily="34" charset="-122"/>
                <a:cs typeface="Arial Black" pitchFamily="34" charset="-120"/>
              </a:rPr>
              <a:t>Where are you at with AI right now?</a:t>
            </a:r>
            <a:endParaRPr lang="en-US" sz="3200" dirty="0"/>
          </a:p>
        </p:txBody>
      </p:sp>
      <p:sp>
        <p:nvSpPr>
          <p:cNvPr id="5" name="Shape 3"/>
          <p:cNvSpPr/>
          <p:nvPr/>
        </p:nvSpPr>
        <p:spPr>
          <a:xfrm>
            <a:off x="347472" y="1920240"/>
            <a:ext cx="8412480" cy="640080"/>
          </a:xfrm>
          <a:prstGeom prst="rect">
            <a:avLst/>
          </a:prstGeom>
          <a:solidFill>
            <a:srgbClr val="1E2D3D"/>
          </a:solidFill>
          <a:ln/>
          <a:effectLst>
            <a:outerShdw blurRad="76200" dist="25400" dir="8100000" algn="bl" rotWithShape="0">
              <a:srgbClr val="000000">
                <a:alpha val="15000"/>
              </a:srgbClr>
            </a:outerShdw>
          </a:effectLst>
        </p:spPr>
      </p:sp>
      <p:sp>
        <p:nvSpPr>
          <p:cNvPr id="6" name="Shape 4"/>
          <p:cNvSpPr/>
          <p:nvPr/>
        </p:nvSpPr>
        <p:spPr>
          <a:xfrm>
            <a:off x="347472" y="1920240"/>
            <a:ext cx="502920" cy="640080"/>
          </a:xfrm>
          <a:prstGeom prst="rect">
            <a:avLst/>
          </a:prstGeom>
          <a:solidFill>
            <a:srgbClr val="1A7A9E"/>
          </a:solidFill>
          <a:ln/>
        </p:spPr>
      </p:sp>
      <p:sp>
        <p:nvSpPr>
          <p:cNvPr id="7" name="Text 5"/>
          <p:cNvSpPr/>
          <p:nvPr/>
        </p:nvSpPr>
        <p:spPr>
          <a:xfrm>
            <a:off x="347472" y="1920240"/>
            <a:ext cx="502920" cy="640080"/>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A</a:t>
            </a:r>
            <a:endParaRPr lang="en-US" sz="1800" dirty="0"/>
          </a:p>
        </p:txBody>
      </p:sp>
      <p:sp>
        <p:nvSpPr>
          <p:cNvPr id="8" name="Text 6"/>
          <p:cNvSpPr/>
          <p:nvPr/>
        </p:nvSpPr>
        <p:spPr>
          <a:xfrm>
            <a:off x="960120" y="1920240"/>
            <a:ext cx="7635240" cy="64008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Haven't started — not sure where to begin</a:t>
            </a:r>
            <a:endParaRPr lang="en-US" sz="1400" dirty="0"/>
          </a:p>
        </p:txBody>
      </p:sp>
      <p:sp>
        <p:nvSpPr>
          <p:cNvPr id="9" name="Shape 7"/>
          <p:cNvSpPr/>
          <p:nvPr/>
        </p:nvSpPr>
        <p:spPr>
          <a:xfrm>
            <a:off x="347472" y="2670048"/>
            <a:ext cx="8412480" cy="640080"/>
          </a:xfrm>
          <a:prstGeom prst="rect">
            <a:avLst/>
          </a:prstGeom>
          <a:solidFill>
            <a:srgbClr val="1E2D3D"/>
          </a:solidFill>
          <a:ln/>
          <a:effectLst>
            <a:outerShdw blurRad="76200" dist="25400" dir="8100000" algn="bl" rotWithShape="0">
              <a:srgbClr val="000000">
                <a:alpha val="15000"/>
              </a:srgbClr>
            </a:outerShdw>
          </a:effectLst>
        </p:spPr>
      </p:sp>
      <p:sp>
        <p:nvSpPr>
          <p:cNvPr id="10" name="Shape 8"/>
          <p:cNvSpPr/>
          <p:nvPr/>
        </p:nvSpPr>
        <p:spPr>
          <a:xfrm>
            <a:off x="347472" y="2670048"/>
            <a:ext cx="502920" cy="640080"/>
          </a:xfrm>
          <a:prstGeom prst="rect">
            <a:avLst/>
          </a:prstGeom>
          <a:solidFill>
            <a:srgbClr val="D4641A"/>
          </a:solidFill>
          <a:ln/>
        </p:spPr>
      </p:sp>
      <p:sp>
        <p:nvSpPr>
          <p:cNvPr id="11" name="Text 9"/>
          <p:cNvSpPr/>
          <p:nvPr/>
        </p:nvSpPr>
        <p:spPr>
          <a:xfrm>
            <a:off x="347472" y="2670048"/>
            <a:ext cx="502920" cy="640080"/>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B</a:t>
            </a:r>
            <a:endParaRPr lang="en-US" sz="1800" dirty="0"/>
          </a:p>
        </p:txBody>
      </p:sp>
      <p:sp>
        <p:nvSpPr>
          <p:cNvPr id="12" name="Text 10"/>
          <p:cNvSpPr/>
          <p:nvPr/>
        </p:nvSpPr>
        <p:spPr>
          <a:xfrm>
            <a:off x="960120" y="2670048"/>
            <a:ext cx="7635240" cy="64008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Tried it a few times, mixed results</a:t>
            </a:r>
            <a:endParaRPr lang="en-US" sz="1400" dirty="0"/>
          </a:p>
        </p:txBody>
      </p:sp>
      <p:sp>
        <p:nvSpPr>
          <p:cNvPr id="13" name="Shape 11"/>
          <p:cNvSpPr/>
          <p:nvPr/>
        </p:nvSpPr>
        <p:spPr>
          <a:xfrm>
            <a:off x="347472" y="3419856"/>
            <a:ext cx="8412480" cy="640080"/>
          </a:xfrm>
          <a:prstGeom prst="rect">
            <a:avLst/>
          </a:prstGeom>
          <a:solidFill>
            <a:srgbClr val="1E2D3D"/>
          </a:solidFill>
          <a:ln/>
          <a:effectLst>
            <a:outerShdw blurRad="76200" dist="25400" dir="8100000" algn="bl" rotWithShape="0">
              <a:srgbClr val="000000">
                <a:alpha val="15000"/>
              </a:srgbClr>
            </a:outerShdw>
          </a:effectLst>
        </p:spPr>
      </p:sp>
      <p:sp>
        <p:nvSpPr>
          <p:cNvPr id="14" name="Shape 12"/>
          <p:cNvSpPr/>
          <p:nvPr/>
        </p:nvSpPr>
        <p:spPr>
          <a:xfrm>
            <a:off x="347472" y="3419856"/>
            <a:ext cx="502920" cy="640080"/>
          </a:xfrm>
          <a:prstGeom prst="rect">
            <a:avLst/>
          </a:prstGeom>
          <a:solidFill>
            <a:srgbClr val="E8A020"/>
          </a:solidFill>
          <a:ln/>
        </p:spPr>
      </p:sp>
      <p:sp>
        <p:nvSpPr>
          <p:cNvPr id="15" name="Text 13"/>
          <p:cNvSpPr/>
          <p:nvPr/>
        </p:nvSpPr>
        <p:spPr>
          <a:xfrm>
            <a:off x="347472" y="3419856"/>
            <a:ext cx="502920" cy="640080"/>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C</a:t>
            </a:r>
            <a:endParaRPr lang="en-US" sz="1800" dirty="0"/>
          </a:p>
        </p:txBody>
      </p:sp>
      <p:sp>
        <p:nvSpPr>
          <p:cNvPr id="16" name="Text 14"/>
          <p:cNvSpPr/>
          <p:nvPr/>
        </p:nvSpPr>
        <p:spPr>
          <a:xfrm>
            <a:off x="960120" y="3419856"/>
            <a:ext cx="7635240" cy="64008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Using it regularly but want to get more from it</a:t>
            </a:r>
            <a:endParaRPr lang="en-US" sz="1400" dirty="0"/>
          </a:p>
        </p:txBody>
      </p:sp>
      <p:sp>
        <p:nvSpPr>
          <p:cNvPr id="17" name="Shape 15"/>
          <p:cNvSpPr/>
          <p:nvPr/>
        </p:nvSpPr>
        <p:spPr>
          <a:xfrm>
            <a:off x="347472" y="4169664"/>
            <a:ext cx="8412480" cy="640080"/>
          </a:xfrm>
          <a:prstGeom prst="rect">
            <a:avLst/>
          </a:prstGeom>
          <a:solidFill>
            <a:srgbClr val="1E2D3D"/>
          </a:solidFill>
          <a:ln/>
          <a:effectLst>
            <a:outerShdw blurRad="76200" dist="25400" dir="8100000" algn="bl" rotWithShape="0">
              <a:srgbClr val="000000">
                <a:alpha val="15000"/>
              </a:srgbClr>
            </a:outerShdw>
          </a:effectLst>
        </p:spPr>
      </p:sp>
      <p:sp>
        <p:nvSpPr>
          <p:cNvPr id="18" name="Shape 16"/>
          <p:cNvSpPr/>
          <p:nvPr/>
        </p:nvSpPr>
        <p:spPr>
          <a:xfrm>
            <a:off x="347472" y="4169664"/>
            <a:ext cx="502920" cy="640080"/>
          </a:xfrm>
          <a:prstGeom prst="rect">
            <a:avLst/>
          </a:prstGeom>
          <a:solidFill>
            <a:srgbClr val="1A7A5E"/>
          </a:solidFill>
          <a:ln/>
        </p:spPr>
      </p:sp>
      <p:sp>
        <p:nvSpPr>
          <p:cNvPr id="19" name="Text 17"/>
          <p:cNvSpPr/>
          <p:nvPr/>
        </p:nvSpPr>
        <p:spPr>
          <a:xfrm>
            <a:off x="347472" y="4169664"/>
            <a:ext cx="502920" cy="640080"/>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D</a:t>
            </a:r>
            <a:endParaRPr lang="en-US" sz="1800" dirty="0"/>
          </a:p>
        </p:txBody>
      </p:sp>
      <p:sp>
        <p:nvSpPr>
          <p:cNvPr id="20" name="Text 18"/>
          <p:cNvSpPr/>
          <p:nvPr/>
        </p:nvSpPr>
        <p:spPr>
          <a:xfrm>
            <a:off x="960120" y="4169664"/>
            <a:ext cx="7635240" cy="64008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Already getting strong results</a:t>
            </a:r>
            <a:endParaRPr lang="en-US" sz="1400" dirty="0"/>
          </a:p>
        </p:txBody>
      </p:sp>
      <p:sp>
        <p:nvSpPr>
          <p:cNvPr id="21" name="Text 19"/>
          <p:cNvSpPr/>
          <p:nvPr/>
        </p:nvSpPr>
        <p:spPr>
          <a:xfrm>
            <a:off x="347472" y="4885182"/>
            <a:ext cx="8412480" cy="274320"/>
          </a:xfrm>
          <a:prstGeom prst="rect">
            <a:avLst/>
          </a:prstGeom>
          <a:noFill/>
          <a:ln/>
        </p:spPr>
        <p:txBody>
          <a:bodyPr wrap="square" rtlCol="0" anchor="ctr"/>
          <a:lstStyle/>
          <a:p>
            <a:pPr marL="0" indent="0">
              <a:buNone/>
            </a:pPr>
            <a:r>
              <a:rPr lang="en-US" sz="1100" i="1" dirty="0">
                <a:solidFill>
                  <a:srgbClr val="6B7280"/>
                </a:solidFill>
              </a:rPr>
              <a:t>Type your answer in the chat →</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A7A9E"/>
          </a:solidFill>
          <a:ln w="12700">
            <a:solidFill>
              <a:srgbClr val="1A7A9E"/>
            </a:solidFill>
            <a:prstDash val="solid"/>
          </a:ln>
        </p:spPr>
      </p:sp>
      <p:sp>
        <p:nvSpPr>
          <p:cNvPr id="3" name="Text 1"/>
          <p:cNvSpPr/>
          <p:nvPr/>
        </p:nvSpPr>
        <p:spPr>
          <a:xfrm>
            <a:off x="347472" y="594360"/>
            <a:ext cx="8412480" cy="502920"/>
          </a:xfrm>
          <a:prstGeom prst="rect">
            <a:avLst/>
          </a:prstGeom>
          <a:noFill/>
          <a:ln/>
        </p:spPr>
        <p:txBody>
          <a:bodyPr wrap="square" rtlCol="0" anchor="ctr"/>
          <a:lstStyle/>
          <a:p>
            <a:pPr marL="0" indent="0">
              <a:buNone/>
            </a:pPr>
            <a:r>
              <a:rPr lang="en-US" sz="1400" b="1" dirty="0">
                <a:solidFill>
                  <a:srgbClr val="1A7A9E"/>
                </a:solidFill>
                <a:latin typeface="Calibri" pitchFamily="34" charset="0"/>
                <a:ea typeface="Calibri" pitchFamily="34" charset="-122"/>
                <a:cs typeface="Calibri" pitchFamily="34" charset="-120"/>
              </a:rPr>
              <a:t>LAST ONE:</a:t>
            </a:r>
            <a:endParaRPr lang="en-US" sz="1400" dirty="0"/>
          </a:p>
        </p:txBody>
      </p:sp>
      <p:sp>
        <p:nvSpPr>
          <p:cNvPr id="4" name="Text 2"/>
          <p:cNvSpPr/>
          <p:nvPr/>
        </p:nvSpPr>
        <p:spPr>
          <a:xfrm>
            <a:off x="347472" y="1078992"/>
            <a:ext cx="8412480" cy="685800"/>
          </a:xfrm>
          <a:prstGeom prst="rect">
            <a:avLst/>
          </a:prstGeom>
          <a:noFill/>
          <a:ln/>
        </p:spPr>
        <p:txBody>
          <a:bodyPr wrap="square" rtlCol="0" anchor="ctr"/>
          <a:lstStyle/>
          <a:p>
            <a:pPr marL="0" indent="0">
              <a:buNone/>
            </a:pPr>
            <a:r>
              <a:rPr lang="en-US" sz="3000" b="1" dirty="0">
                <a:solidFill>
                  <a:srgbClr val="FFFFFF"/>
                </a:solidFill>
                <a:latin typeface="Arial Black" pitchFamily="34" charset="0"/>
                <a:ea typeface="Arial Black" pitchFamily="34" charset="-122"/>
                <a:cs typeface="Arial Black" pitchFamily="34" charset="-120"/>
              </a:rPr>
              <a:t>What are you mainly using AI for today?</a:t>
            </a:r>
            <a:endParaRPr lang="en-US" sz="3000" dirty="0"/>
          </a:p>
        </p:txBody>
      </p:sp>
      <p:sp>
        <p:nvSpPr>
          <p:cNvPr id="5" name="Shape 3"/>
          <p:cNvSpPr/>
          <p:nvPr/>
        </p:nvSpPr>
        <p:spPr>
          <a:xfrm>
            <a:off x="347472" y="1920240"/>
            <a:ext cx="8412480" cy="640080"/>
          </a:xfrm>
          <a:prstGeom prst="rect">
            <a:avLst/>
          </a:prstGeom>
          <a:solidFill>
            <a:srgbClr val="1E2D3D"/>
          </a:solidFill>
          <a:ln/>
          <a:effectLst>
            <a:outerShdw blurRad="76200" dist="25400" dir="8100000" algn="bl" rotWithShape="0">
              <a:srgbClr val="000000">
                <a:alpha val="15000"/>
              </a:srgbClr>
            </a:outerShdw>
          </a:effectLst>
        </p:spPr>
      </p:sp>
      <p:sp>
        <p:nvSpPr>
          <p:cNvPr id="6" name="Shape 4"/>
          <p:cNvSpPr/>
          <p:nvPr/>
        </p:nvSpPr>
        <p:spPr>
          <a:xfrm>
            <a:off x="347472" y="1920240"/>
            <a:ext cx="502920" cy="640080"/>
          </a:xfrm>
          <a:prstGeom prst="rect">
            <a:avLst/>
          </a:prstGeom>
          <a:solidFill>
            <a:srgbClr val="1A7A9E"/>
          </a:solidFill>
          <a:ln/>
        </p:spPr>
      </p:sp>
      <p:sp>
        <p:nvSpPr>
          <p:cNvPr id="7" name="Text 5"/>
          <p:cNvSpPr/>
          <p:nvPr/>
        </p:nvSpPr>
        <p:spPr>
          <a:xfrm>
            <a:off x="347472" y="1920240"/>
            <a:ext cx="502920" cy="640080"/>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A</a:t>
            </a:r>
            <a:endParaRPr lang="en-US" sz="1800" dirty="0"/>
          </a:p>
        </p:txBody>
      </p:sp>
      <p:sp>
        <p:nvSpPr>
          <p:cNvPr id="8" name="Text 6"/>
          <p:cNvSpPr/>
          <p:nvPr/>
        </p:nvSpPr>
        <p:spPr>
          <a:xfrm>
            <a:off x="960120" y="1920240"/>
            <a:ext cx="7635240" cy="64008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Writing — emails, reports, communications</a:t>
            </a:r>
            <a:endParaRPr lang="en-US" sz="1400" dirty="0"/>
          </a:p>
        </p:txBody>
      </p:sp>
      <p:sp>
        <p:nvSpPr>
          <p:cNvPr id="9" name="Shape 7"/>
          <p:cNvSpPr/>
          <p:nvPr/>
        </p:nvSpPr>
        <p:spPr>
          <a:xfrm>
            <a:off x="347472" y="2670048"/>
            <a:ext cx="8412480" cy="640080"/>
          </a:xfrm>
          <a:prstGeom prst="rect">
            <a:avLst/>
          </a:prstGeom>
          <a:solidFill>
            <a:srgbClr val="1E2D3D"/>
          </a:solidFill>
          <a:ln/>
          <a:effectLst>
            <a:outerShdw blurRad="76200" dist="25400" dir="8100000" algn="bl" rotWithShape="0">
              <a:srgbClr val="000000">
                <a:alpha val="15000"/>
              </a:srgbClr>
            </a:outerShdw>
          </a:effectLst>
        </p:spPr>
      </p:sp>
      <p:sp>
        <p:nvSpPr>
          <p:cNvPr id="10" name="Shape 8"/>
          <p:cNvSpPr/>
          <p:nvPr/>
        </p:nvSpPr>
        <p:spPr>
          <a:xfrm>
            <a:off x="347472" y="2670048"/>
            <a:ext cx="502920" cy="640080"/>
          </a:xfrm>
          <a:prstGeom prst="rect">
            <a:avLst/>
          </a:prstGeom>
          <a:solidFill>
            <a:srgbClr val="D4641A"/>
          </a:solidFill>
          <a:ln/>
        </p:spPr>
      </p:sp>
      <p:sp>
        <p:nvSpPr>
          <p:cNvPr id="11" name="Text 9"/>
          <p:cNvSpPr/>
          <p:nvPr/>
        </p:nvSpPr>
        <p:spPr>
          <a:xfrm>
            <a:off x="347472" y="2670048"/>
            <a:ext cx="502920" cy="640080"/>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B</a:t>
            </a:r>
            <a:endParaRPr lang="en-US" sz="1800" dirty="0"/>
          </a:p>
        </p:txBody>
      </p:sp>
      <p:sp>
        <p:nvSpPr>
          <p:cNvPr id="12" name="Text 10"/>
          <p:cNvSpPr/>
          <p:nvPr/>
        </p:nvSpPr>
        <p:spPr>
          <a:xfrm>
            <a:off x="960120" y="2670048"/>
            <a:ext cx="7635240" cy="64008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Research and finding information</a:t>
            </a:r>
            <a:endParaRPr lang="en-US" sz="1400" dirty="0"/>
          </a:p>
        </p:txBody>
      </p:sp>
      <p:sp>
        <p:nvSpPr>
          <p:cNvPr id="13" name="Shape 11"/>
          <p:cNvSpPr/>
          <p:nvPr/>
        </p:nvSpPr>
        <p:spPr>
          <a:xfrm>
            <a:off x="347472" y="3419856"/>
            <a:ext cx="8412480" cy="640080"/>
          </a:xfrm>
          <a:prstGeom prst="rect">
            <a:avLst/>
          </a:prstGeom>
          <a:solidFill>
            <a:srgbClr val="1E2D3D"/>
          </a:solidFill>
          <a:ln/>
          <a:effectLst>
            <a:outerShdw blurRad="76200" dist="25400" dir="8100000" algn="bl" rotWithShape="0">
              <a:srgbClr val="000000">
                <a:alpha val="15000"/>
              </a:srgbClr>
            </a:outerShdw>
          </a:effectLst>
        </p:spPr>
      </p:sp>
      <p:sp>
        <p:nvSpPr>
          <p:cNvPr id="14" name="Shape 12"/>
          <p:cNvSpPr/>
          <p:nvPr/>
        </p:nvSpPr>
        <p:spPr>
          <a:xfrm>
            <a:off x="347472" y="3419856"/>
            <a:ext cx="502920" cy="640080"/>
          </a:xfrm>
          <a:prstGeom prst="rect">
            <a:avLst/>
          </a:prstGeom>
          <a:solidFill>
            <a:srgbClr val="E8A020"/>
          </a:solidFill>
          <a:ln/>
        </p:spPr>
      </p:sp>
      <p:sp>
        <p:nvSpPr>
          <p:cNvPr id="15" name="Text 13"/>
          <p:cNvSpPr/>
          <p:nvPr/>
        </p:nvSpPr>
        <p:spPr>
          <a:xfrm>
            <a:off x="347472" y="3419856"/>
            <a:ext cx="502920" cy="640080"/>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C</a:t>
            </a:r>
            <a:endParaRPr lang="en-US" sz="1800" dirty="0"/>
          </a:p>
        </p:txBody>
      </p:sp>
      <p:sp>
        <p:nvSpPr>
          <p:cNvPr id="16" name="Text 14"/>
          <p:cNvSpPr/>
          <p:nvPr/>
        </p:nvSpPr>
        <p:spPr>
          <a:xfrm>
            <a:off x="960120" y="3419856"/>
            <a:ext cx="7635240" cy="64008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Solving operational problems in my role</a:t>
            </a:r>
            <a:endParaRPr lang="en-US" sz="1400" dirty="0"/>
          </a:p>
        </p:txBody>
      </p:sp>
      <p:sp>
        <p:nvSpPr>
          <p:cNvPr id="17" name="Shape 15"/>
          <p:cNvSpPr/>
          <p:nvPr/>
        </p:nvSpPr>
        <p:spPr>
          <a:xfrm>
            <a:off x="347472" y="4169664"/>
            <a:ext cx="8412480" cy="640080"/>
          </a:xfrm>
          <a:prstGeom prst="rect">
            <a:avLst/>
          </a:prstGeom>
          <a:solidFill>
            <a:srgbClr val="1E2D3D"/>
          </a:solidFill>
          <a:ln/>
          <a:effectLst>
            <a:outerShdw blurRad="76200" dist="25400" dir="8100000" algn="bl" rotWithShape="0">
              <a:srgbClr val="000000">
                <a:alpha val="15000"/>
              </a:srgbClr>
            </a:outerShdw>
          </a:effectLst>
        </p:spPr>
      </p:sp>
      <p:sp>
        <p:nvSpPr>
          <p:cNvPr id="18" name="Shape 16"/>
          <p:cNvSpPr/>
          <p:nvPr/>
        </p:nvSpPr>
        <p:spPr>
          <a:xfrm>
            <a:off x="347472" y="4169664"/>
            <a:ext cx="502920" cy="640080"/>
          </a:xfrm>
          <a:prstGeom prst="rect">
            <a:avLst/>
          </a:prstGeom>
          <a:solidFill>
            <a:srgbClr val="6B7280"/>
          </a:solidFill>
          <a:ln/>
        </p:spPr>
      </p:sp>
      <p:sp>
        <p:nvSpPr>
          <p:cNvPr id="19" name="Text 17"/>
          <p:cNvSpPr/>
          <p:nvPr/>
        </p:nvSpPr>
        <p:spPr>
          <a:xfrm>
            <a:off x="347472" y="4169664"/>
            <a:ext cx="502920" cy="640080"/>
          </a:xfrm>
          <a:prstGeom prst="rect">
            <a:avLst/>
          </a:prstGeom>
          <a:noFill/>
          <a:ln/>
        </p:spPr>
        <p:txBody>
          <a:bodyPr wrap="square"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D</a:t>
            </a:r>
            <a:endParaRPr lang="en-US" sz="1800" dirty="0"/>
          </a:p>
        </p:txBody>
      </p:sp>
      <p:sp>
        <p:nvSpPr>
          <p:cNvPr id="20" name="Text 18"/>
          <p:cNvSpPr/>
          <p:nvPr/>
        </p:nvSpPr>
        <p:spPr>
          <a:xfrm>
            <a:off x="960120" y="4169664"/>
            <a:ext cx="7635240" cy="64008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I'm not using it yet</a:t>
            </a:r>
            <a:endParaRPr lang="en-US" sz="1400" dirty="0"/>
          </a:p>
        </p:txBody>
      </p:sp>
      <p:sp>
        <p:nvSpPr>
          <p:cNvPr id="21" name="Text 19"/>
          <p:cNvSpPr/>
          <p:nvPr/>
        </p:nvSpPr>
        <p:spPr>
          <a:xfrm>
            <a:off x="347472" y="4879467"/>
            <a:ext cx="8412480" cy="274320"/>
          </a:xfrm>
          <a:prstGeom prst="rect">
            <a:avLst/>
          </a:prstGeom>
          <a:noFill/>
          <a:ln/>
        </p:spPr>
        <p:txBody>
          <a:bodyPr wrap="square" rtlCol="0" anchor="ctr"/>
          <a:lstStyle/>
          <a:p>
            <a:pPr marL="0" indent="0">
              <a:buNone/>
            </a:pPr>
            <a:r>
              <a:rPr lang="en-US" sz="1100" i="1" dirty="0">
                <a:solidFill>
                  <a:srgbClr val="6B7280"/>
                </a:solidFill>
              </a:rPr>
              <a:t>Type your answer in the chat →</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4641A"/>
          </a:solidFill>
          <a:ln w="12700">
            <a:solidFill>
              <a:srgbClr val="D4641A"/>
            </a:solidFill>
            <a:prstDash val="solid"/>
          </a:ln>
        </p:spPr>
      </p:sp>
      <p:sp>
        <p:nvSpPr>
          <p:cNvPr id="3" name="Text 1"/>
          <p:cNvSpPr/>
          <p:nvPr/>
        </p:nvSpPr>
        <p:spPr>
          <a:xfrm>
            <a:off x="347472" y="621792"/>
            <a:ext cx="8412480" cy="566928"/>
          </a:xfrm>
          <a:prstGeom prst="rect">
            <a:avLst/>
          </a:prstGeom>
          <a:noFill/>
          <a:ln/>
        </p:spPr>
        <p:txBody>
          <a:bodyPr wrap="square" rtlCol="0" anchor="ctr"/>
          <a:lstStyle/>
          <a:p>
            <a:pPr marL="0" indent="0">
              <a:buNone/>
            </a:pPr>
            <a:r>
              <a:rPr lang="en-US" sz="3000" b="1" dirty="0">
                <a:solidFill>
                  <a:srgbClr val="FFFFFF"/>
                </a:solidFill>
                <a:latin typeface="Arial Black" pitchFamily="34" charset="0"/>
                <a:ea typeface="Arial Black" pitchFamily="34" charset="-122"/>
                <a:cs typeface="Arial Black" pitchFamily="34" charset="-120"/>
              </a:rPr>
              <a:t>HERE'S WHAT I KEEP SEEING.</a:t>
            </a:r>
            <a:endParaRPr lang="en-US" sz="3000" dirty="0"/>
          </a:p>
        </p:txBody>
      </p:sp>
      <p:sp>
        <p:nvSpPr>
          <p:cNvPr id="4" name="Shape 2"/>
          <p:cNvSpPr/>
          <p:nvPr/>
        </p:nvSpPr>
        <p:spPr>
          <a:xfrm>
            <a:off x="347472" y="1353312"/>
            <a:ext cx="8412480" cy="2103120"/>
          </a:xfrm>
          <a:prstGeom prst="rect">
            <a:avLst/>
          </a:prstGeom>
          <a:solidFill>
            <a:srgbClr val="1E2D3D"/>
          </a:solidFill>
          <a:ln/>
          <a:effectLst>
            <a:outerShdw blurRad="76200" dist="25400" dir="8100000" algn="bl" rotWithShape="0">
              <a:srgbClr val="000000">
                <a:alpha val="15000"/>
              </a:srgbClr>
            </a:outerShdw>
          </a:effectLst>
        </p:spPr>
      </p:sp>
      <p:sp>
        <p:nvSpPr>
          <p:cNvPr id="5" name="Text 3"/>
          <p:cNvSpPr/>
          <p:nvPr/>
        </p:nvSpPr>
        <p:spPr>
          <a:xfrm>
            <a:off x="530352" y="1444752"/>
            <a:ext cx="8046720" cy="14173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People are using AI like a search engine.</a:t>
            </a:r>
            <a:endParaRPr lang="en-US" sz="2200" dirty="0"/>
          </a:p>
          <a:p>
            <a:pPr marL="0" indent="0">
              <a:buNone/>
            </a:pPr>
            <a:r>
              <a:rPr lang="en-US" sz="2200" b="1" dirty="0">
                <a:solidFill>
                  <a:srgbClr val="FFFFFF"/>
                </a:solidFill>
                <a:latin typeface="Calibri" pitchFamily="34" charset="0"/>
                <a:ea typeface="Calibri" pitchFamily="34" charset="-122"/>
                <a:cs typeface="Calibri" pitchFamily="34" charset="-120"/>
              </a:rPr>
              <a:t>And wondering why they're getting search engine results.</a:t>
            </a:r>
            <a:endParaRPr lang="en-US" sz="2200" dirty="0"/>
          </a:p>
        </p:txBody>
      </p:sp>
      <p:sp>
        <p:nvSpPr>
          <p:cNvPr id="6" name="Text 4"/>
          <p:cNvSpPr/>
          <p:nvPr/>
        </p:nvSpPr>
        <p:spPr>
          <a:xfrm>
            <a:off x="530352" y="2788920"/>
            <a:ext cx="8046720" cy="502920"/>
          </a:xfrm>
          <a:prstGeom prst="rect">
            <a:avLst/>
          </a:prstGeom>
          <a:noFill/>
          <a:ln/>
        </p:spPr>
        <p:txBody>
          <a:bodyPr wrap="square" rtlCol="0" anchor="ctr"/>
          <a:lstStyle/>
          <a:p>
            <a:pPr marL="0" indent="0">
              <a:buNone/>
            </a:pPr>
            <a:r>
              <a:rPr lang="en-US" sz="1600" i="1" dirty="0">
                <a:solidFill>
                  <a:srgbClr val="1A7A9E"/>
                </a:solidFill>
                <a:latin typeface="Calibri" pitchFamily="34" charset="0"/>
                <a:ea typeface="Calibri" pitchFamily="34" charset="-122"/>
                <a:cs typeface="Calibri" pitchFamily="34" charset="-120"/>
              </a:rPr>
              <a:t>The problem isn't the tool. It's the approach.</a:t>
            </a:r>
            <a:endParaRPr lang="en-US" sz="1600" dirty="0"/>
          </a:p>
        </p:txBody>
      </p:sp>
      <p:sp>
        <p:nvSpPr>
          <p:cNvPr id="7" name="Shape 5"/>
          <p:cNvSpPr/>
          <p:nvPr/>
        </p:nvSpPr>
        <p:spPr>
          <a:xfrm>
            <a:off x="347472" y="3593592"/>
            <a:ext cx="274320" cy="274320"/>
          </a:xfrm>
          <a:prstGeom prst="line">
            <a:avLst/>
          </a:prstGeom>
          <a:solidFill>
            <a:srgbClr val="D4641A"/>
          </a:solidFill>
          <a:ln/>
        </p:spPr>
      </p:sp>
      <p:sp>
        <p:nvSpPr>
          <p:cNvPr id="8" name="Text 6"/>
          <p:cNvSpPr/>
          <p:nvPr/>
        </p:nvSpPr>
        <p:spPr>
          <a:xfrm>
            <a:off x="347472" y="3593592"/>
            <a:ext cx="274320" cy="274320"/>
          </a:xfrm>
          <a:prstGeom prst="rect">
            <a:avLst/>
          </a:prstGeom>
          <a:noFill/>
          <a:ln/>
        </p:spPr>
        <p:txBody>
          <a:bodyPr wrap="square" rtlCol="0" anchor="ctr"/>
          <a:lstStyle/>
          <a:p>
            <a:pPr marL="0" indent="0" algn="ctr">
              <a:buNone/>
            </a:pPr>
            <a:r>
              <a:rPr lang="en-US" sz="1000" b="1" dirty="0">
                <a:solidFill>
                  <a:srgbClr val="FFFFFF"/>
                </a:solidFill>
              </a:rPr>
              <a:t>1</a:t>
            </a:r>
            <a:endParaRPr lang="en-US" sz="1000" dirty="0"/>
          </a:p>
        </p:txBody>
      </p:sp>
      <p:sp>
        <p:nvSpPr>
          <p:cNvPr id="9" name="Text 7"/>
          <p:cNvSpPr/>
          <p:nvPr/>
        </p:nvSpPr>
        <p:spPr>
          <a:xfrm>
            <a:off x="749808" y="3520440"/>
            <a:ext cx="7863840" cy="411480"/>
          </a:xfrm>
          <a:prstGeom prst="rect">
            <a:avLst/>
          </a:prstGeom>
          <a:noFill/>
          <a:ln/>
        </p:spPr>
        <p:txBody>
          <a:bodyPr wrap="square" rtlCol="0" anchor="ctr"/>
          <a:lstStyle/>
          <a:p>
            <a:pPr marL="0" indent="0">
              <a:buNone/>
            </a:pPr>
            <a:r>
              <a:rPr lang="en-US" sz="1300" dirty="0">
                <a:solidFill>
                  <a:srgbClr val="CBD5E0"/>
                </a:solidFill>
                <a:latin typeface="Calibri" pitchFamily="34" charset="0"/>
                <a:ea typeface="Calibri" pitchFamily="34" charset="-122"/>
                <a:cs typeface="Calibri" pitchFamily="34" charset="-120"/>
              </a:rPr>
              <a:t>Ask a question. Get an answer. Move on.</a:t>
            </a:r>
            <a:endParaRPr lang="en-US" sz="1300" dirty="0"/>
          </a:p>
        </p:txBody>
      </p:sp>
      <p:sp>
        <p:nvSpPr>
          <p:cNvPr id="10" name="Shape 8"/>
          <p:cNvSpPr/>
          <p:nvPr/>
        </p:nvSpPr>
        <p:spPr>
          <a:xfrm>
            <a:off x="347472" y="4069080"/>
            <a:ext cx="274320" cy="274320"/>
          </a:xfrm>
          <a:prstGeom prst="line">
            <a:avLst/>
          </a:prstGeom>
          <a:solidFill>
            <a:srgbClr val="D4641A"/>
          </a:solidFill>
          <a:ln/>
        </p:spPr>
      </p:sp>
      <p:sp>
        <p:nvSpPr>
          <p:cNvPr id="11" name="Text 9"/>
          <p:cNvSpPr/>
          <p:nvPr/>
        </p:nvSpPr>
        <p:spPr>
          <a:xfrm>
            <a:off x="347472" y="4069080"/>
            <a:ext cx="274320" cy="274320"/>
          </a:xfrm>
          <a:prstGeom prst="rect">
            <a:avLst/>
          </a:prstGeom>
          <a:noFill/>
          <a:ln/>
        </p:spPr>
        <p:txBody>
          <a:bodyPr wrap="square" rtlCol="0" anchor="ctr"/>
          <a:lstStyle/>
          <a:p>
            <a:pPr marL="0" indent="0" algn="ctr">
              <a:buNone/>
            </a:pPr>
            <a:r>
              <a:rPr lang="en-US" sz="1000" b="1" dirty="0">
                <a:solidFill>
                  <a:srgbClr val="FFFFFF"/>
                </a:solidFill>
              </a:rPr>
              <a:t>2</a:t>
            </a:r>
            <a:endParaRPr lang="en-US" sz="1000" dirty="0"/>
          </a:p>
        </p:txBody>
      </p:sp>
      <p:sp>
        <p:nvSpPr>
          <p:cNvPr id="12" name="Text 10"/>
          <p:cNvSpPr/>
          <p:nvPr/>
        </p:nvSpPr>
        <p:spPr>
          <a:xfrm>
            <a:off x="749808" y="3995928"/>
            <a:ext cx="7863840" cy="411480"/>
          </a:xfrm>
          <a:prstGeom prst="rect">
            <a:avLst/>
          </a:prstGeom>
          <a:noFill/>
          <a:ln/>
        </p:spPr>
        <p:txBody>
          <a:bodyPr wrap="square" rtlCol="0" anchor="ctr"/>
          <a:lstStyle/>
          <a:p>
            <a:pPr marL="0" indent="0">
              <a:buNone/>
            </a:pPr>
            <a:r>
              <a:rPr lang="en-US" sz="1300" dirty="0">
                <a:solidFill>
                  <a:srgbClr val="CBD5E0"/>
                </a:solidFill>
                <a:latin typeface="Calibri" pitchFamily="34" charset="0"/>
                <a:ea typeface="Calibri" pitchFamily="34" charset="-122"/>
                <a:cs typeface="Calibri" pitchFamily="34" charset="-120"/>
              </a:rPr>
              <a:t>Get frustrated when the answer isn't quite right.</a:t>
            </a:r>
            <a:endParaRPr lang="en-US" sz="1300" dirty="0"/>
          </a:p>
        </p:txBody>
      </p:sp>
      <p:sp>
        <p:nvSpPr>
          <p:cNvPr id="13" name="Shape 11"/>
          <p:cNvSpPr/>
          <p:nvPr/>
        </p:nvSpPr>
        <p:spPr>
          <a:xfrm>
            <a:off x="347472" y="4544568"/>
            <a:ext cx="274320" cy="274320"/>
          </a:xfrm>
          <a:prstGeom prst="line">
            <a:avLst/>
          </a:prstGeom>
          <a:solidFill>
            <a:srgbClr val="D4641A"/>
          </a:solidFill>
          <a:ln/>
        </p:spPr>
      </p:sp>
      <p:sp>
        <p:nvSpPr>
          <p:cNvPr id="14" name="Text 12"/>
          <p:cNvSpPr/>
          <p:nvPr/>
        </p:nvSpPr>
        <p:spPr>
          <a:xfrm>
            <a:off x="347472" y="4544568"/>
            <a:ext cx="274320" cy="274320"/>
          </a:xfrm>
          <a:prstGeom prst="rect">
            <a:avLst/>
          </a:prstGeom>
          <a:noFill/>
          <a:ln/>
        </p:spPr>
        <p:txBody>
          <a:bodyPr wrap="square" rtlCol="0" anchor="ctr"/>
          <a:lstStyle/>
          <a:p>
            <a:pPr marL="0" indent="0" algn="ctr">
              <a:buNone/>
            </a:pPr>
            <a:r>
              <a:rPr lang="en-US" sz="1000" b="1" dirty="0">
                <a:solidFill>
                  <a:srgbClr val="FFFFFF"/>
                </a:solidFill>
              </a:rPr>
              <a:t>3</a:t>
            </a:r>
            <a:endParaRPr lang="en-US" sz="1000" dirty="0"/>
          </a:p>
        </p:txBody>
      </p:sp>
      <p:sp>
        <p:nvSpPr>
          <p:cNvPr id="15" name="Text 13"/>
          <p:cNvSpPr/>
          <p:nvPr/>
        </p:nvSpPr>
        <p:spPr>
          <a:xfrm>
            <a:off x="749808" y="4471416"/>
            <a:ext cx="7863840" cy="411480"/>
          </a:xfrm>
          <a:prstGeom prst="rect">
            <a:avLst/>
          </a:prstGeom>
          <a:noFill/>
          <a:ln/>
        </p:spPr>
        <p:txBody>
          <a:bodyPr wrap="square" rtlCol="0" anchor="ctr"/>
          <a:lstStyle/>
          <a:p>
            <a:pPr marL="0" indent="0">
              <a:buNone/>
            </a:pPr>
            <a:r>
              <a:rPr lang="en-US" sz="1300" dirty="0">
                <a:solidFill>
                  <a:srgbClr val="CBD5E0"/>
                </a:solidFill>
                <a:latin typeface="Calibri" pitchFamily="34" charset="0"/>
                <a:ea typeface="Calibri" pitchFamily="34" charset="-122"/>
                <a:cs typeface="Calibri" pitchFamily="34" charset="-120"/>
              </a:rPr>
              <a:t>Decide the tool doesn't work for them.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FE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4641A"/>
          </a:solidFill>
          <a:ln w="12700">
            <a:solidFill>
              <a:srgbClr val="D4641A"/>
            </a:solidFill>
            <a:prstDash val="solid"/>
          </a:ln>
        </p:spPr>
      </p:sp>
      <p:sp>
        <p:nvSpPr>
          <p:cNvPr id="3" name="Text 1"/>
          <p:cNvSpPr/>
          <p:nvPr/>
        </p:nvSpPr>
        <p:spPr>
          <a:xfrm>
            <a:off x="347472" y="621792"/>
            <a:ext cx="8412480" cy="502920"/>
          </a:xfrm>
          <a:prstGeom prst="rect">
            <a:avLst/>
          </a:prstGeom>
          <a:noFill/>
          <a:ln/>
        </p:spPr>
        <p:txBody>
          <a:bodyPr wrap="square" rtlCol="0" anchor="ctr"/>
          <a:lstStyle/>
          <a:p>
            <a:pPr marL="0" indent="0">
              <a:buNone/>
            </a:pPr>
            <a:r>
              <a:rPr lang="en-US" sz="2600" b="1" dirty="0">
                <a:solidFill>
                  <a:srgbClr val="0D1B2A"/>
                </a:solidFill>
                <a:latin typeface="Arial Black" pitchFamily="34" charset="0"/>
                <a:ea typeface="Arial Black" pitchFamily="34" charset="-122"/>
                <a:cs typeface="Arial Black" pitchFamily="34" charset="-120"/>
              </a:rPr>
              <a:t>THIS IS WHAT MOST PEOPLE DO.</a:t>
            </a:r>
            <a:endParaRPr lang="en-US" sz="2600" dirty="0"/>
          </a:p>
        </p:txBody>
      </p:sp>
      <p:sp>
        <p:nvSpPr>
          <p:cNvPr id="4" name="Shape 2"/>
          <p:cNvSpPr/>
          <p:nvPr/>
        </p:nvSpPr>
        <p:spPr>
          <a:xfrm>
            <a:off x="347472" y="1234440"/>
            <a:ext cx="8412480" cy="3520440"/>
          </a:xfrm>
          <a:prstGeom prst="rect">
            <a:avLst/>
          </a:prstGeom>
          <a:solidFill>
            <a:srgbClr val="F8F9FA"/>
          </a:solidFill>
          <a:ln w="12700">
            <a:solidFill>
              <a:srgbClr val="E5E7EB"/>
            </a:solidFill>
            <a:prstDash val="solid"/>
          </a:ln>
          <a:effectLst>
            <a:outerShdw blurRad="76200" dist="25400" dir="8100000" algn="bl" rotWithShape="0">
              <a:srgbClr val="000000">
                <a:alpha val="15000"/>
              </a:srgbClr>
            </a:outerShdw>
          </a:effectLst>
        </p:spPr>
      </p:sp>
      <p:sp>
        <p:nvSpPr>
          <p:cNvPr id="5" name="Shape 3"/>
          <p:cNvSpPr/>
          <p:nvPr/>
        </p:nvSpPr>
        <p:spPr>
          <a:xfrm>
            <a:off x="347472" y="1234440"/>
            <a:ext cx="8412480" cy="384048"/>
          </a:xfrm>
          <a:prstGeom prst="rect">
            <a:avLst/>
          </a:prstGeom>
          <a:solidFill>
            <a:srgbClr val="E5E7EB"/>
          </a:solidFill>
          <a:ln/>
        </p:spPr>
      </p:sp>
      <p:sp>
        <p:nvSpPr>
          <p:cNvPr id="6" name="Text 4"/>
          <p:cNvSpPr/>
          <p:nvPr/>
        </p:nvSpPr>
        <p:spPr>
          <a:xfrm>
            <a:off x="548640" y="1234440"/>
            <a:ext cx="1828800" cy="384048"/>
          </a:xfrm>
          <a:prstGeom prst="rect">
            <a:avLst/>
          </a:prstGeom>
          <a:noFill/>
          <a:ln/>
        </p:spPr>
        <p:txBody>
          <a:bodyPr wrap="square" rtlCol="0" anchor="ctr"/>
          <a:lstStyle/>
          <a:p>
            <a:pPr marL="0" indent="0">
              <a:buNone/>
            </a:pPr>
            <a:r>
              <a:rPr lang="en-US" sz="1100" b="1" dirty="0">
                <a:solidFill>
                  <a:srgbClr val="0D1B2A"/>
                </a:solidFill>
              </a:rPr>
              <a:t>AI</a:t>
            </a:r>
            <a:endParaRPr lang="en-US" sz="1100" dirty="0"/>
          </a:p>
        </p:txBody>
      </p:sp>
      <p:sp>
        <p:nvSpPr>
          <p:cNvPr id="7" name="Shape 5"/>
          <p:cNvSpPr/>
          <p:nvPr/>
        </p:nvSpPr>
        <p:spPr>
          <a:xfrm>
            <a:off x="5120640" y="1755648"/>
            <a:ext cx="3383280" cy="566928"/>
          </a:xfrm>
          <a:prstGeom prst="rect">
            <a:avLst/>
          </a:prstGeom>
          <a:solidFill>
            <a:srgbClr val="1A7A9E"/>
          </a:solidFill>
          <a:ln w="12700">
            <a:solidFill>
              <a:srgbClr val="1A7A9E"/>
            </a:solidFill>
            <a:prstDash val="solid"/>
          </a:ln>
        </p:spPr>
      </p:sp>
      <p:sp>
        <p:nvSpPr>
          <p:cNvPr id="8" name="Text 6"/>
          <p:cNvSpPr/>
          <p:nvPr/>
        </p:nvSpPr>
        <p:spPr>
          <a:xfrm>
            <a:off x="5166360" y="1755648"/>
            <a:ext cx="3291840" cy="56692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How do I improve my team's compliance tracking?</a:t>
            </a:r>
            <a:endParaRPr lang="en-US" sz="1100" dirty="0"/>
          </a:p>
        </p:txBody>
      </p:sp>
      <p:sp>
        <p:nvSpPr>
          <p:cNvPr id="9" name="Shape 7"/>
          <p:cNvSpPr/>
          <p:nvPr/>
        </p:nvSpPr>
        <p:spPr>
          <a:xfrm>
            <a:off x="457200" y="2487168"/>
            <a:ext cx="6583680" cy="2103120"/>
          </a:xfrm>
          <a:prstGeom prst="rect">
            <a:avLst/>
          </a:prstGeom>
          <a:solidFill>
            <a:srgbClr val="FFFFFF"/>
          </a:solidFill>
          <a:ln w="12700">
            <a:solidFill>
              <a:srgbClr val="E5E7EB"/>
            </a:solidFill>
            <a:prstDash val="solid"/>
          </a:ln>
        </p:spPr>
      </p:sp>
      <p:sp>
        <p:nvSpPr>
          <p:cNvPr id="10" name="Text 8"/>
          <p:cNvSpPr/>
          <p:nvPr/>
        </p:nvSpPr>
        <p:spPr>
          <a:xfrm>
            <a:off x="594360" y="2542032"/>
            <a:ext cx="6263640" cy="1965960"/>
          </a:xfrm>
          <a:prstGeom prst="rect">
            <a:avLst/>
          </a:prstGeom>
          <a:noFill/>
          <a:ln/>
        </p:spPr>
        <p:txBody>
          <a:bodyPr wrap="square" rtlCol="0" anchor="ctr"/>
          <a:lstStyle/>
          <a:p>
            <a:pPr marL="0" indent="0">
              <a:buNone/>
            </a:pPr>
            <a:r>
              <a:rPr lang="en-US" sz="1050" dirty="0">
                <a:solidFill>
                  <a:srgbClr val="0D1B2A"/>
                </a:solidFill>
                <a:latin typeface="Calibri" pitchFamily="34" charset="0"/>
                <a:ea typeface="Calibri" pitchFamily="34" charset="-122"/>
                <a:cs typeface="Calibri" pitchFamily="34" charset="-120"/>
              </a:rPr>
              <a:t>Here are some strategies to improve compliance tracking:
1. Implement a digital compliance management system
2. Create standardised checklists for each compliance area
3. Set up automated reminders for certificate renewals
4. Conduct regular compliance audits
5. Provide training sessions for staff...</a:t>
            </a:r>
            <a:endParaRPr lang="en-US" sz="1050" dirty="0"/>
          </a:p>
        </p:txBody>
      </p:sp>
      <p:sp>
        <p:nvSpPr>
          <p:cNvPr id="11" name="Text 9"/>
          <p:cNvSpPr/>
          <p:nvPr/>
        </p:nvSpPr>
        <p:spPr>
          <a:xfrm>
            <a:off x="347472" y="4828032"/>
            <a:ext cx="8412480" cy="320040"/>
          </a:xfrm>
          <a:prstGeom prst="rect">
            <a:avLst/>
          </a:prstGeom>
          <a:noFill/>
          <a:ln/>
        </p:spPr>
        <p:txBody>
          <a:bodyPr wrap="square" rtlCol="0" anchor="ctr"/>
          <a:lstStyle/>
          <a:p>
            <a:pPr marL="0" indent="0">
              <a:buNone/>
            </a:pPr>
            <a:r>
              <a:rPr lang="en-US" sz="1100" i="1" dirty="0">
                <a:solidFill>
                  <a:srgbClr val="C0392B"/>
                </a:solidFill>
                <a:latin typeface="Calibri" pitchFamily="34" charset="0"/>
                <a:ea typeface="Calibri" pitchFamily="34" charset="-122"/>
                <a:cs typeface="Calibri" pitchFamily="34" charset="-120"/>
              </a:rPr>
              <a:t>Generic. Could apply to any business. Misses the actual problem entirely.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FE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A7A9E"/>
          </a:solidFill>
          <a:ln w="12700">
            <a:solidFill>
              <a:srgbClr val="1A7A9E"/>
            </a:solidFill>
            <a:prstDash val="solid"/>
          </a:ln>
        </p:spPr>
      </p:sp>
      <p:sp>
        <p:nvSpPr>
          <p:cNvPr id="3" name="Text 1"/>
          <p:cNvSpPr/>
          <p:nvPr/>
        </p:nvSpPr>
        <p:spPr>
          <a:xfrm>
            <a:off x="347472" y="621792"/>
            <a:ext cx="8412480" cy="502920"/>
          </a:xfrm>
          <a:prstGeom prst="rect">
            <a:avLst/>
          </a:prstGeom>
          <a:noFill/>
          <a:ln/>
        </p:spPr>
        <p:txBody>
          <a:bodyPr wrap="square" rtlCol="0" anchor="ctr"/>
          <a:lstStyle/>
          <a:p>
            <a:pPr marL="0" indent="0">
              <a:buNone/>
            </a:pPr>
            <a:r>
              <a:rPr lang="en-US" sz="2400" b="1" dirty="0">
                <a:solidFill>
                  <a:srgbClr val="0D1B2A"/>
                </a:solidFill>
                <a:latin typeface="Arial Black" pitchFamily="34" charset="0"/>
                <a:ea typeface="Arial Black" pitchFamily="34" charset="-122"/>
                <a:cs typeface="Arial Black" pitchFamily="34" charset="-120"/>
              </a:rPr>
              <a:t>SAME PROBLEM. DIFFERENT OUTCOME.</a:t>
            </a:r>
            <a:endParaRPr lang="en-US" sz="2400" dirty="0"/>
          </a:p>
        </p:txBody>
      </p:sp>
      <p:sp>
        <p:nvSpPr>
          <p:cNvPr id="4" name="Shape 2"/>
          <p:cNvSpPr/>
          <p:nvPr/>
        </p:nvSpPr>
        <p:spPr>
          <a:xfrm>
            <a:off x="347472" y="1234440"/>
            <a:ext cx="8412480" cy="3520440"/>
          </a:xfrm>
          <a:prstGeom prst="rect">
            <a:avLst/>
          </a:prstGeom>
          <a:solidFill>
            <a:srgbClr val="F8F9FA"/>
          </a:solidFill>
          <a:ln w="12700">
            <a:solidFill>
              <a:srgbClr val="E5E7EB"/>
            </a:solidFill>
            <a:prstDash val="solid"/>
          </a:ln>
          <a:effectLst>
            <a:outerShdw blurRad="76200" dist="25400" dir="8100000" algn="bl" rotWithShape="0">
              <a:srgbClr val="000000">
                <a:alpha val="15000"/>
              </a:srgbClr>
            </a:outerShdw>
          </a:effectLst>
        </p:spPr>
      </p:sp>
      <p:sp>
        <p:nvSpPr>
          <p:cNvPr id="5" name="Shape 3"/>
          <p:cNvSpPr/>
          <p:nvPr/>
        </p:nvSpPr>
        <p:spPr>
          <a:xfrm>
            <a:off x="347472" y="1234440"/>
            <a:ext cx="8412480" cy="384048"/>
          </a:xfrm>
          <a:prstGeom prst="rect">
            <a:avLst/>
          </a:prstGeom>
          <a:solidFill>
            <a:srgbClr val="E5E7EB"/>
          </a:solidFill>
          <a:ln/>
        </p:spPr>
      </p:sp>
      <p:sp>
        <p:nvSpPr>
          <p:cNvPr id="6" name="Text 4"/>
          <p:cNvSpPr/>
          <p:nvPr/>
        </p:nvSpPr>
        <p:spPr>
          <a:xfrm>
            <a:off x="548640" y="1234440"/>
            <a:ext cx="1828800" cy="384048"/>
          </a:xfrm>
          <a:prstGeom prst="rect">
            <a:avLst/>
          </a:prstGeom>
          <a:noFill/>
          <a:ln/>
        </p:spPr>
        <p:txBody>
          <a:bodyPr wrap="square" rtlCol="0" anchor="ctr"/>
          <a:lstStyle/>
          <a:p>
            <a:pPr marL="0" indent="0">
              <a:buNone/>
            </a:pPr>
            <a:r>
              <a:rPr lang="en-US" sz="1100" b="1" dirty="0">
                <a:solidFill>
                  <a:srgbClr val="0D1B2A"/>
                </a:solidFill>
              </a:rPr>
              <a:t>AI</a:t>
            </a:r>
            <a:endParaRPr lang="en-US" sz="1100" dirty="0"/>
          </a:p>
        </p:txBody>
      </p:sp>
      <p:sp>
        <p:nvSpPr>
          <p:cNvPr id="7" name="Shape 5"/>
          <p:cNvSpPr/>
          <p:nvPr/>
        </p:nvSpPr>
        <p:spPr>
          <a:xfrm>
            <a:off x="2560320" y="1755648"/>
            <a:ext cx="5943600" cy="868680"/>
          </a:xfrm>
          <a:prstGeom prst="rect">
            <a:avLst/>
          </a:prstGeom>
          <a:solidFill>
            <a:srgbClr val="1A7A9E"/>
          </a:solidFill>
          <a:ln w="12700">
            <a:solidFill>
              <a:srgbClr val="1A7A9E"/>
            </a:solidFill>
            <a:prstDash val="solid"/>
          </a:ln>
        </p:spPr>
      </p:sp>
      <p:sp>
        <p:nvSpPr>
          <p:cNvPr id="8" name="Text 6"/>
          <p:cNvSpPr/>
          <p:nvPr/>
        </p:nvSpPr>
        <p:spPr>
          <a:xfrm>
            <a:off x="2606040" y="1755648"/>
            <a:ext cx="5852160" cy="86868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I'm an office manager at a trades business — 25 staff, subcontractors in and out. Compliance is a constant headache. Before you suggest anything, ask me questions one at a time until you understand what's actually going wrong.</a:t>
            </a:r>
            <a:endParaRPr lang="en-US" sz="1000" dirty="0"/>
          </a:p>
        </p:txBody>
      </p:sp>
      <p:sp>
        <p:nvSpPr>
          <p:cNvPr id="9" name="Shape 7"/>
          <p:cNvSpPr/>
          <p:nvPr/>
        </p:nvSpPr>
        <p:spPr>
          <a:xfrm>
            <a:off x="457200" y="2788920"/>
            <a:ext cx="6400800" cy="1828800"/>
          </a:xfrm>
          <a:prstGeom prst="rect">
            <a:avLst/>
          </a:prstGeom>
          <a:solidFill>
            <a:srgbClr val="FFFFFF"/>
          </a:solidFill>
          <a:ln w="12700">
            <a:solidFill>
              <a:srgbClr val="E5E7EB"/>
            </a:solidFill>
            <a:prstDash val="solid"/>
          </a:ln>
        </p:spPr>
      </p:sp>
      <p:sp>
        <p:nvSpPr>
          <p:cNvPr id="10" name="Text 8"/>
          <p:cNvSpPr/>
          <p:nvPr/>
        </p:nvSpPr>
        <p:spPr>
          <a:xfrm>
            <a:off x="594360" y="2834640"/>
            <a:ext cx="6126480" cy="1691640"/>
          </a:xfrm>
          <a:prstGeom prst="rect">
            <a:avLst/>
          </a:prstGeom>
          <a:noFill/>
          <a:ln/>
        </p:spPr>
        <p:txBody>
          <a:bodyPr wrap="square"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Before I suggest anything, I want to make sure I understand what's actually happening.
</a:t>
            </a:r>
            <a:r>
              <a:rPr lang="en-US" sz="1050" dirty="0">
                <a:solidFill>
                  <a:srgbClr val="0D1B2A"/>
                </a:solidFill>
                <a:latin typeface="Calibri" pitchFamily="34" charset="0"/>
                <a:ea typeface="Calibri" pitchFamily="34" charset="-122"/>
                <a:cs typeface="Calibri" pitchFamily="34" charset="-120"/>
              </a:rPr>
              <a:t>First question: when compliance paperwork falls through the cracks, what's the most common reason? Is it that nobody owns it, the tracking system fails, or something else?</a:t>
            </a:r>
            <a:endParaRPr lang="en-US" sz="1050" dirty="0"/>
          </a:p>
        </p:txBody>
      </p:sp>
      <p:sp>
        <p:nvSpPr>
          <p:cNvPr id="11" name="Text 9"/>
          <p:cNvSpPr/>
          <p:nvPr/>
        </p:nvSpPr>
        <p:spPr>
          <a:xfrm>
            <a:off x="347472" y="4828032"/>
            <a:ext cx="8412480" cy="320040"/>
          </a:xfrm>
          <a:prstGeom prst="rect">
            <a:avLst/>
          </a:prstGeom>
          <a:noFill/>
          <a:ln/>
        </p:spPr>
        <p:txBody>
          <a:bodyPr wrap="square" rtlCol="0" anchor="ctr"/>
          <a:lstStyle/>
          <a:p>
            <a:pPr marL="0" indent="0">
              <a:buNone/>
            </a:pPr>
            <a:r>
              <a:rPr lang="en-US" sz="1100" b="1" i="1" dirty="0">
                <a:solidFill>
                  <a:srgbClr val="1A7A5E"/>
                </a:solidFill>
                <a:latin typeface="Calibri" pitchFamily="34" charset="0"/>
                <a:ea typeface="Calibri" pitchFamily="34" charset="-122"/>
                <a:cs typeface="Calibri" pitchFamily="34" charset="-120"/>
              </a:rPr>
              <a:t>Specific. Contextual. Already finding the real problem.</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4641A"/>
          </a:solidFill>
          <a:ln w="12700">
            <a:solidFill>
              <a:srgbClr val="D4641A"/>
            </a:solidFill>
            <a:prstDash val="solid"/>
          </a:ln>
        </p:spPr>
      </p:sp>
      <p:sp>
        <p:nvSpPr>
          <p:cNvPr id="3" name="Text 1"/>
          <p:cNvSpPr/>
          <p:nvPr/>
        </p:nvSpPr>
        <p:spPr>
          <a:xfrm>
            <a:off x="347472" y="475488"/>
            <a:ext cx="8412480" cy="502920"/>
          </a:xfrm>
          <a:prstGeom prst="rect">
            <a:avLst/>
          </a:prstGeom>
          <a:noFill/>
          <a:ln/>
        </p:spPr>
        <p:txBody>
          <a:bodyPr wrap="square" rtlCol="0" anchor="ctr"/>
          <a:lstStyle/>
          <a:p>
            <a:pPr marL="0" indent="0">
              <a:buNone/>
            </a:pPr>
            <a:r>
              <a:rPr lang="en-US" sz="1300" b="1" dirty="0">
                <a:solidFill>
                  <a:srgbClr val="D4641A"/>
                </a:solidFill>
                <a:latin typeface="Calibri" pitchFamily="34" charset="0"/>
                <a:ea typeface="Calibri" pitchFamily="34" charset="-122"/>
                <a:cs typeface="Calibri" pitchFamily="34" charset="-120"/>
              </a:rPr>
              <a:t>BEFORE YOU THINK ABOUT THE SOLUTION —</a:t>
            </a:r>
            <a:endParaRPr lang="en-US" sz="1300" dirty="0"/>
          </a:p>
        </p:txBody>
      </p:sp>
      <p:sp>
        <p:nvSpPr>
          <p:cNvPr id="4" name="Text 2"/>
          <p:cNvSpPr/>
          <p:nvPr/>
        </p:nvSpPr>
        <p:spPr>
          <a:xfrm>
            <a:off x="347472" y="960120"/>
            <a:ext cx="8412480" cy="1691640"/>
          </a:xfrm>
          <a:prstGeom prst="rect">
            <a:avLst/>
          </a:prstGeom>
          <a:noFill/>
          <a:ln/>
        </p:spPr>
        <p:txBody>
          <a:bodyPr wrap="square" rtlCol="0" anchor="ctr"/>
          <a:lstStyle/>
          <a:p>
            <a:pPr marL="0" indent="0">
              <a:lnSpc>
                <a:spcPts val="8000"/>
              </a:lnSpc>
              <a:buNone/>
            </a:pPr>
            <a:r>
              <a:rPr lang="en-US" sz="5600" b="1" dirty="0">
                <a:solidFill>
                  <a:srgbClr val="FFFFFF"/>
                </a:solidFill>
                <a:latin typeface="Arial Black" pitchFamily="34" charset="0"/>
                <a:ea typeface="Arial Black" pitchFamily="34" charset="-122"/>
                <a:cs typeface="Arial Black" pitchFamily="34" charset="-120"/>
              </a:rPr>
              <a:t>Get clarity</a:t>
            </a:r>
            <a:endParaRPr lang="en-US" sz="5600" dirty="0"/>
          </a:p>
          <a:p>
            <a:pPr marL="0" indent="0">
              <a:lnSpc>
                <a:spcPts val="8000"/>
              </a:lnSpc>
              <a:buNone/>
            </a:pPr>
            <a:r>
              <a:rPr lang="en-US" sz="5600" b="1" dirty="0">
                <a:solidFill>
                  <a:srgbClr val="FFFFFF"/>
                </a:solidFill>
                <a:latin typeface="Arial Black" pitchFamily="34" charset="0"/>
                <a:ea typeface="Arial Black" pitchFamily="34" charset="-122"/>
                <a:cs typeface="Arial Black" pitchFamily="34" charset="-120"/>
              </a:rPr>
              <a:t>on the problem.</a:t>
            </a:r>
            <a:endParaRPr lang="en-US" sz="5600" dirty="0"/>
          </a:p>
        </p:txBody>
      </p:sp>
      <p:sp>
        <p:nvSpPr>
          <p:cNvPr id="5" name="Shape 3"/>
          <p:cNvSpPr/>
          <p:nvPr/>
        </p:nvSpPr>
        <p:spPr>
          <a:xfrm>
            <a:off x="347472" y="2852928"/>
            <a:ext cx="2724912" cy="2084832"/>
          </a:xfrm>
          <a:prstGeom prst="rect">
            <a:avLst/>
          </a:prstGeom>
          <a:solidFill>
            <a:srgbClr val="1E2D3D"/>
          </a:solidFill>
          <a:ln/>
          <a:effectLst>
            <a:outerShdw blurRad="76200" dist="25400" dir="8100000" algn="bl" rotWithShape="0">
              <a:srgbClr val="000000">
                <a:alpha val="15000"/>
              </a:srgbClr>
            </a:outerShdw>
          </a:effectLst>
        </p:spPr>
      </p:sp>
      <p:sp>
        <p:nvSpPr>
          <p:cNvPr id="6" name="Shape 4"/>
          <p:cNvSpPr/>
          <p:nvPr/>
        </p:nvSpPr>
        <p:spPr>
          <a:xfrm>
            <a:off x="347472" y="2852928"/>
            <a:ext cx="2724912" cy="36576"/>
          </a:xfrm>
          <a:prstGeom prst="rect">
            <a:avLst/>
          </a:prstGeom>
          <a:solidFill>
            <a:srgbClr val="C0392B"/>
          </a:solidFill>
          <a:ln/>
        </p:spPr>
      </p:sp>
      <p:sp>
        <p:nvSpPr>
          <p:cNvPr id="7" name="Text 5"/>
          <p:cNvSpPr/>
          <p:nvPr/>
        </p:nvSpPr>
        <p:spPr>
          <a:xfrm>
            <a:off x="475488" y="2926080"/>
            <a:ext cx="2468880" cy="384048"/>
          </a:xfrm>
          <a:prstGeom prst="rect">
            <a:avLst/>
          </a:prstGeom>
          <a:noFill/>
          <a:ln/>
        </p:spPr>
        <p:txBody>
          <a:bodyPr wrap="square" rtlCol="0" anchor="ctr"/>
          <a:lstStyle/>
          <a:p>
            <a:pPr marL="0" indent="0">
              <a:buNone/>
            </a:pPr>
            <a:r>
              <a:rPr lang="en-US" sz="1100" b="1" dirty="0">
                <a:solidFill>
                  <a:srgbClr val="E87070"/>
                </a:solidFill>
                <a:latin typeface="Calibri" pitchFamily="34" charset="0"/>
                <a:ea typeface="Calibri" pitchFamily="34" charset="-122"/>
                <a:cs typeface="Calibri" pitchFamily="34" charset="-120"/>
              </a:rPr>
              <a:t>✗  Most people do this</a:t>
            </a:r>
            <a:endParaRPr lang="en-US" sz="1100" dirty="0"/>
          </a:p>
        </p:txBody>
      </p:sp>
      <p:sp>
        <p:nvSpPr>
          <p:cNvPr id="8" name="Text 6"/>
          <p:cNvSpPr/>
          <p:nvPr/>
        </p:nvSpPr>
        <p:spPr>
          <a:xfrm>
            <a:off x="475488" y="3337560"/>
            <a:ext cx="2468880" cy="1508760"/>
          </a:xfrm>
          <a:prstGeom prst="rect">
            <a:avLst/>
          </a:prstGeom>
          <a:noFill/>
          <a:ln/>
        </p:spPr>
        <p:txBody>
          <a:bodyPr wrap="square" rtlCol="0" anchor="ctr"/>
          <a:lstStyle/>
          <a:p>
            <a:pPr marL="0" indent="0">
              <a:buNone/>
            </a:pPr>
            <a:r>
              <a:rPr lang="en-US" sz="1050" dirty="0">
                <a:solidFill>
                  <a:srgbClr val="CBD5E0"/>
                </a:solidFill>
                <a:latin typeface="Calibri" pitchFamily="34" charset="0"/>
                <a:ea typeface="Calibri" pitchFamily="34" charset="-122"/>
                <a:cs typeface="Calibri" pitchFamily="34" charset="-120"/>
              </a:rPr>
              <a:t>Open AI. Describe a solution. Ask AI to help build it.</a:t>
            </a:r>
            <a:endParaRPr lang="en-US" sz="1050" dirty="0"/>
          </a:p>
          <a:p>
            <a:pPr marL="0" indent="0">
              <a:buNone/>
            </a:pPr>
            <a:endParaRPr lang="en-US" sz="1050" dirty="0"/>
          </a:p>
          <a:p>
            <a:pPr marL="0" indent="0">
              <a:buNone/>
            </a:pPr>
            <a:r>
              <a:rPr lang="en-US" sz="1050" dirty="0">
                <a:solidFill>
                  <a:srgbClr val="CBD5E0"/>
                </a:solidFill>
                <a:latin typeface="Calibri" pitchFamily="34" charset="0"/>
                <a:ea typeface="Calibri" pitchFamily="34" charset="-122"/>
                <a:cs typeface="Calibri" pitchFamily="34" charset="-120"/>
              </a:rPr>
              <a:t>They get a mediocre answer to the wrong question.</a:t>
            </a:r>
            <a:endParaRPr lang="en-US" sz="1050" dirty="0"/>
          </a:p>
        </p:txBody>
      </p:sp>
      <p:sp>
        <p:nvSpPr>
          <p:cNvPr id="9" name="Shape 7"/>
          <p:cNvSpPr/>
          <p:nvPr/>
        </p:nvSpPr>
        <p:spPr>
          <a:xfrm>
            <a:off x="3209544" y="2852928"/>
            <a:ext cx="2724912" cy="2084832"/>
          </a:xfrm>
          <a:prstGeom prst="rect">
            <a:avLst/>
          </a:prstGeom>
          <a:solidFill>
            <a:srgbClr val="1E2D3D"/>
          </a:solidFill>
          <a:ln/>
          <a:effectLst>
            <a:outerShdw blurRad="76200" dist="25400" dir="8100000" algn="bl" rotWithShape="0">
              <a:srgbClr val="000000">
                <a:alpha val="15000"/>
              </a:srgbClr>
            </a:outerShdw>
          </a:effectLst>
        </p:spPr>
      </p:sp>
      <p:sp>
        <p:nvSpPr>
          <p:cNvPr id="10" name="Shape 8"/>
          <p:cNvSpPr/>
          <p:nvPr/>
        </p:nvSpPr>
        <p:spPr>
          <a:xfrm>
            <a:off x="3209544" y="2852928"/>
            <a:ext cx="2724912" cy="36576"/>
          </a:xfrm>
          <a:prstGeom prst="rect">
            <a:avLst/>
          </a:prstGeom>
          <a:solidFill>
            <a:srgbClr val="1A7A9E"/>
          </a:solidFill>
          <a:ln/>
        </p:spPr>
      </p:sp>
      <p:sp>
        <p:nvSpPr>
          <p:cNvPr id="11" name="Text 9"/>
          <p:cNvSpPr/>
          <p:nvPr/>
        </p:nvSpPr>
        <p:spPr>
          <a:xfrm>
            <a:off x="3337560" y="2926080"/>
            <a:ext cx="2468880" cy="384048"/>
          </a:xfrm>
          <a:prstGeom prst="rect">
            <a:avLst/>
          </a:prstGeom>
          <a:noFill/>
          <a:ln/>
        </p:spPr>
        <p:txBody>
          <a:bodyPr wrap="square" rtlCol="0" anchor="ctr"/>
          <a:lstStyle/>
          <a:p>
            <a:pPr marL="0" indent="0">
              <a:buNone/>
            </a:pPr>
            <a:r>
              <a:rPr lang="en-US" sz="1100" b="1" dirty="0">
                <a:solidFill>
                  <a:srgbClr val="1A7A9E"/>
                </a:solidFill>
                <a:latin typeface="Calibri" pitchFamily="34" charset="0"/>
                <a:ea typeface="Calibri" pitchFamily="34" charset="-122"/>
                <a:cs typeface="Calibri" pitchFamily="34" charset="-120"/>
              </a:rPr>
              <a:t>→  What actually works</a:t>
            </a:r>
            <a:endParaRPr lang="en-US" sz="1100" dirty="0"/>
          </a:p>
        </p:txBody>
      </p:sp>
      <p:sp>
        <p:nvSpPr>
          <p:cNvPr id="12" name="Text 10"/>
          <p:cNvSpPr/>
          <p:nvPr/>
        </p:nvSpPr>
        <p:spPr>
          <a:xfrm>
            <a:off x="3337560" y="3337560"/>
            <a:ext cx="2468880" cy="1508760"/>
          </a:xfrm>
          <a:prstGeom prst="rect">
            <a:avLst/>
          </a:prstGeom>
          <a:noFill/>
          <a:ln/>
        </p:spPr>
        <p:txBody>
          <a:bodyPr wrap="square" rtlCol="0" anchor="ctr"/>
          <a:lstStyle/>
          <a:p>
            <a:pPr marL="0" indent="0">
              <a:buNone/>
            </a:pPr>
            <a:r>
              <a:rPr lang="en-US" sz="1050" dirty="0">
                <a:solidFill>
                  <a:srgbClr val="CBD5E0"/>
                </a:solidFill>
                <a:latin typeface="Calibri" pitchFamily="34" charset="0"/>
                <a:ea typeface="Calibri" pitchFamily="34" charset="-122"/>
                <a:cs typeface="Calibri" pitchFamily="34" charset="-120"/>
              </a:rPr>
              <a:t>Describe the problem first. Don't mention a solution. Let the conversation surface what's really going on.</a:t>
            </a:r>
            <a:endParaRPr lang="en-US" sz="1050" dirty="0"/>
          </a:p>
        </p:txBody>
      </p:sp>
      <p:sp>
        <p:nvSpPr>
          <p:cNvPr id="13" name="Shape 11"/>
          <p:cNvSpPr/>
          <p:nvPr/>
        </p:nvSpPr>
        <p:spPr>
          <a:xfrm>
            <a:off x="6071616" y="2852928"/>
            <a:ext cx="2724912" cy="2084832"/>
          </a:xfrm>
          <a:prstGeom prst="rect">
            <a:avLst/>
          </a:prstGeom>
          <a:solidFill>
            <a:srgbClr val="1E2D3D"/>
          </a:solidFill>
          <a:ln/>
          <a:effectLst>
            <a:outerShdw blurRad="76200" dist="25400" dir="8100000" algn="bl" rotWithShape="0">
              <a:srgbClr val="000000">
                <a:alpha val="15000"/>
              </a:srgbClr>
            </a:outerShdw>
          </a:effectLst>
        </p:spPr>
      </p:sp>
      <p:sp>
        <p:nvSpPr>
          <p:cNvPr id="14" name="Shape 12"/>
          <p:cNvSpPr/>
          <p:nvPr/>
        </p:nvSpPr>
        <p:spPr>
          <a:xfrm>
            <a:off x="6071616" y="2852928"/>
            <a:ext cx="2724912" cy="36576"/>
          </a:xfrm>
          <a:prstGeom prst="rect">
            <a:avLst/>
          </a:prstGeom>
          <a:solidFill>
            <a:srgbClr val="1A7A9E"/>
          </a:solidFill>
          <a:ln/>
        </p:spPr>
      </p:sp>
      <p:sp>
        <p:nvSpPr>
          <p:cNvPr id="15" name="Text 13"/>
          <p:cNvSpPr/>
          <p:nvPr/>
        </p:nvSpPr>
        <p:spPr>
          <a:xfrm>
            <a:off x="6199632" y="2926080"/>
            <a:ext cx="2468880" cy="384048"/>
          </a:xfrm>
          <a:prstGeom prst="rect">
            <a:avLst/>
          </a:prstGeom>
          <a:noFill/>
          <a:ln/>
        </p:spPr>
        <p:txBody>
          <a:bodyPr wrap="square" rtlCol="0" anchor="ctr"/>
          <a:lstStyle/>
          <a:p>
            <a:pPr marL="0" indent="0">
              <a:buNone/>
            </a:pPr>
            <a:r>
              <a:rPr lang="en-US" sz="1100" b="1" dirty="0">
                <a:solidFill>
                  <a:srgbClr val="1A7A9E"/>
                </a:solidFill>
                <a:latin typeface="Calibri" pitchFamily="34" charset="0"/>
                <a:ea typeface="Calibri" pitchFamily="34" charset="-122"/>
                <a:cs typeface="Calibri" pitchFamily="34" charset="-120"/>
              </a:rPr>
              <a:t>✓  Why it matters</a:t>
            </a:r>
            <a:endParaRPr lang="en-US" sz="1100" dirty="0"/>
          </a:p>
        </p:txBody>
      </p:sp>
      <p:sp>
        <p:nvSpPr>
          <p:cNvPr id="16" name="Text 14"/>
          <p:cNvSpPr/>
          <p:nvPr/>
        </p:nvSpPr>
        <p:spPr>
          <a:xfrm>
            <a:off x="6199632" y="3337560"/>
            <a:ext cx="2468880" cy="1508760"/>
          </a:xfrm>
          <a:prstGeom prst="rect">
            <a:avLst/>
          </a:prstGeom>
          <a:noFill/>
          <a:ln/>
        </p:spPr>
        <p:txBody>
          <a:bodyPr wrap="square" rtlCol="0" anchor="ctr"/>
          <a:lstStyle/>
          <a:p>
            <a:pPr marL="0" indent="0">
              <a:buNone/>
            </a:pPr>
            <a:r>
              <a:rPr lang="en-US" sz="1050" dirty="0">
                <a:solidFill>
                  <a:srgbClr val="CBD5E0"/>
                </a:solidFill>
                <a:latin typeface="Calibri" pitchFamily="34" charset="0"/>
                <a:ea typeface="Calibri" pitchFamily="34" charset="-122"/>
                <a:cs typeface="Calibri" pitchFamily="34" charset="-120"/>
              </a:rPr>
              <a:t>The quality of your output is determined before you type the first prompt. Clarity is the work.</a:t>
            </a:r>
            <a:endParaRPr lang="en-US" sz="1050" dirty="0"/>
          </a:p>
        </p:txBody>
      </p:sp>
      <p:sp>
        <p:nvSpPr>
          <p:cNvPr id="17" name="Shape 15"/>
          <p:cNvSpPr/>
          <p:nvPr/>
        </p:nvSpPr>
        <p:spPr>
          <a:xfrm>
            <a:off x="0" y="4828032"/>
            <a:ext cx="9144000" cy="320040"/>
          </a:xfrm>
          <a:prstGeom prst="rect">
            <a:avLst/>
          </a:prstGeom>
          <a:solidFill>
            <a:srgbClr val="D4641A"/>
          </a:solidFill>
          <a:ln/>
        </p:spPr>
      </p:sp>
      <p:sp>
        <p:nvSpPr>
          <p:cNvPr id="18" name="Text 16"/>
          <p:cNvSpPr/>
          <p:nvPr/>
        </p:nvSpPr>
        <p:spPr>
          <a:xfrm>
            <a:off x="347472" y="4828032"/>
            <a:ext cx="8412480" cy="320040"/>
          </a:xfrm>
          <a:prstGeom prst="rect">
            <a:avLst/>
          </a:prstGeom>
          <a:noFill/>
          <a:ln/>
        </p:spPr>
        <p:txBody>
          <a:bodyPr wrap="square" rtlCol="0" anchor="ctr"/>
          <a:lstStyle/>
          <a:p>
            <a:pPr marL="0" indent="0" algn="ctr">
              <a:buNone/>
            </a:pPr>
            <a:r>
              <a:rPr lang="en-US" sz="1150" b="1" i="1" dirty="0">
                <a:solidFill>
                  <a:srgbClr val="FFFFFF"/>
                </a:solidFill>
                <a:latin typeface="Calibri" pitchFamily="34" charset="0"/>
                <a:ea typeface="Calibri" pitchFamily="34" charset="-122"/>
                <a:cs typeface="Calibri" pitchFamily="34" charset="-120"/>
              </a:rPr>
              <a:t>" When you give yourself time to go deep with AI — the results are 10x. "</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A7A9E"/>
          </a:solidFill>
          <a:ln w="12700">
            <a:solidFill>
              <a:srgbClr val="1A7A9E"/>
            </a:solidFill>
            <a:prstDash val="solid"/>
          </a:ln>
        </p:spPr>
      </p:sp>
      <p:sp>
        <p:nvSpPr>
          <p:cNvPr id="3" name="Text 1"/>
          <p:cNvSpPr/>
          <p:nvPr/>
        </p:nvSpPr>
        <p:spPr>
          <a:xfrm>
            <a:off x="347472" y="566928"/>
            <a:ext cx="8412480" cy="566928"/>
          </a:xfrm>
          <a:prstGeom prst="rect">
            <a:avLst/>
          </a:prstGeom>
          <a:noFill/>
          <a:ln/>
        </p:spPr>
        <p:txBody>
          <a:bodyPr wrap="square" rtlCol="0" anchor="ctr"/>
          <a:lstStyle/>
          <a:p>
            <a:pPr marL="0" indent="0">
              <a:buNone/>
            </a:pPr>
            <a:r>
              <a:rPr lang="en-US" sz="3000" b="1" dirty="0">
                <a:solidFill>
                  <a:srgbClr val="FFFFFF"/>
                </a:solidFill>
                <a:latin typeface="Arial Black" pitchFamily="34" charset="0"/>
                <a:ea typeface="Arial Black" pitchFamily="34" charset="-122"/>
                <a:cs typeface="Arial Black" pitchFamily="34" charset="-120"/>
              </a:rPr>
              <a:t>THE COMPLETE SYSTEM</a:t>
            </a:r>
            <a:endParaRPr lang="en-US" sz="3000" dirty="0"/>
          </a:p>
        </p:txBody>
      </p:sp>
      <p:sp>
        <p:nvSpPr>
          <p:cNvPr id="4" name="Text 2"/>
          <p:cNvSpPr/>
          <p:nvPr/>
        </p:nvSpPr>
        <p:spPr>
          <a:xfrm>
            <a:off x="347472" y="1115568"/>
            <a:ext cx="8412480" cy="347472"/>
          </a:xfrm>
          <a:prstGeom prst="rect">
            <a:avLst/>
          </a:prstGeom>
          <a:noFill/>
          <a:ln/>
        </p:spPr>
        <p:txBody>
          <a:bodyPr wrap="square" rtlCol="0" anchor="ctr"/>
          <a:lstStyle/>
          <a:p>
            <a:pPr marL="0" indent="0">
              <a:buNone/>
            </a:pPr>
            <a:r>
              <a:rPr lang="en-US" sz="1300" dirty="0">
                <a:solidFill>
                  <a:srgbClr val="AECBDC"/>
                </a:solidFill>
                <a:latin typeface="Calibri" pitchFamily="34" charset="0"/>
                <a:ea typeface="Calibri" pitchFamily="34" charset="-122"/>
                <a:cs typeface="Calibri" pitchFamily="34" charset="-120"/>
              </a:rPr>
              <a:t>Three phases. Used in order. Every time.</a:t>
            </a:r>
            <a:endParaRPr lang="en-US" sz="1300" dirty="0"/>
          </a:p>
        </p:txBody>
      </p:sp>
      <p:sp>
        <p:nvSpPr>
          <p:cNvPr id="5" name="Shape 3"/>
          <p:cNvSpPr/>
          <p:nvPr/>
        </p:nvSpPr>
        <p:spPr>
          <a:xfrm>
            <a:off x="347472" y="1627632"/>
            <a:ext cx="2743200" cy="3246120"/>
          </a:xfrm>
          <a:prstGeom prst="rect">
            <a:avLst/>
          </a:prstGeom>
          <a:solidFill>
            <a:srgbClr val="1E2D3D"/>
          </a:solidFill>
          <a:ln/>
          <a:effectLst>
            <a:outerShdw blurRad="76200" dist="25400" dir="8100000" algn="bl" rotWithShape="0">
              <a:srgbClr val="000000">
                <a:alpha val="15000"/>
              </a:srgbClr>
            </a:outerShdw>
          </a:effectLst>
        </p:spPr>
      </p:sp>
      <p:sp>
        <p:nvSpPr>
          <p:cNvPr id="6" name="Shape 4"/>
          <p:cNvSpPr/>
          <p:nvPr/>
        </p:nvSpPr>
        <p:spPr>
          <a:xfrm>
            <a:off x="347472" y="1627632"/>
            <a:ext cx="2743200" cy="566928"/>
          </a:xfrm>
          <a:prstGeom prst="rect">
            <a:avLst/>
          </a:prstGeom>
          <a:solidFill>
            <a:srgbClr val="D4641A"/>
          </a:solidFill>
          <a:ln/>
        </p:spPr>
      </p:sp>
      <p:sp>
        <p:nvSpPr>
          <p:cNvPr id="7" name="Text 5"/>
          <p:cNvSpPr/>
          <p:nvPr/>
        </p:nvSpPr>
        <p:spPr>
          <a:xfrm>
            <a:off x="438912" y="1645920"/>
            <a:ext cx="914400" cy="228600"/>
          </a:xfrm>
          <a:prstGeom prst="rect">
            <a:avLst/>
          </a:prstGeom>
          <a:noFill/>
          <a:ln/>
        </p:spPr>
        <p:txBody>
          <a:bodyPr wrap="square"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PHASE 1</a:t>
            </a:r>
            <a:endParaRPr lang="en-US" sz="800" dirty="0"/>
          </a:p>
        </p:txBody>
      </p:sp>
      <p:sp>
        <p:nvSpPr>
          <p:cNvPr id="8" name="Text 6"/>
          <p:cNvSpPr/>
          <p:nvPr/>
        </p:nvSpPr>
        <p:spPr>
          <a:xfrm>
            <a:off x="438912" y="1847088"/>
            <a:ext cx="2560320" cy="310896"/>
          </a:xfrm>
          <a:prstGeom prst="rect">
            <a:avLst/>
          </a:prstGeom>
          <a:noFill/>
          <a:ln/>
        </p:spPr>
        <p:txBody>
          <a:bodyPr wrap="square"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UNPACK THE PROBLEM</a:t>
            </a:r>
            <a:endParaRPr lang="en-US" sz="1200" dirty="0"/>
          </a:p>
        </p:txBody>
      </p:sp>
      <p:sp>
        <p:nvSpPr>
          <p:cNvPr id="9" name="Text 7"/>
          <p:cNvSpPr/>
          <p:nvPr/>
        </p:nvSpPr>
        <p:spPr>
          <a:xfrm>
            <a:off x="438912" y="2267712"/>
            <a:ext cx="2560320" cy="292608"/>
          </a:xfrm>
          <a:prstGeom prst="rect">
            <a:avLst/>
          </a:prstGeom>
          <a:noFill/>
          <a:ln/>
        </p:spPr>
        <p:txBody>
          <a:bodyPr wrap="square" rtlCol="0" anchor="ctr"/>
          <a:lstStyle/>
          <a:p>
            <a:pPr marL="0" indent="0">
              <a:buNone/>
            </a:pPr>
            <a:r>
              <a:rPr lang="en-US" sz="1050" b="1" dirty="0">
                <a:solidFill>
                  <a:schemeClr val="bg1"/>
                </a:solidFill>
                <a:latin typeface="Calibri" pitchFamily="34" charset="0"/>
                <a:ea typeface="Calibri" pitchFamily="34" charset="-122"/>
                <a:cs typeface="Calibri" pitchFamily="34" charset="-120"/>
              </a:rPr>
              <a:t>5-Layer Model</a:t>
            </a:r>
            <a:endParaRPr lang="en-US" sz="1050" dirty="0">
              <a:solidFill>
                <a:schemeClr val="bg1"/>
              </a:solidFill>
            </a:endParaRPr>
          </a:p>
        </p:txBody>
      </p:sp>
      <p:sp>
        <p:nvSpPr>
          <p:cNvPr id="10" name="Text 8"/>
          <p:cNvSpPr/>
          <p:nvPr/>
        </p:nvSpPr>
        <p:spPr>
          <a:xfrm>
            <a:off x="438912" y="2606040"/>
            <a:ext cx="2560320" cy="1303020"/>
          </a:xfrm>
          <a:prstGeom prst="rect">
            <a:avLst/>
          </a:prstGeom>
          <a:noFill/>
          <a:ln/>
        </p:spPr>
        <p:txBody>
          <a:bodyPr wrap="square" rtlCol="0" anchor="ctr"/>
          <a:lstStyle/>
          <a:p>
            <a:pPr marL="0" indent="0">
              <a:buNone/>
            </a:pPr>
            <a:r>
              <a:rPr lang="en-US" sz="1100" dirty="0">
                <a:solidFill>
                  <a:schemeClr val="bg1"/>
                </a:solidFill>
                <a:latin typeface="Calibri" pitchFamily="34" charset="0"/>
                <a:ea typeface="Calibri" pitchFamily="34" charset="-122"/>
                <a:cs typeface="Calibri" pitchFamily="34" charset="-120"/>
              </a:rPr>
              <a:t>Map your problem clearly before you ask for anything.</a:t>
            </a:r>
            <a:endParaRPr lang="en-US" sz="1100" dirty="0">
              <a:solidFill>
                <a:schemeClr val="bg1"/>
              </a:solidFill>
            </a:endParaRPr>
          </a:p>
          <a:p>
            <a:pPr marL="0" indent="0">
              <a:buNone/>
            </a:pPr>
            <a:r>
              <a:rPr lang="en-US" sz="1100" dirty="0">
                <a:solidFill>
                  <a:schemeClr val="bg1"/>
                </a:solidFill>
                <a:latin typeface="Calibri" pitchFamily="34" charset="0"/>
                <a:ea typeface="Calibri" pitchFamily="34" charset="-122"/>
                <a:cs typeface="Calibri" pitchFamily="34" charset="-120"/>
              </a:rPr>
              <a:t>Know what you're actually solving.</a:t>
            </a:r>
            <a:endParaRPr lang="en-US" sz="1100" dirty="0">
              <a:solidFill>
                <a:schemeClr val="bg1"/>
              </a:solidFill>
            </a:endParaRPr>
          </a:p>
        </p:txBody>
      </p:sp>
      <p:sp>
        <p:nvSpPr>
          <p:cNvPr id="11" name="Text 9"/>
          <p:cNvSpPr/>
          <p:nvPr/>
        </p:nvSpPr>
        <p:spPr>
          <a:xfrm>
            <a:off x="3090672" y="2926080"/>
            <a:ext cx="457200" cy="411480"/>
          </a:xfrm>
          <a:prstGeom prst="rect">
            <a:avLst/>
          </a:prstGeom>
          <a:noFill/>
          <a:ln/>
        </p:spPr>
        <p:txBody>
          <a:bodyPr wrap="square" rtlCol="0" anchor="ctr"/>
          <a:lstStyle/>
          <a:p>
            <a:pPr marL="0" indent="0" algn="ctr">
              <a:buNone/>
            </a:pPr>
            <a:r>
              <a:rPr lang="en-US" sz="2200" dirty="0">
                <a:solidFill>
                  <a:srgbClr val="6B7280"/>
                </a:solidFill>
              </a:rPr>
              <a:t>→</a:t>
            </a:r>
            <a:endParaRPr lang="en-US" sz="2200" dirty="0"/>
          </a:p>
        </p:txBody>
      </p:sp>
      <p:sp>
        <p:nvSpPr>
          <p:cNvPr id="12" name="Shape 10"/>
          <p:cNvSpPr/>
          <p:nvPr/>
        </p:nvSpPr>
        <p:spPr>
          <a:xfrm>
            <a:off x="3246120" y="1627632"/>
            <a:ext cx="2743200" cy="3246120"/>
          </a:xfrm>
          <a:prstGeom prst="rect">
            <a:avLst/>
          </a:prstGeom>
          <a:solidFill>
            <a:srgbClr val="1E2D3D"/>
          </a:solidFill>
          <a:ln/>
          <a:effectLst>
            <a:outerShdw blurRad="76200" dist="25400" dir="8100000" algn="bl" rotWithShape="0">
              <a:srgbClr val="000000">
                <a:alpha val="15000"/>
              </a:srgbClr>
            </a:outerShdw>
          </a:effectLst>
        </p:spPr>
      </p:sp>
      <p:sp>
        <p:nvSpPr>
          <p:cNvPr id="13" name="Shape 11"/>
          <p:cNvSpPr/>
          <p:nvPr/>
        </p:nvSpPr>
        <p:spPr>
          <a:xfrm>
            <a:off x="3246120" y="1627632"/>
            <a:ext cx="2743200" cy="566928"/>
          </a:xfrm>
          <a:prstGeom prst="rect">
            <a:avLst/>
          </a:prstGeom>
          <a:solidFill>
            <a:srgbClr val="1A7A9E"/>
          </a:solidFill>
          <a:ln/>
        </p:spPr>
      </p:sp>
      <p:sp>
        <p:nvSpPr>
          <p:cNvPr id="14" name="Text 12"/>
          <p:cNvSpPr/>
          <p:nvPr/>
        </p:nvSpPr>
        <p:spPr>
          <a:xfrm>
            <a:off x="3337560" y="1645920"/>
            <a:ext cx="914400" cy="228600"/>
          </a:xfrm>
          <a:prstGeom prst="rect">
            <a:avLst/>
          </a:prstGeom>
          <a:noFill/>
          <a:ln/>
        </p:spPr>
        <p:txBody>
          <a:bodyPr wrap="square"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PHASE 2</a:t>
            </a:r>
            <a:endParaRPr lang="en-US" sz="800" dirty="0"/>
          </a:p>
        </p:txBody>
      </p:sp>
      <p:sp>
        <p:nvSpPr>
          <p:cNvPr id="15" name="Text 13"/>
          <p:cNvSpPr/>
          <p:nvPr/>
        </p:nvSpPr>
        <p:spPr>
          <a:xfrm>
            <a:off x="3337560" y="1847088"/>
            <a:ext cx="2560320" cy="310896"/>
          </a:xfrm>
          <a:prstGeom prst="rect">
            <a:avLst/>
          </a:prstGeom>
          <a:noFill/>
          <a:ln/>
        </p:spPr>
        <p:txBody>
          <a:bodyPr wrap="square"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WORK WITH AI</a:t>
            </a:r>
            <a:endParaRPr lang="en-US" sz="1200" dirty="0"/>
          </a:p>
        </p:txBody>
      </p:sp>
      <p:sp>
        <p:nvSpPr>
          <p:cNvPr id="16" name="Text 14"/>
          <p:cNvSpPr/>
          <p:nvPr/>
        </p:nvSpPr>
        <p:spPr>
          <a:xfrm>
            <a:off x="3337560" y="2267712"/>
            <a:ext cx="2560320" cy="292608"/>
          </a:xfrm>
          <a:prstGeom prst="rect">
            <a:avLst/>
          </a:prstGeom>
          <a:noFill/>
          <a:ln/>
        </p:spPr>
        <p:txBody>
          <a:bodyPr wrap="square" rtlCol="0" anchor="ctr"/>
          <a:lstStyle/>
          <a:p>
            <a:pPr marL="0" indent="0">
              <a:buNone/>
            </a:pPr>
            <a:r>
              <a:rPr lang="en-US" sz="1050" b="1" dirty="0">
                <a:solidFill>
                  <a:schemeClr val="bg1"/>
                </a:solidFill>
                <a:latin typeface="Calibri" pitchFamily="34" charset="0"/>
                <a:ea typeface="Calibri" pitchFamily="34" charset="-122"/>
                <a:cs typeface="Calibri" pitchFamily="34" charset="-120"/>
              </a:rPr>
              <a:t>The C³ Method</a:t>
            </a:r>
            <a:endParaRPr lang="en-US" sz="1050" dirty="0">
              <a:solidFill>
                <a:schemeClr val="bg1"/>
              </a:solidFill>
            </a:endParaRPr>
          </a:p>
        </p:txBody>
      </p:sp>
      <p:sp>
        <p:nvSpPr>
          <p:cNvPr id="17" name="Text 15"/>
          <p:cNvSpPr/>
          <p:nvPr/>
        </p:nvSpPr>
        <p:spPr>
          <a:xfrm>
            <a:off x="3337560" y="2606040"/>
            <a:ext cx="2560320" cy="1303020"/>
          </a:xfrm>
          <a:prstGeom prst="rect">
            <a:avLst/>
          </a:prstGeom>
          <a:noFill/>
          <a:ln/>
        </p:spPr>
        <p:txBody>
          <a:bodyPr wrap="square" rtlCol="0" anchor="ctr"/>
          <a:lstStyle/>
          <a:p>
            <a:pPr marL="0" indent="0">
              <a:buNone/>
            </a:pPr>
            <a:r>
              <a:rPr lang="en-US" sz="1100" dirty="0">
                <a:solidFill>
                  <a:schemeClr val="bg1"/>
                </a:solidFill>
                <a:latin typeface="Calibri" pitchFamily="34" charset="0"/>
                <a:ea typeface="Calibri" pitchFamily="34" charset="-122"/>
                <a:cs typeface="Calibri" pitchFamily="34" charset="-120"/>
              </a:rPr>
              <a:t>Clarity · Curiosity · Challenge</a:t>
            </a:r>
            <a:endParaRPr lang="en-US" sz="1100" dirty="0">
              <a:solidFill>
                <a:schemeClr val="bg1"/>
              </a:solidFill>
            </a:endParaRPr>
          </a:p>
          <a:p>
            <a:pPr marL="0" indent="0">
              <a:buNone/>
            </a:pPr>
            <a:r>
              <a:rPr lang="en-US" sz="1100" dirty="0">
                <a:solidFill>
                  <a:schemeClr val="bg1"/>
                </a:solidFill>
                <a:latin typeface="Calibri" pitchFamily="34" charset="0"/>
                <a:ea typeface="Calibri" pitchFamily="34" charset="-122"/>
                <a:cs typeface="Calibri" pitchFamily="34" charset="-120"/>
              </a:rPr>
              <a:t>The conversation that builds the real answer.</a:t>
            </a:r>
            <a:endParaRPr lang="en-US" sz="1100" dirty="0">
              <a:solidFill>
                <a:schemeClr val="bg1"/>
              </a:solidFill>
            </a:endParaRPr>
          </a:p>
        </p:txBody>
      </p:sp>
      <p:sp>
        <p:nvSpPr>
          <p:cNvPr id="18" name="Text 16"/>
          <p:cNvSpPr/>
          <p:nvPr/>
        </p:nvSpPr>
        <p:spPr>
          <a:xfrm>
            <a:off x="5989320" y="2926080"/>
            <a:ext cx="457200" cy="411480"/>
          </a:xfrm>
          <a:prstGeom prst="rect">
            <a:avLst/>
          </a:prstGeom>
          <a:noFill/>
          <a:ln/>
        </p:spPr>
        <p:txBody>
          <a:bodyPr wrap="square" rtlCol="0" anchor="ctr"/>
          <a:lstStyle/>
          <a:p>
            <a:pPr marL="0" indent="0" algn="ctr">
              <a:buNone/>
            </a:pPr>
            <a:r>
              <a:rPr lang="en-US" sz="2200" dirty="0">
                <a:solidFill>
                  <a:srgbClr val="6B7280"/>
                </a:solidFill>
              </a:rPr>
              <a:t>→</a:t>
            </a:r>
            <a:endParaRPr lang="en-US" sz="2200" dirty="0"/>
          </a:p>
        </p:txBody>
      </p:sp>
      <p:sp>
        <p:nvSpPr>
          <p:cNvPr id="19" name="Shape 17"/>
          <p:cNvSpPr/>
          <p:nvPr/>
        </p:nvSpPr>
        <p:spPr>
          <a:xfrm>
            <a:off x="6144768" y="1627632"/>
            <a:ext cx="2743200" cy="3246120"/>
          </a:xfrm>
          <a:prstGeom prst="rect">
            <a:avLst/>
          </a:prstGeom>
          <a:solidFill>
            <a:srgbClr val="1E2D3D"/>
          </a:solidFill>
          <a:ln/>
          <a:effectLst>
            <a:outerShdw blurRad="76200" dist="25400" dir="8100000" algn="bl" rotWithShape="0">
              <a:srgbClr val="000000">
                <a:alpha val="15000"/>
              </a:srgbClr>
            </a:outerShdw>
          </a:effectLst>
        </p:spPr>
      </p:sp>
      <p:sp>
        <p:nvSpPr>
          <p:cNvPr id="20" name="Shape 18"/>
          <p:cNvSpPr/>
          <p:nvPr/>
        </p:nvSpPr>
        <p:spPr>
          <a:xfrm>
            <a:off x="6144768" y="1627632"/>
            <a:ext cx="2743200" cy="566928"/>
          </a:xfrm>
          <a:prstGeom prst="rect">
            <a:avLst/>
          </a:prstGeom>
          <a:solidFill>
            <a:srgbClr val="2C5F2D"/>
          </a:solidFill>
          <a:ln/>
        </p:spPr>
      </p:sp>
      <p:sp>
        <p:nvSpPr>
          <p:cNvPr id="21" name="Text 19"/>
          <p:cNvSpPr/>
          <p:nvPr/>
        </p:nvSpPr>
        <p:spPr>
          <a:xfrm>
            <a:off x="6236208" y="1645920"/>
            <a:ext cx="914400" cy="228600"/>
          </a:xfrm>
          <a:prstGeom prst="rect">
            <a:avLst/>
          </a:prstGeom>
          <a:noFill/>
          <a:ln/>
        </p:spPr>
        <p:txBody>
          <a:bodyPr wrap="square" rtlCol="0" anchor="ctr"/>
          <a:lstStyle/>
          <a:p>
            <a:pPr marL="0" indent="0">
              <a:buNone/>
            </a:pPr>
            <a:r>
              <a:rPr lang="en-US" sz="800" b="1" dirty="0">
                <a:solidFill>
                  <a:srgbClr val="FFFFFF"/>
                </a:solidFill>
                <a:latin typeface="Calibri" pitchFamily="34" charset="0"/>
                <a:ea typeface="Calibri" pitchFamily="34" charset="-122"/>
                <a:cs typeface="Calibri" pitchFamily="34" charset="-120"/>
              </a:rPr>
              <a:t>PHASE 3</a:t>
            </a:r>
            <a:endParaRPr lang="en-US" sz="800" dirty="0"/>
          </a:p>
        </p:txBody>
      </p:sp>
      <p:sp>
        <p:nvSpPr>
          <p:cNvPr id="22" name="Text 20"/>
          <p:cNvSpPr/>
          <p:nvPr/>
        </p:nvSpPr>
        <p:spPr>
          <a:xfrm>
            <a:off x="6236208" y="1847088"/>
            <a:ext cx="2560320" cy="310896"/>
          </a:xfrm>
          <a:prstGeom prst="rect">
            <a:avLst/>
          </a:prstGeom>
          <a:noFill/>
          <a:ln/>
        </p:spPr>
        <p:txBody>
          <a:bodyPr wrap="square"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GO DEEPER</a:t>
            </a:r>
            <a:endParaRPr lang="en-US" sz="1200" dirty="0"/>
          </a:p>
        </p:txBody>
      </p:sp>
      <p:sp>
        <p:nvSpPr>
          <p:cNvPr id="23" name="Text 21"/>
          <p:cNvSpPr/>
          <p:nvPr/>
        </p:nvSpPr>
        <p:spPr>
          <a:xfrm>
            <a:off x="6236208" y="2267712"/>
            <a:ext cx="2560320" cy="292608"/>
          </a:xfrm>
          <a:prstGeom prst="rect">
            <a:avLst/>
          </a:prstGeom>
          <a:noFill/>
          <a:ln/>
        </p:spPr>
        <p:txBody>
          <a:bodyPr wrap="square" rtlCol="0" anchor="ctr"/>
          <a:lstStyle/>
          <a:p>
            <a:pPr marL="0" indent="0">
              <a:buNone/>
            </a:pPr>
            <a:r>
              <a:rPr lang="en-US" sz="1050" b="1" dirty="0">
                <a:solidFill>
                  <a:schemeClr val="bg1"/>
                </a:solidFill>
                <a:latin typeface="Calibri" pitchFamily="34" charset="0"/>
                <a:ea typeface="Calibri" pitchFamily="34" charset="-122"/>
                <a:cs typeface="Calibri" pitchFamily="34" charset="-120"/>
              </a:rPr>
              <a:t>The DEEPER Framework</a:t>
            </a:r>
            <a:endParaRPr lang="en-US" sz="1050" dirty="0">
              <a:solidFill>
                <a:schemeClr val="bg1"/>
              </a:solidFill>
            </a:endParaRPr>
          </a:p>
        </p:txBody>
      </p:sp>
      <p:sp>
        <p:nvSpPr>
          <p:cNvPr id="24" name="Text 22"/>
          <p:cNvSpPr/>
          <p:nvPr/>
        </p:nvSpPr>
        <p:spPr>
          <a:xfrm>
            <a:off x="6236208" y="2606040"/>
            <a:ext cx="2560320" cy="1303020"/>
          </a:xfrm>
          <a:prstGeom prst="rect">
            <a:avLst/>
          </a:prstGeom>
          <a:noFill/>
          <a:ln/>
        </p:spPr>
        <p:txBody>
          <a:bodyPr wrap="square" rtlCol="0" anchor="ctr"/>
          <a:lstStyle/>
          <a:p>
            <a:pPr marL="0" indent="0">
              <a:buNone/>
            </a:pPr>
            <a:r>
              <a:rPr lang="en-US" sz="1050" b="1" dirty="0">
                <a:solidFill>
                  <a:schemeClr val="bg1"/>
                </a:solidFill>
                <a:latin typeface="Calibri" pitchFamily="34" charset="0"/>
                <a:ea typeface="Calibri" pitchFamily="34" charset="-122"/>
                <a:cs typeface="Calibri" pitchFamily="34" charset="-120"/>
              </a:rPr>
              <a:t>D</a:t>
            </a:r>
            <a:r>
              <a:rPr lang="en-US" sz="1050" dirty="0">
                <a:solidFill>
                  <a:schemeClr val="bg1"/>
                </a:solidFill>
                <a:latin typeface="Calibri" pitchFamily="34" charset="0"/>
                <a:ea typeface="Calibri" pitchFamily="34" charset="-122"/>
                <a:cs typeface="Calibri" pitchFamily="34" charset="-120"/>
              </a:rPr>
              <a:t>iscover · </a:t>
            </a:r>
            <a:r>
              <a:rPr lang="en-US" sz="1050" b="1" dirty="0">
                <a:solidFill>
                  <a:schemeClr val="bg1"/>
                </a:solidFill>
                <a:latin typeface="Calibri" pitchFamily="34" charset="0"/>
                <a:ea typeface="Calibri" pitchFamily="34" charset="-122"/>
                <a:cs typeface="Calibri" pitchFamily="34" charset="-120"/>
              </a:rPr>
              <a:t>E</a:t>
            </a:r>
            <a:r>
              <a:rPr lang="en-US" sz="1050" dirty="0">
                <a:solidFill>
                  <a:schemeClr val="bg1"/>
                </a:solidFill>
                <a:latin typeface="Calibri" pitchFamily="34" charset="0"/>
                <a:ea typeface="Calibri" pitchFamily="34" charset="-122"/>
                <a:cs typeface="Calibri" pitchFamily="34" charset="-120"/>
              </a:rPr>
              <a:t>xplore · </a:t>
            </a:r>
            <a:r>
              <a:rPr lang="en-US" sz="1050" b="1" dirty="0">
                <a:solidFill>
                  <a:schemeClr val="bg1"/>
                </a:solidFill>
                <a:latin typeface="Calibri" pitchFamily="34" charset="0"/>
                <a:ea typeface="Calibri" pitchFamily="34" charset="-122"/>
                <a:cs typeface="Calibri" pitchFamily="34" charset="-120"/>
              </a:rPr>
              <a:t>E</a:t>
            </a:r>
            <a:r>
              <a:rPr lang="en-US" sz="1050" dirty="0">
                <a:solidFill>
                  <a:schemeClr val="bg1"/>
                </a:solidFill>
                <a:latin typeface="Calibri" pitchFamily="34" charset="0"/>
                <a:ea typeface="Calibri" pitchFamily="34" charset="-122"/>
                <a:cs typeface="Calibri" pitchFamily="34" charset="-120"/>
              </a:rPr>
              <a:t>valuate
</a:t>
            </a:r>
            <a:r>
              <a:rPr lang="en-US" sz="1050" b="1" dirty="0">
                <a:solidFill>
                  <a:schemeClr val="bg1"/>
                </a:solidFill>
                <a:latin typeface="Calibri" pitchFamily="34" charset="0"/>
                <a:ea typeface="Calibri" pitchFamily="34" charset="-122"/>
                <a:cs typeface="Calibri" pitchFamily="34" charset="-120"/>
              </a:rPr>
              <a:t>P</a:t>
            </a:r>
            <a:r>
              <a:rPr lang="en-US" sz="1050" dirty="0">
                <a:solidFill>
                  <a:schemeClr val="bg1"/>
                </a:solidFill>
                <a:latin typeface="Calibri" pitchFamily="34" charset="0"/>
                <a:ea typeface="Calibri" pitchFamily="34" charset="-122"/>
                <a:cs typeface="Calibri" pitchFamily="34" charset="-120"/>
              </a:rPr>
              <a:t>lan · </a:t>
            </a:r>
            <a:r>
              <a:rPr lang="en-US" sz="1050" b="1" dirty="0">
                <a:solidFill>
                  <a:schemeClr val="bg1"/>
                </a:solidFill>
                <a:latin typeface="Calibri" pitchFamily="34" charset="0"/>
                <a:ea typeface="Calibri" pitchFamily="34" charset="-122"/>
                <a:cs typeface="Calibri" pitchFamily="34" charset="-120"/>
              </a:rPr>
              <a:t>E</a:t>
            </a:r>
            <a:r>
              <a:rPr lang="en-US" sz="1050" dirty="0">
                <a:solidFill>
                  <a:schemeClr val="bg1"/>
                </a:solidFill>
                <a:latin typeface="Calibri" pitchFamily="34" charset="0"/>
                <a:ea typeface="Calibri" pitchFamily="34" charset="-122"/>
                <a:cs typeface="Calibri" pitchFamily="34" charset="-120"/>
              </a:rPr>
              <a:t>xecute · </a:t>
            </a:r>
            <a:r>
              <a:rPr lang="en-US" sz="1050" b="1" dirty="0">
                <a:solidFill>
                  <a:schemeClr val="bg1"/>
                </a:solidFill>
                <a:latin typeface="Calibri" pitchFamily="34" charset="0"/>
                <a:ea typeface="Calibri" pitchFamily="34" charset="-122"/>
                <a:cs typeface="Calibri" pitchFamily="34" charset="-120"/>
              </a:rPr>
              <a:t>R</a:t>
            </a:r>
            <a:r>
              <a:rPr lang="en-US" sz="1050" dirty="0">
                <a:solidFill>
                  <a:schemeClr val="bg1"/>
                </a:solidFill>
                <a:latin typeface="Calibri" pitchFamily="34" charset="0"/>
                <a:ea typeface="Calibri" pitchFamily="34" charset="-122"/>
                <a:cs typeface="Calibri" pitchFamily="34" charset="-120"/>
              </a:rPr>
              <a:t>efine
Six steps that compound every time.</a:t>
            </a:r>
            <a:endParaRPr lang="en-US" sz="1050" dirty="0">
              <a:solidFill>
                <a:schemeClr val="bg1"/>
              </a:solidFill>
            </a:endParaRPr>
          </a:p>
        </p:txBody>
      </p:sp>
      <p:sp>
        <p:nvSpPr>
          <p:cNvPr id="25" name="Shape 23"/>
          <p:cNvSpPr/>
          <p:nvPr/>
        </p:nvSpPr>
        <p:spPr>
          <a:xfrm>
            <a:off x="347472" y="4800600"/>
            <a:ext cx="8412480" cy="347472"/>
          </a:xfrm>
          <a:prstGeom prst="rect">
            <a:avLst/>
          </a:prstGeom>
          <a:solidFill>
            <a:srgbClr val="0F2D45"/>
          </a:solidFill>
          <a:ln/>
        </p:spPr>
      </p:sp>
      <p:sp>
        <p:nvSpPr>
          <p:cNvPr id="26" name="Text 24"/>
          <p:cNvSpPr/>
          <p:nvPr/>
        </p:nvSpPr>
        <p:spPr>
          <a:xfrm>
            <a:off x="347472" y="4809744"/>
            <a:ext cx="1280160" cy="182880"/>
          </a:xfrm>
          <a:prstGeom prst="rect">
            <a:avLst/>
          </a:prstGeom>
          <a:noFill/>
          <a:ln/>
        </p:spPr>
        <p:txBody>
          <a:bodyPr wrap="square" rtlCol="0" anchor="ctr"/>
          <a:lstStyle/>
          <a:p>
            <a:pPr marL="0" indent="0">
              <a:buNone/>
            </a:pPr>
            <a:r>
              <a:rPr lang="en-US" sz="900" b="1" dirty="0">
                <a:solidFill>
                  <a:schemeClr val="bg1"/>
                </a:solidFill>
                <a:latin typeface="Calibri" pitchFamily="34" charset="0"/>
                <a:ea typeface="Calibri" pitchFamily="34" charset="-122"/>
                <a:cs typeface="Calibri" pitchFamily="34" charset="-120"/>
              </a:rPr>
              <a:t>D</a:t>
            </a:r>
            <a:r>
              <a:rPr lang="en-US" sz="900" dirty="0">
                <a:solidFill>
                  <a:schemeClr val="bg1"/>
                </a:solidFill>
                <a:latin typeface="Calibri" pitchFamily="34" charset="0"/>
                <a:ea typeface="Calibri" pitchFamily="34" charset="-122"/>
                <a:cs typeface="Calibri" pitchFamily="34" charset="-120"/>
              </a:rPr>
              <a:t>ISCOVER</a:t>
            </a:r>
            <a:endParaRPr lang="en-US" sz="900" dirty="0">
              <a:solidFill>
                <a:schemeClr val="bg1"/>
              </a:solidFill>
            </a:endParaRPr>
          </a:p>
        </p:txBody>
      </p:sp>
      <p:sp>
        <p:nvSpPr>
          <p:cNvPr id="27" name="Text 25"/>
          <p:cNvSpPr/>
          <p:nvPr/>
        </p:nvSpPr>
        <p:spPr>
          <a:xfrm>
            <a:off x="347472" y="4974336"/>
            <a:ext cx="1371600" cy="146304"/>
          </a:xfrm>
          <a:prstGeom prst="rect">
            <a:avLst/>
          </a:prstGeom>
          <a:noFill/>
          <a:ln/>
        </p:spPr>
        <p:txBody>
          <a:bodyPr wrap="square" rtlCol="0" anchor="ctr"/>
          <a:lstStyle/>
          <a:p>
            <a:pPr marL="0" indent="0">
              <a:buNone/>
            </a:pPr>
            <a:r>
              <a:rPr lang="en-US" sz="700" i="1" dirty="0">
                <a:solidFill>
                  <a:schemeClr val="bg1"/>
                </a:solidFill>
                <a:latin typeface="Calibri" pitchFamily="34" charset="0"/>
                <a:ea typeface="Calibri" pitchFamily="34" charset="-122"/>
                <a:cs typeface="Calibri" pitchFamily="34" charset="-120"/>
              </a:rPr>
              <a:t>Find the real problem</a:t>
            </a:r>
            <a:endParaRPr lang="en-US" sz="700" dirty="0">
              <a:solidFill>
                <a:schemeClr val="bg1"/>
              </a:solidFill>
            </a:endParaRPr>
          </a:p>
        </p:txBody>
      </p:sp>
      <p:sp>
        <p:nvSpPr>
          <p:cNvPr id="28" name="Text 26"/>
          <p:cNvSpPr/>
          <p:nvPr/>
        </p:nvSpPr>
        <p:spPr>
          <a:xfrm>
            <a:off x="1764792" y="4809744"/>
            <a:ext cx="1280160" cy="182880"/>
          </a:xfrm>
          <a:prstGeom prst="rect">
            <a:avLst/>
          </a:prstGeom>
          <a:noFill/>
          <a:ln/>
        </p:spPr>
        <p:txBody>
          <a:bodyPr wrap="square" rtlCol="0" anchor="ctr"/>
          <a:lstStyle/>
          <a:p>
            <a:pPr marL="0" indent="0">
              <a:buNone/>
            </a:pPr>
            <a:r>
              <a:rPr lang="en-US" sz="900" b="1" dirty="0">
                <a:solidFill>
                  <a:schemeClr val="bg1"/>
                </a:solidFill>
                <a:latin typeface="Calibri" pitchFamily="34" charset="0"/>
                <a:ea typeface="Calibri" pitchFamily="34" charset="-122"/>
                <a:cs typeface="Calibri" pitchFamily="34" charset="-120"/>
              </a:rPr>
              <a:t>E</a:t>
            </a:r>
            <a:r>
              <a:rPr lang="en-US" sz="900" dirty="0">
                <a:solidFill>
                  <a:schemeClr val="bg1"/>
                </a:solidFill>
                <a:latin typeface="Calibri" pitchFamily="34" charset="0"/>
                <a:ea typeface="Calibri" pitchFamily="34" charset="-122"/>
                <a:cs typeface="Calibri" pitchFamily="34" charset="-120"/>
              </a:rPr>
              <a:t>XPLORE</a:t>
            </a:r>
            <a:endParaRPr lang="en-US" sz="900" dirty="0">
              <a:solidFill>
                <a:schemeClr val="bg1"/>
              </a:solidFill>
            </a:endParaRPr>
          </a:p>
        </p:txBody>
      </p:sp>
      <p:sp>
        <p:nvSpPr>
          <p:cNvPr id="29" name="Text 27"/>
          <p:cNvSpPr/>
          <p:nvPr/>
        </p:nvSpPr>
        <p:spPr>
          <a:xfrm>
            <a:off x="1764792" y="4974336"/>
            <a:ext cx="1371600" cy="146304"/>
          </a:xfrm>
          <a:prstGeom prst="rect">
            <a:avLst/>
          </a:prstGeom>
          <a:noFill/>
          <a:ln/>
        </p:spPr>
        <p:txBody>
          <a:bodyPr wrap="square" rtlCol="0" anchor="ctr"/>
          <a:lstStyle/>
          <a:p>
            <a:pPr marL="0" indent="0">
              <a:buNone/>
            </a:pPr>
            <a:r>
              <a:rPr lang="en-US" sz="700" i="1" dirty="0">
                <a:solidFill>
                  <a:schemeClr val="bg1"/>
                </a:solidFill>
                <a:latin typeface="Calibri" pitchFamily="34" charset="0"/>
                <a:ea typeface="Calibri" pitchFamily="34" charset="-122"/>
                <a:cs typeface="Calibri" pitchFamily="34" charset="-120"/>
              </a:rPr>
              <a:t>Work with AI</a:t>
            </a:r>
            <a:endParaRPr lang="en-US" sz="700" dirty="0">
              <a:solidFill>
                <a:schemeClr val="bg1"/>
              </a:solidFill>
            </a:endParaRPr>
          </a:p>
        </p:txBody>
      </p:sp>
      <p:sp>
        <p:nvSpPr>
          <p:cNvPr id="30" name="Text 28"/>
          <p:cNvSpPr/>
          <p:nvPr/>
        </p:nvSpPr>
        <p:spPr>
          <a:xfrm>
            <a:off x="3182112" y="4809744"/>
            <a:ext cx="1280160" cy="182880"/>
          </a:xfrm>
          <a:prstGeom prst="rect">
            <a:avLst/>
          </a:prstGeom>
          <a:noFill/>
          <a:ln/>
        </p:spPr>
        <p:txBody>
          <a:bodyPr wrap="square" rtlCol="0" anchor="ctr"/>
          <a:lstStyle/>
          <a:p>
            <a:pPr marL="0" indent="0">
              <a:buNone/>
            </a:pPr>
            <a:r>
              <a:rPr lang="en-US" sz="900" b="1" dirty="0">
                <a:solidFill>
                  <a:schemeClr val="bg1"/>
                </a:solidFill>
                <a:latin typeface="Calibri" pitchFamily="34" charset="0"/>
                <a:ea typeface="Calibri" pitchFamily="34" charset="-122"/>
                <a:cs typeface="Calibri" pitchFamily="34" charset="-120"/>
              </a:rPr>
              <a:t>E</a:t>
            </a:r>
            <a:r>
              <a:rPr lang="en-US" sz="900" dirty="0">
                <a:solidFill>
                  <a:schemeClr val="bg1"/>
                </a:solidFill>
                <a:latin typeface="Calibri" pitchFamily="34" charset="0"/>
                <a:ea typeface="Calibri" pitchFamily="34" charset="-122"/>
                <a:cs typeface="Calibri" pitchFamily="34" charset="-120"/>
              </a:rPr>
              <a:t>VALUATE</a:t>
            </a:r>
            <a:endParaRPr lang="en-US" sz="900" dirty="0">
              <a:solidFill>
                <a:schemeClr val="bg1"/>
              </a:solidFill>
            </a:endParaRPr>
          </a:p>
        </p:txBody>
      </p:sp>
      <p:sp>
        <p:nvSpPr>
          <p:cNvPr id="31" name="Text 29"/>
          <p:cNvSpPr/>
          <p:nvPr/>
        </p:nvSpPr>
        <p:spPr>
          <a:xfrm>
            <a:off x="3182112" y="4974336"/>
            <a:ext cx="1371600" cy="146304"/>
          </a:xfrm>
          <a:prstGeom prst="rect">
            <a:avLst/>
          </a:prstGeom>
          <a:noFill/>
          <a:ln/>
        </p:spPr>
        <p:txBody>
          <a:bodyPr wrap="square" rtlCol="0" anchor="ctr"/>
          <a:lstStyle/>
          <a:p>
            <a:pPr marL="0" indent="0">
              <a:buNone/>
            </a:pPr>
            <a:r>
              <a:rPr lang="en-US" sz="700" i="1" dirty="0">
                <a:solidFill>
                  <a:schemeClr val="bg1"/>
                </a:solidFill>
                <a:latin typeface="Calibri" pitchFamily="34" charset="0"/>
                <a:ea typeface="Calibri" pitchFamily="34" charset="-122"/>
                <a:cs typeface="Calibri" pitchFamily="34" charset="-120"/>
              </a:rPr>
              <a:t>Challenge the output</a:t>
            </a:r>
            <a:endParaRPr lang="en-US" sz="700" dirty="0">
              <a:solidFill>
                <a:schemeClr val="bg1"/>
              </a:solidFill>
            </a:endParaRPr>
          </a:p>
        </p:txBody>
      </p:sp>
      <p:sp>
        <p:nvSpPr>
          <p:cNvPr id="32" name="Text 30"/>
          <p:cNvSpPr/>
          <p:nvPr/>
        </p:nvSpPr>
        <p:spPr>
          <a:xfrm>
            <a:off x="4599432" y="4809744"/>
            <a:ext cx="1280160" cy="182880"/>
          </a:xfrm>
          <a:prstGeom prst="rect">
            <a:avLst/>
          </a:prstGeom>
          <a:noFill/>
          <a:ln/>
        </p:spPr>
        <p:txBody>
          <a:bodyPr wrap="square" rtlCol="0" anchor="ctr"/>
          <a:lstStyle/>
          <a:p>
            <a:pPr marL="0" indent="0">
              <a:buNone/>
            </a:pPr>
            <a:r>
              <a:rPr lang="en-US" sz="900" b="1" dirty="0">
                <a:solidFill>
                  <a:schemeClr val="bg1"/>
                </a:solidFill>
                <a:latin typeface="Calibri" pitchFamily="34" charset="0"/>
                <a:ea typeface="Calibri" pitchFamily="34" charset="-122"/>
                <a:cs typeface="Calibri" pitchFamily="34" charset="-120"/>
              </a:rPr>
              <a:t>P</a:t>
            </a:r>
            <a:r>
              <a:rPr lang="en-US" sz="900" dirty="0">
                <a:solidFill>
                  <a:schemeClr val="bg1"/>
                </a:solidFill>
                <a:latin typeface="Calibri" pitchFamily="34" charset="0"/>
                <a:ea typeface="Calibri" pitchFamily="34" charset="-122"/>
                <a:cs typeface="Calibri" pitchFamily="34" charset="-120"/>
              </a:rPr>
              <a:t>LAN</a:t>
            </a:r>
            <a:endParaRPr lang="en-US" sz="900" dirty="0">
              <a:solidFill>
                <a:schemeClr val="bg1"/>
              </a:solidFill>
            </a:endParaRPr>
          </a:p>
        </p:txBody>
      </p:sp>
      <p:sp>
        <p:nvSpPr>
          <p:cNvPr id="33" name="Text 31"/>
          <p:cNvSpPr/>
          <p:nvPr/>
        </p:nvSpPr>
        <p:spPr>
          <a:xfrm>
            <a:off x="4599432" y="4974336"/>
            <a:ext cx="1371600" cy="146304"/>
          </a:xfrm>
          <a:prstGeom prst="rect">
            <a:avLst/>
          </a:prstGeom>
          <a:noFill/>
          <a:ln/>
        </p:spPr>
        <p:txBody>
          <a:bodyPr wrap="square" rtlCol="0" anchor="ctr"/>
          <a:lstStyle/>
          <a:p>
            <a:pPr marL="0" indent="0">
              <a:buNone/>
            </a:pPr>
            <a:r>
              <a:rPr lang="en-US" sz="700" i="1" dirty="0">
                <a:solidFill>
                  <a:schemeClr val="bg1"/>
                </a:solidFill>
                <a:latin typeface="Calibri" pitchFamily="34" charset="0"/>
                <a:ea typeface="Calibri" pitchFamily="34" charset="-122"/>
                <a:cs typeface="Calibri" pitchFamily="34" charset="-120"/>
              </a:rPr>
              <a:t>Implementation steps</a:t>
            </a:r>
            <a:endParaRPr lang="en-US" sz="700" dirty="0">
              <a:solidFill>
                <a:schemeClr val="bg1"/>
              </a:solidFill>
            </a:endParaRPr>
          </a:p>
        </p:txBody>
      </p:sp>
      <p:sp>
        <p:nvSpPr>
          <p:cNvPr id="34" name="Text 32"/>
          <p:cNvSpPr/>
          <p:nvPr/>
        </p:nvSpPr>
        <p:spPr>
          <a:xfrm>
            <a:off x="6016752" y="4809744"/>
            <a:ext cx="1280160" cy="182880"/>
          </a:xfrm>
          <a:prstGeom prst="rect">
            <a:avLst/>
          </a:prstGeom>
          <a:noFill/>
          <a:ln/>
        </p:spPr>
        <p:txBody>
          <a:bodyPr wrap="square" rtlCol="0" anchor="ctr"/>
          <a:lstStyle/>
          <a:p>
            <a:pPr marL="0" indent="0">
              <a:buNone/>
            </a:pPr>
            <a:r>
              <a:rPr lang="en-US" sz="900" b="1" dirty="0">
                <a:solidFill>
                  <a:schemeClr val="bg1"/>
                </a:solidFill>
                <a:latin typeface="Calibri" pitchFamily="34" charset="0"/>
                <a:ea typeface="Calibri" pitchFamily="34" charset="-122"/>
                <a:cs typeface="Calibri" pitchFamily="34" charset="-120"/>
              </a:rPr>
              <a:t>E</a:t>
            </a:r>
            <a:r>
              <a:rPr lang="en-US" sz="900" dirty="0">
                <a:solidFill>
                  <a:schemeClr val="bg1"/>
                </a:solidFill>
                <a:latin typeface="Calibri" pitchFamily="34" charset="0"/>
                <a:ea typeface="Calibri" pitchFamily="34" charset="-122"/>
                <a:cs typeface="Calibri" pitchFamily="34" charset="-120"/>
              </a:rPr>
              <a:t>XECUTE</a:t>
            </a:r>
            <a:endParaRPr lang="en-US" sz="900" dirty="0">
              <a:solidFill>
                <a:schemeClr val="bg1"/>
              </a:solidFill>
            </a:endParaRPr>
          </a:p>
        </p:txBody>
      </p:sp>
      <p:sp>
        <p:nvSpPr>
          <p:cNvPr id="35" name="Text 33"/>
          <p:cNvSpPr/>
          <p:nvPr/>
        </p:nvSpPr>
        <p:spPr>
          <a:xfrm>
            <a:off x="6016752" y="4974336"/>
            <a:ext cx="1371600" cy="146304"/>
          </a:xfrm>
          <a:prstGeom prst="rect">
            <a:avLst/>
          </a:prstGeom>
          <a:noFill/>
          <a:ln/>
        </p:spPr>
        <p:txBody>
          <a:bodyPr wrap="square" rtlCol="0" anchor="ctr"/>
          <a:lstStyle/>
          <a:p>
            <a:pPr marL="0" indent="0">
              <a:buNone/>
            </a:pPr>
            <a:r>
              <a:rPr lang="en-US" sz="700" i="1" dirty="0">
                <a:solidFill>
                  <a:schemeClr val="bg1"/>
                </a:solidFill>
                <a:latin typeface="Calibri" pitchFamily="34" charset="0"/>
                <a:ea typeface="Calibri" pitchFamily="34" charset="-122"/>
                <a:cs typeface="Calibri" pitchFamily="34" charset="-120"/>
              </a:rPr>
              <a:t>Build it</a:t>
            </a:r>
            <a:endParaRPr lang="en-US" sz="700" dirty="0">
              <a:solidFill>
                <a:schemeClr val="bg1"/>
              </a:solidFill>
            </a:endParaRPr>
          </a:p>
        </p:txBody>
      </p:sp>
      <p:sp>
        <p:nvSpPr>
          <p:cNvPr id="36" name="Text 34"/>
          <p:cNvSpPr/>
          <p:nvPr/>
        </p:nvSpPr>
        <p:spPr>
          <a:xfrm>
            <a:off x="7470648" y="4809744"/>
            <a:ext cx="1280160" cy="182880"/>
          </a:xfrm>
          <a:prstGeom prst="rect">
            <a:avLst/>
          </a:prstGeom>
          <a:noFill/>
          <a:ln/>
        </p:spPr>
        <p:txBody>
          <a:bodyPr wrap="square" rtlCol="0" anchor="ctr"/>
          <a:lstStyle/>
          <a:p>
            <a:pPr marL="0" indent="0">
              <a:buNone/>
            </a:pPr>
            <a:r>
              <a:rPr lang="en-US" sz="900" b="1" dirty="0">
                <a:solidFill>
                  <a:schemeClr val="bg1"/>
                </a:solidFill>
                <a:latin typeface="Calibri" pitchFamily="34" charset="0"/>
                <a:ea typeface="Calibri" pitchFamily="34" charset="-122"/>
                <a:cs typeface="Calibri" pitchFamily="34" charset="-120"/>
              </a:rPr>
              <a:t>R</a:t>
            </a:r>
            <a:r>
              <a:rPr lang="en-US" sz="900" dirty="0">
                <a:solidFill>
                  <a:schemeClr val="bg1"/>
                </a:solidFill>
                <a:latin typeface="Calibri" pitchFamily="34" charset="0"/>
                <a:ea typeface="Calibri" pitchFamily="34" charset="-122"/>
                <a:cs typeface="Calibri" pitchFamily="34" charset="-120"/>
              </a:rPr>
              <a:t>EFINE</a:t>
            </a:r>
            <a:endParaRPr lang="en-US" sz="900" dirty="0">
              <a:solidFill>
                <a:schemeClr val="bg1"/>
              </a:solidFill>
            </a:endParaRPr>
          </a:p>
        </p:txBody>
      </p:sp>
      <p:sp>
        <p:nvSpPr>
          <p:cNvPr id="37" name="Text 35"/>
          <p:cNvSpPr/>
          <p:nvPr/>
        </p:nvSpPr>
        <p:spPr>
          <a:xfrm>
            <a:off x="7470648" y="4974336"/>
            <a:ext cx="1371600" cy="146304"/>
          </a:xfrm>
          <a:prstGeom prst="rect">
            <a:avLst/>
          </a:prstGeom>
          <a:noFill/>
          <a:ln/>
        </p:spPr>
        <p:txBody>
          <a:bodyPr wrap="square" rtlCol="0" anchor="ctr"/>
          <a:lstStyle/>
          <a:p>
            <a:pPr marL="0" indent="0">
              <a:buNone/>
            </a:pPr>
            <a:r>
              <a:rPr lang="en-US" sz="700" i="1" dirty="0">
                <a:solidFill>
                  <a:schemeClr val="bg1"/>
                </a:solidFill>
                <a:latin typeface="Calibri" pitchFamily="34" charset="0"/>
                <a:ea typeface="Calibri" pitchFamily="34" charset="-122"/>
                <a:cs typeface="Calibri" pitchFamily="34" charset="-120"/>
              </a:rPr>
              <a:t>Improve and repeat</a:t>
            </a:r>
            <a:endParaRPr lang="en-US" sz="700"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A7A9E"/>
          </a:solidFill>
          <a:ln w="12700">
            <a:solidFill>
              <a:srgbClr val="1A7A9E"/>
            </a:solidFill>
            <a:prstDash val="solid"/>
          </a:ln>
        </p:spPr>
      </p:sp>
      <p:sp>
        <p:nvSpPr>
          <p:cNvPr id="3" name="Text 1"/>
          <p:cNvSpPr/>
          <p:nvPr/>
        </p:nvSpPr>
        <p:spPr>
          <a:xfrm>
            <a:off x="347472" y="621792"/>
            <a:ext cx="8412480" cy="594360"/>
          </a:xfrm>
          <a:prstGeom prst="rect">
            <a:avLst/>
          </a:prstGeom>
          <a:noFill/>
          <a:ln/>
        </p:spPr>
        <p:txBody>
          <a:bodyPr wrap="square" rtlCol="0" anchor="ctr"/>
          <a:lstStyle/>
          <a:p>
            <a:pPr marL="0" indent="0">
              <a:buNone/>
            </a:pPr>
            <a:r>
              <a:rPr lang="en-US" sz="3400" b="1" dirty="0">
                <a:solidFill>
                  <a:srgbClr val="FFFFFF"/>
                </a:solidFill>
                <a:latin typeface="Arial Black" pitchFamily="34" charset="0"/>
                <a:ea typeface="Arial Black" pitchFamily="34" charset="-122"/>
                <a:cs typeface="Arial Black" pitchFamily="34" charset="-120"/>
              </a:rPr>
              <a:t>MEET SARAH.</a:t>
            </a:r>
            <a:endParaRPr lang="en-US" sz="3400" dirty="0"/>
          </a:p>
        </p:txBody>
      </p:sp>
      <p:sp>
        <p:nvSpPr>
          <p:cNvPr id="4" name="Shape 2"/>
          <p:cNvSpPr/>
          <p:nvPr/>
        </p:nvSpPr>
        <p:spPr>
          <a:xfrm>
            <a:off x="347472" y="1389888"/>
            <a:ext cx="8412480" cy="3456432"/>
          </a:xfrm>
          <a:prstGeom prst="rect">
            <a:avLst/>
          </a:prstGeom>
          <a:solidFill>
            <a:srgbClr val="1E2D3D"/>
          </a:solidFill>
          <a:ln/>
          <a:effectLst>
            <a:outerShdw blurRad="76200" dist="25400" dir="8100000" algn="bl" rotWithShape="0">
              <a:srgbClr val="000000">
                <a:alpha val="15000"/>
              </a:srgbClr>
            </a:outerShdw>
          </a:effectLst>
        </p:spPr>
      </p:sp>
      <p:sp>
        <p:nvSpPr>
          <p:cNvPr id="5" name="Shape 3"/>
          <p:cNvSpPr/>
          <p:nvPr/>
        </p:nvSpPr>
        <p:spPr>
          <a:xfrm>
            <a:off x="347472" y="1389888"/>
            <a:ext cx="64008" cy="3456432"/>
          </a:xfrm>
          <a:prstGeom prst="rect">
            <a:avLst/>
          </a:prstGeom>
          <a:solidFill>
            <a:srgbClr val="1A7A9E"/>
          </a:solidFill>
          <a:ln/>
        </p:spPr>
      </p:sp>
      <p:sp>
        <p:nvSpPr>
          <p:cNvPr id="6" name="Text 4"/>
          <p:cNvSpPr/>
          <p:nvPr/>
        </p:nvSpPr>
        <p:spPr>
          <a:xfrm>
            <a:off x="594360" y="1517904"/>
            <a:ext cx="1371600" cy="658368"/>
          </a:xfrm>
          <a:prstGeom prst="rect">
            <a:avLst/>
          </a:prstGeom>
          <a:noFill/>
          <a:ln/>
        </p:spPr>
        <p:txBody>
          <a:bodyPr wrap="square" rtlCol="0" anchor="t"/>
          <a:lstStyle/>
          <a:p>
            <a:pPr marL="0" indent="0">
              <a:buNone/>
            </a:pPr>
            <a:r>
              <a:rPr lang="en-US" sz="1100" b="1" dirty="0">
                <a:solidFill>
                  <a:srgbClr val="1A7A9E"/>
                </a:solidFill>
                <a:latin typeface="Calibri" pitchFamily="34" charset="0"/>
                <a:ea typeface="Calibri" pitchFamily="34" charset="-122"/>
                <a:cs typeface="Calibri" pitchFamily="34" charset="-120"/>
              </a:rPr>
              <a:t>Her role:</a:t>
            </a:r>
            <a:endParaRPr lang="en-US" sz="1100" dirty="0"/>
          </a:p>
        </p:txBody>
      </p:sp>
      <p:sp>
        <p:nvSpPr>
          <p:cNvPr id="7" name="Text 5"/>
          <p:cNvSpPr/>
          <p:nvPr/>
        </p:nvSpPr>
        <p:spPr>
          <a:xfrm>
            <a:off x="2011680" y="1517904"/>
            <a:ext cx="6492240" cy="658368"/>
          </a:xfrm>
          <a:prstGeom prst="rect">
            <a:avLst/>
          </a:prstGeom>
          <a:noFill/>
          <a:ln/>
        </p:spPr>
        <p:txBody>
          <a:bodyPr wrap="square" rtlCol="0" anchor="t"/>
          <a:lstStyle/>
          <a:p>
            <a:pPr marL="0" indent="0">
              <a:buNone/>
            </a:pPr>
            <a:r>
              <a:rPr lang="en-US" sz="1200" dirty="0">
                <a:solidFill>
                  <a:srgbClr val="CBD5E0"/>
                </a:solidFill>
                <a:latin typeface="Calibri" pitchFamily="34" charset="0"/>
                <a:ea typeface="Calibri" pitchFamily="34" charset="-122"/>
                <a:cs typeface="Calibri" pitchFamily="34" charset="-120"/>
              </a:rPr>
              <a:t>Office manager. Trades business. 25 staff, subcontractors rotating in and out.</a:t>
            </a:r>
            <a:endParaRPr lang="en-US" sz="1200" dirty="0"/>
          </a:p>
        </p:txBody>
      </p:sp>
      <p:sp>
        <p:nvSpPr>
          <p:cNvPr id="8" name="Text 6"/>
          <p:cNvSpPr/>
          <p:nvPr/>
        </p:nvSpPr>
        <p:spPr>
          <a:xfrm>
            <a:off x="594360" y="2286000"/>
            <a:ext cx="1371600" cy="658368"/>
          </a:xfrm>
          <a:prstGeom prst="rect">
            <a:avLst/>
          </a:prstGeom>
          <a:noFill/>
          <a:ln/>
        </p:spPr>
        <p:txBody>
          <a:bodyPr wrap="square" rtlCol="0" anchor="t"/>
          <a:lstStyle/>
          <a:p>
            <a:pPr marL="0" indent="0">
              <a:buNone/>
            </a:pPr>
            <a:r>
              <a:rPr lang="en-US" sz="1100" b="1" dirty="0">
                <a:solidFill>
                  <a:srgbClr val="1A7A9E"/>
                </a:solidFill>
                <a:latin typeface="Calibri" pitchFamily="34" charset="0"/>
                <a:ea typeface="Calibri" pitchFamily="34" charset="-122"/>
                <a:cs typeface="Calibri" pitchFamily="34" charset="-120"/>
              </a:rPr>
              <a:t>Her problem:</a:t>
            </a:r>
            <a:endParaRPr lang="en-US" sz="1100" dirty="0"/>
          </a:p>
        </p:txBody>
      </p:sp>
      <p:sp>
        <p:nvSpPr>
          <p:cNvPr id="9" name="Text 7"/>
          <p:cNvSpPr/>
          <p:nvPr/>
        </p:nvSpPr>
        <p:spPr>
          <a:xfrm>
            <a:off x="2011680" y="2286000"/>
            <a:ext cx="6492240" cy="658368"/>
          </a:xfrm>
          <a:prstGeom prst="rect">
            <a:avLst/>
          </a:prstGeom>
          <a:noFill/>
          <a:ln/>
        </p:spPr>
        <p:txBody>
          <a:bodyPr wrap="square" rtlCol="0" anchor="t"/>
          <a:lstStyle/>
          <a:p>
            <a:pPr marL="0" indent="0">
              <a:buNone/>
            </a:pPr>
            <a:r>
              <a:rPr lang="en-US" sz="1200" dirty="0">
                <a:solidFill>
                  <a:srgbClr val="CBD5E0"/>
                </a:solidFill>
                <a:latin typeface="Calibri" pitchFamily="34" charset="0"/>
                <a:ea typeface="Calibri" pitchFamily="34" charset="-122"/>
                <a:cs typeface="Calibri" pitchFamily="34" charset="-120"/>
              </a:rPr>
              <a:t>Compliance. Certificates expiring. Inductions not logged. The same spreadsheet nobody trusts.</a:t>
            </a:r>
            <a:endParaRPr lang="en-US" sz="1200" dirty="0"/>
          </a:p>
        </p:txBody>
      </p:sp>
      <p:sp>
        <p:nvSpPr>
          <p:cNvPr id="10" name="Text 8"/>
          <p:cNvSpPr/>
          <p:nvPr/>
        </p:nvSpPr>
        <p:spPr>
          <a:xfrm>
            <a:off x="594360" y="3054096"/>
            <a:ext cx="1371600" cy="658368"/>
          </a:xfrm>
          <a:prstGeom prst="rect">
            <a:avLst/>
          </a:prstGeom>
          <a:noFill/>
          <a:ln/>
        </p:spPr>
        <p:txBody>
          <a:bodyPr wrap="square" rtlCol="0" anchor="t"/>
          <a:lstStyle/>
          <a:p>
            <a:pPr marL="0" indent="0">
              <a:buNone/>
            </a:pPr>
            <a:r>
              <a:rPr lang="en-US" sz="1100" b="1" dirty="0">
                <a:solidFill>
                  <a:srgbClr val="1A7A9E"/>
                </a:solidFill>
                <a:latin typeface="Calibri" pitchFamily="34" charset="0"/>
                <a:ea typeface="Calibri" pitchFamily="34" charset="-122"/>
                <a:cs typeface="Calibri" pitchFamily="34" charset="-120"/>
              </a:rPr>
              <a:t>Her week:</a:t>
            </a:r>
            <a:endParaRPr lang="en-US" sz="1100" dirty="0"/>
          </a:p>
        </p:txBody>
      </p:sp>
      <p:sp>
        <p:nvSpPr>
          <p:cNvPr id="11" name="Text 9"/>
          <p:cNvSpPr/>
          <p:nvPr/>
        </p:nvSpPr>
        <p:spPr>
          <a:xfrm>
            <a:off x="2011680" y="3054096"/>
            <a:ext cx="6492240" cy="658368"/>
          </a:xfrm>
          <a:prstGeom prst="rect">
            <a:avLst/>
          </a:prstGeom>
          <a:noFill/>
          <a:ln/>
        </p:spPr>
        <p:txBody>
          <a:bodyPr wrap="square" rtlCol="0" anchor="t"/>
          <a:lstStyle/>
          <a:p>
            <a:pPr marL="0" indent="0">
              <a:buNone/>
            </a:pPr>
            <a:r>
              <a:rPr lang="en-US" sz="1200" dirty="0">
                <a:solidFill>
                  <a:srgbClr val="CBD5E0"/>
                </a:solidFill>
                <a:latin typeface="Calibri" pitchFamily="34" charset="0"/>
                <a:ea typeface="Calibri" pitchFamily="34" charset="-122"/>
                <a:cs typeface="Calibri" pitchFamily="34" charset="-120"/>
              </a:rPr>
              <a:t>Every Monday morning — two hours — before she's started anything else. Three years running.</a:t>
            </a:r>
            <a:endParaRPr lang="en-US" sz="1200" dirty="0"/>
          </a:p>
        </p:txBody>
      </p:sp>
      <p:sp>
        <p:nvSpPr>
          <p:cNvPr id="12" name="Text 10"/>
          <p:cNvSpPr/>
          <p:nvPr/>
        </p:nvSpPr>
        <p:spPr>
          <a:xfrm>
            <a:off x="594360" y="3822192"/>
            <a:ext cx="1371600" cy="658368"/>
          </a:xfrm>
          <a:prstGeom prst="rect">
            <a:avLst/>
          </a:prstGeom>
          <a:noFill/>
          <a:ln/>
        </p:spPr>
        <p:txBody>
          <a:bodyPr wrap="square" rtlCol="0" anchor="t"/>
          <a:lstStyle/>
          <a:p>
            <a:pPr marL="0" indent="0">
              <a:buNone/>
            </a:pPr>
            <a:r>
              <a:rPr lang="en-US" sz="1100" b="1" dirty="0">
                <a:solidFill>
                  <a:srgbClr val="1A7A9E"/>
                </a:solidFill>
                <a:latin typeface="Calibri" pitchFamily="34" charset="0"/>
                <a:ea typeface="Calibri" pitchFamily="34" charset="-122"/>
                <a:cs typeface="Calibri" pitchFamily="34" charset="-120"/>
              </a:rPr>
              <a:t>Her attempts:</a:t>
            </a:r>
            <a:endParaRPr lang="en-US" sz="1100" dirty="0"/>
          </a:p>
        </p:txBody>
      </p:sp>
      <p:sp>
        <p:nvSpPr>
          <p:cNvPr id="13" name="Text 11"/>
          <p:cNvSpPr/>
          <p:nvPr/>
        </p:nvSpPr>
        <p:spPr>
          <a:xfrm>
            <a:off x="2011680" y="3822192"/>
            <a:ext cx="6492240" cy="658368"/>
          </a:xfrm>
          <a:prstGeom prst="rect">
            <a:avLst/>
          </a:prstGeom>
          <a:noFill/>
          <a:ln/>
        </p:spPr>
        <p:txBody>
          <a:bodyPr wrap="square" rtlCol="0" anchor="t"/>
          <a:lstStyle/>
          <a:p>
            <a:pPr marL="0" indent="0">
              <a:buNone/>
            </a:pPr>
            <a:r>
              <a:rPr lang="en-US" sz="1200" dirty="0">
                <a:solidFill>
                  <a:srgbClr val="CBD5E0"/>
                </a:solidFill>
                <a:latin typeface="Calibri" pitchFamily="34" charset="0"/>
                <a:ea typeface="Calibri" pitchFamily="34" charset="-122"/>
                <a:cs typeface="Calibri" pitchFamily="34" charset="-120"/>
              </a:rPr>
              <a:t>Sarah tried to fix it twice. Both times it got complicated. Both times she went back to the spreadsheet.</a:t>
            </a:r>
            <a:endParaRPr lang="en-US" sz="1200" dirty="0"/>
          </a:p>
        </p:txBody>
      </p:sp>
      <p:sp>
        <p:nvSpPr>
          <p:cNvPr id="14" name="Shape 12"/>
          <p:cNvSpPr/>
          <p:nvPr/>
        </p:nvSpPr>
        <p:spPr>
          <a:xfrm>
            <a:off x="347472" y="4828032"/>
            <a:ext cx="8412480" cy="320040"/>
          </a:xfrm>
          <a:prstGeom prst="rect">
            <a:avLst/>
          </a:prstGeom>
          <a:solidFill>
            <a:srgbClr val="1E2D3D"/>
          </a:solidFill>
          <a:ln/>
        </p:spPr>
      </p:sp>
      <p:sp>
        <p:nvSpPr>
          <p:cNvPr id="15" name="Text 13"/>
          <p:cNvSpPr/>
          <p:nvPr/>
        </p:nvSpPr>
        <p:spPr>
          <a:xfrm>
            <a:off x="347472" y="4828032"/>
            <a:ext cx="8412480" cy="320040"/>
          </a:xfrm>
          <a:prstGeom prst="rect">
            <a:avLst/>
          </a:prstGeom>
          <a:noFill/>
          <a:ln/>
        </p:spPr>
        <p:txBody>
          <a:bodyPr wrap="square" rtlCol="0" anchor="ctr"/>
          <a:lstStyle/>
          <a:p>
            <a:pPr marL="0" indent="0" algn="ctr">
              <a:buNone/>
            </a:pPr>
            <a:r>
              <a:rPr lang="en-US" sz="1100" i="1" dirty="0">
                <a:solidFill>
                  <a:srgbClr val="1A7A9E"/>
                </a:solidFill>
              </a:rPr>
              <a:t>We're going to watch the entire system work — on her problem.</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EFE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4641A"/>
          </a:solidFill>
          <a:ln w="12700">
            <a:solidFill>
              <a:srgbClr val="D4641A"/>
            </a:solidFill>
            <a:prstDash val="solid"/>
          </a:ln>
        </p:spPr>
      </p:sp>
      <p:sp>
        <p:nvSpPr>
          <p:cNvPr id="3" name="Text 1"/>
          <p:cNvSpPr/>
          <p:nvPr/>
        </p:nvSpPr>
        <p:spPr>
          <a:xfrm>
            <a:off x="347472" y="530352"/>
            <a:ext cx="8412480" cy="594360"/>
          </a:xfrm>
          <a:prstGeom prst="rect">
            <a:avLst/>
          </a:prstGeom>
          <a:noFill/>
          <a:ln/>
        </p:spPr>
        <p:txBody>
          <a:bodyPr wrap="square" rtlCol="0" anchor="ctr"/>
          <a:lstStyle/>
          <a:p>
            <a:pPr marL="0" indent="0">
              <a:buNone/>
            </a:pPr>
            <a:r>
              <a:rPr lang="en-US" sz="2600" b="1" dirty="0">
                <a:solidFill>
                  <a:srgbClr val="0D1B2A"/>
                </a:solidFill>
                <a:latin typeface="Arial Black" pitchFamily="34" charset="0"/>
                <a:ea typeface="Arial Black" pitchFamily="34" charset="-122"/>
                <a:cs typeface="Arial Black" pitchFamily="34" charset="-120"/>
              </a:rPr>
              <a:t>PHASE 1: THE 5-LAYER MODEL</a:t>
            </a:r>
            <a:endParaRPr lang="en-US" sz="2600" dirty="0"/>
          </a:p>
        </p:txBody>
      </p:sp>
      <p:sp>
        <p:nvSpPr>
          <p:cNvPr id="4" name="Text 2"/>
          <p:cNvSpPr/>
          <p:nvPr/>
        </p:nvSpPr>
        <p:spPr>
          <a:xfrm>
            <a:off x="347472" y="1115568"/>
            <a:ext cx="8412480" cy="347472"/>
          </a:xfrm>
          <a:prstGeom prst="rect">
            <a:avLst/>
          </a:prstGeom>
          <a:noFill/>
          <a:ln/>
        </p:spPr>
        <p:txBody>
          <a:bodyPr wrap="square" rtlCol="0" anchor="ctr"/>
          <a:lstStyle/>
          <a:p>
            <a:pPr marL="0" indent="0">
              <a:buNone/>
            </a:pPr>
            <a:r>
              <a:rPr lang="en-US" sz="1150" i="1" dirty="0">
                <a:solidFill>
                  <a:srgbClr val="D4641A"/>
                </a:solidFill>
              </a:rPr>
              <a:t>Map the problem before you jump to solutions — on paper or with AI. The breakthrough always happens at Layer 3.</a:t>
            </a:r>
            <a:endParaRPr lang="en-US" sz="1150" dirty="0"/>
          </a:p>
        </p:txBody>
      </p:sp>
      <p:sp>
        <p:nvSpPr>
          <p:cNvPr id="5" name="Shape 3"/>
          <p:cNvSpPr/>
          <p:nvPr/>
        </p:nvSpPr>
        <p:spPr>
          <a:xfrm>
            <a:off x="347472" y="1947672"/>
            <a:ext cx="365760" cy="365760"/>
          </a:xfrm>
          <a:prstGeom prst="line">
            <a:avLst/>
          </a:prstGeom>
          <a:solidFill>
            <a:srgbClr val="1A7A9E"/>
          </a:solidFill>
          <a:ln/>
        </p:spPr>
      </p:sp>
      <p:sp>
        <p:nvSpPr>
          <p:cNvPr id="6" name="Text 4"/>
          <p:cNvSpPr/>
          <p:nvPr/>
        </p:nvSpPr>
        <p:spPr>
          <a:xfrm>
            <a:off x="347472" y="1713357"/>
            <a:ext cx="365760" cy="365760"/>
          </a:xfrm>
          <a:prstGeom prst="rect">
            <a:avLst/>
          </a:prstGeom>
          <a:noFill/>
          <a:ln/>
        </p:spPr>
        <p:txBody>
          <a:bodyPr wrap="square" rtlCol="0" anchor="ctr"/>
          <a:lstStyle/>
          <a:p>
            <a:pPr marL="0" indent="0" algn="ctr">
              <a:buNone/>
            </a:pPr>
            <a:r>
              <a:rPr lang="en-US" sz="1300" b="1" dirty="0"/>
              <a:t>1</a:t>
            </a:r>
            <a:endParaRPr lang="en-US" sz="1300" dirty="0"/>
          </a:p>
        </p:txBody>
      </p:sp>
      <p:sp>
        <p:nvSpPr>
          <p:cNvPr id="7" name="Shape 5"/>
          <p:cNvSpPr/>
          <p:nvPr/>
        </p:nvSpPr>
        <p:spPr>
          <a:xfrm>
            <a:off x="841248" y="1640205"/>
            <a:ext cx="7863840" cy="512064"/>
          </a:xfrm>
          <a:prstGeom prst="rect">
            <a:avLst/>
          </a:prstGeom>
          <a:solidFill>
            <a:srgbClr val="FFFFFF"/>
          </a:solidFill>
          <a:ln/>
          <a:effectLst>
            <a:outerShdw blurRad="76200" dist="25400" dir="8100000" algn="bl" rotWithShape="0">
              <a:srgbClr val="000000">
                <a:alpha val="15000"/>
              </a:srgbClr>
            </a:outerShdw>
          </a:effectLst>
        </p:spPr>
      </p:sp>
      <p:sp>
        <p:nvSpPr>
          <p:cNvPr id="8" name="Text 6"/>
          <p:cNvSpPr/>
          <p:nvPr/>
        </p:nvSpPr>
        <p:spPr>
          <a:xfrm>
            <a:off x="960120" y="1676781"/>
            <a:ext cx="1645920" cy="438912"/>
          </a:xfrm>
          <a:prstGeom prst="rect">
            <a:avLst/>
          </a:prstGeom>
          <a:noFill/>
          <a:ln/>
        </p:spPr>
        <p:txBody>
          <a:bodyPr wrap="square" rtlCol="0" anchor="ctr"/>
          <a:lstStyle/>
          <a:p>
            <a:pPr marL="0" indent="0">
              <a:buNone/>
            </a:pPr>
            <a:r>
              <a:rPr lang="en-US" sz="1100" b="1" dirty="0">
                <a:solidFill>
                  <a:srgbClr val="1A7A9E"/>
                </a:solidFill>
                <a:latin typeface="Calibri" pitchFamily="34" charset="0"/>
                <a:ea typeface="Calibri" pitchFamily="34" charset="-122"/>
                <a:cs typeface="Calibri" pitchFamily="34" charset="-120"/>
              </a:rPr>
              <a:t>SYMPTOM</a:t>
            </a:r>
            <a:endParaRPr lang="en-US" sz="1100" dirty="0"/>
          </a:p>
        </p:txBody>
      </p:sp>
      <p:sp>
        <p:nvSpPr>
          <p:cNvPr id="9" name="Text 7"/>
          <p:cNvSpPr/>
          <p:nvPr/>
        </p:nvSpPr>
        <p:spPr>
          <a:xfrm>
            <a:off x="2606040" y="1676781"/>
            <a:ext cx="5943600" cy="438912"/>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What you notice and complain about.</a:t>
            </a:r>
            <a:endParaRPr lang="en-US" sz="1100" dirty="0"/>
          </a:p>
        </p:txBody>
      </p:sp>
      <p:sp>
        <p:nvSpPr>
          <p:cNvPr id="10" name="Shape 8"/>
          <p:cNvSpPr/>
          <p:nvPr/>
        </p:nvSpPr>
        <p:spPr>
          <a:xfrm>
            <a:off x="347472" y="2542032"/>
            <a:ext cx="365760" cy="365760"/>
          </a:xfrm>
          <a:prstGeom prst="line">
            <a:avLst/>
          </a:prstGeom>
          <a:solidFill>
            <a:srgbClr val="1A7A9E"/>
          </a:solidFill>
          <a:ln/>
        </p:spPr>
      </p:sp>
      <p:sp>
        <p:nvSpPr>
          <p:cNvPr id="11" name="Text 9"/>
          <p:cNvSpPr/>
          <p:nvPr/>
        </p:nvSpPr>
        <p:spPr>
          <a:xfrm>
            <a:off x="347472" y="2307717"/>
            <a:ext cx="365760" cy="365760"/>
          </a:xfrm>
          <a:prstGeom prst="rect">
            <a:avLst/>
          </a:prstGeom>
          <a:noFill/>
          <a:ln/>
        </p:spPr>
        <p:txBody>
          <a:bodyPr wrap="square" rtlCol="0" anchor="ctr"/>
          <a:lstStyle/>
          <a:p>
            <a:pPr marL="0" indent="0" algn="ctr">
              <a:buNone/>
            </a:pPr>
            <a:r>
              <a:rPr lang="en-US" sz="1300" b="1" dirty="0"/>
              <a:t>2</a:t>
            </a:r>
            <a:endParaRPr lang="en-US" sz="1300" dirty="0"/>
          </a:p>
        </p:txBody>
      </p:sp>
      <p:sp>
        <p:nvSpPr>
          <p:cNvPr id="12" name="Shape 10"/>
          <p:cNvSpPr/>
          <p:nvPr/>
        </p:nvSpPr>
        <p:spPr>
          <a:xfrm>
            <a:off x="841248" y="2234565"/>
            <a:ext cx="7863840" cy="512064"/>
          </a:xfrm>
          <a:prstGeom prst="rect">
            <a:avLst/>
          </a:prstGeom>
          <a:solidFill>
            <a:srgbClr val="FFFFFF"/>
          </a:solidFill>
          <a:ln/>
          <a:effectLst>
            <a:outerShdw blurRad="76200" dist="25400" dir="8100000" algn="bl" rotWithShape="0">
              <a:srgbClr val="000000">
                <a:alpha val="15000"/>
              </a:srgbClr>
            </a:outerShdw>
          </a:effectLst>
        </p:spPr>
      </p:sp>
      <p:sp>
        <p:nvSpPr>
          <p:cNvPr id="13" name="Text 11"/>
          <p:cNvSpPr/>
          <p:nvPr/>
        </p:nvSpPr>
        <p:spPr>
          <a:xfrm>
            <a:off x="960120" y="2271141"/>
            <a:ext cx="1645920" cy="438912"/>
          </a:xfrm>
          <a:prstGeom prst="rect">
            <a:avLst/>
          </a:prstGeom>
          <a:noFill/>
          <a:ln/>
        </p:spPr>
        <p:txBody>
          <a:bodyPr wrap="square" rtlCol="0" anchor="ctr"/>
          <a:lstStyle/>
          <a:p>
            <a:pPr marL="0" indent="0">
              <a:buNone/>
            </a:pPr>
            <a:r>
              <a:rPr lang="en-US" sz="1100" b="1" dirty="0">
                <a:solidFill>
                  <a:srgbClr val="1A7A9E"/>
                </a:solidFill>
                <a:latin typeface="Calibri" pitchFamily="34" charset="0"/>
                <a:ea typeface="Calibri" pitchFamily="34" charset="-122"/>
                <a:cs typeface="Calibri" pitchFamily="34" charset="-120"/>
              </a:rPr>
              <a:t>PROCESS</a:t>
            </a:r>
            <a:endParaRPr lang="en-US" sz="1100" dirty="0"/>
          </a:p>
        </p:txBody>
      </p:sp>
      <p:sp>
        <p:nvSpPr>
          <p:cNvPr id="14" name="Text 12"/>
          <p:cNvSpPr/>
          <p:nvPr/>
        </p:nvSpPr>
        <p:spPr>
          <a:xfrm>
            <a:off x="2606040" y="2271141"/>
            <a:ext cx="5943600" cy="438912"/>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What's happening step by step.</a:t>
            </a:r>
            <a:endParaRPr lang="en-US" sz="1100" dirty="0"/>
          </a:p>
        </p:txBody>
      </p:sp>
      <p:sp>
        <p:nvSpPr>
          <p:cNvPr id="15" name="Shape 13"/>
          <p:cNvSpPr/>
          <p:nvPr/>
        </p:nvSpPr>
        <p:spPr>
          <a:xfrm>
            <a:off x="347472" y="3136392"/>
            <a:ext cx="365760" cy="365760"/>
          </a:xfrm>
          <a:prstGeom prst="line">
            <a:avLst/>
          </a:prstGeom>
          <a:solidFill>
            <a:srgbClr val="D4641A"/>
          </a:solidFill>
          <a:ln/>
        </p:spPr>
      </p:sp>
      <p:sp>
        <p:nvSpPr>
          <p:cNvPr id="16" name="Text 14"/>
          <p:cNvSpPr/>
          <p:nvPr/>
        </p:nvSpPr>
        <p:spPr>
          <a:xfrm>
            <a:off x="347472" y="2902077"/>
            <a:ext cx="365760" cy="365760"/>
          </a:xfrm>
          <a:prstGeom prst="rect">
            <a:avLst/>
          </a:prstGeom>
          <a:noFill/>
          <a:ln/>
        </p:spPr>
        <p:txBody>
          <a:bodyPr wrap="square" rtlCol="0" anchor="ctr"/>
          <a:lstStyle/>
          <a:p>
            <a:pPr marL="0" indent="0" algn="ctr">
              <a:buNone/>
            </a:pPr>
            <a:r>
              <a:rPr lang="en-US" sz="1300" b="1" dirty="0"/>
              <a:t>3</a:t>
            </a:r>
            <a:endParaRPr lang="en-US" sz="1300" dirty="0"/>
          </a:p>
        </p:txBody>
      </p:sp>
      <p:sp>
        <p:nvSpPr>
          <p:cNvPr id="17" name="Shape 15"/>
          <p:cNvSpPr/>
          <p:nvPr/>
        </p:nvSpPr>
        <p:spPr>
          <a:xfrm>
            <a:off x="841248" y="2828925"/>
            <a:ext cx="7863840" cy="512064"/>
          </a:xfrm>
          <a:prstGeom prst="rect">
            <a:avLst/>
          </a:prstGeom>
          <a:solidFill>
            <a:srgbClr val="FFFFFF"/>
          </a:solidFill>
          <a:ln/>
          <a:effectLst>
            <a:outerShdw blurRad="76200" dist="25400" dir="8100000" algn="bl" rotWithShape="0">
              <a:srgbClr val="000000">
                <a:alpha val="15000"/>
              </a:srgbClr>
            </a:outerShdw>
          </a:effectLst>
        </p:spPr>
      </p:sp>
      <p:sp>
        <p:nvSpPr>
          <p:cNvPr id="18" name="Text 16"/>
          <p:cNvSpPr/>
          <p:nvPr/>
        </p:nvSpPr>
        <p:spPr>
          <a:xfrm>
            <a:off x="960120" y="2865501"/>
            <a:ext cx="1645920" cy="438912"/>
          </a:xfrm>
          <a:prstGeom prst="rect">
            <a:avLst/>
          </a:prstGeom>
          <a:noFill/>
          <a:ln/>
        </p:spPr>
        <p:txBody>
          <a:bodyPr wrap="square" rtlCol="0" anchor="ctr"/>
          <a:lstStyle/>
          <a:p>
            <a:pPr marL="0" indent="0">
              <a:buNone/>
            </a:pPr>
            <a:r>
              <a:rPr lang="en-US" sz="1100" b="1" dirty="0">
                <a:solidFill>
                  <a:srgbClr val="D4641A"/>
                </a:solidFill>
                <a:latin typeface="Calibri" pitchFamily="34" charset="0"/>
                <a:ea typeface="Calibri" pitchFamily="34" charset="-122"/>
                <a:cs typeface="Calibri" pitchFamily="34" charset="-120"/>
              </a:rPr>
              <a:t>CONSTRAINT</a:t>
            </a:r>
            <a:endParaRPr lang="en-US" sz="1100" dirty="0"/>
          </a:p>
        </p:txBody>
      </p:sp>
      <p:sp>
        <p:nvSpPr>
          <p:cNvPr id="19" name="Text 17"/>
          <p:cNvSpPr/>
          <p:nvPr/>
        </p:nvSpPr>
        <p:spPr>
          <a:xfrm>
            <a:off x="2606040" y="2865501"/>
            <a:ext cx="5943600" cy="438912"/>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Where it breaks down — and why.</a:t>
            </a:r>
            <a:endParaRPr lang="en-US" sz="1100" dirty="0"/>
          </a:p>
        </p:txBody>
      </p:sp>
      <p:sp>
        <p:nvSpPr>
          <p:cNvPr id="20" name="Shape 18"/>
          <p:cNvSpPr/>
          <p:nvPr/>
        </p:nvSpPr>
        <p:spPr>
          <a:xfrm>
            <a:off x="347472" y="3730752"/>
            <a:ext cx="365760" cy="365760"/>
          </a:xfrm>
          <a:prstGeom prst="line">
            <a:avLst/>
          </a:prstGeom>
          <a:solidFill>
            <a:srgbClr val="D4641A"/>
          </a:solidFill>
          <a:ln/>
        </p:spPr>
      </p:sp>
      <p:sp>
        <p:nvSpPr>
          <p:cNvPr id="21" name="Text 19"/>
          <p:cNvSpPr/>
          <p:nvPr/>
        </p:nvSpPr>
        <p:spPr>
          <a:xfrm>
            <a:off x="347472" y="3496437"/>
            <a:ext cx="365760" cy="365760"/>
          </a:xfrm>
          <a:prstGeom prst="rect">
            <a:avLst/>
          </a:prstGeom>
          <a:noFill/>
          <a:ln/>
        </p:spPr>
        <p:txBody>
          <a:bodyPr wrap="square" rtlCol="0" anchor="ctr"/>
          <a:lstStyle/>
          <a:p>
            <a:pPr marL="0" indent="0" algn="ctr">
              <a:buNone/>
            </a:pPr>
            <a:r>
              <a:rPr lang="en-US" sz="1300" b="1" dirty="0"/>
              <a:t>4</a:t>
            </a:r>
            <a:endParaRPr lang="en-US" sz="1300" dirty="0"/>
          </a:p>
        </p:txBody>
      </p:sp>
      <p:sp>
        <p:nvSpPr>
          <p:cNvPr id="22" name="Shape 20"/>
          <p:cNvSpPr/>
          <p:nvPr/>
        </p:nvSpPr>
        <p:spPr>
          <a:xfrm>
            <a:off x="841248" y="3423285"/>
            <a:ext cx="7863840" cy="512064"/>
          </a:xfrm>
          <a:prstGeom prst="rect">
            <a:avLst/>
          </a:prstGeom>
          <a:solidFill>
            <a:srgbClr val="FFFFFF"/>
          </a:solidFill>
          <a:ln/>
          <a:effectLst>
            <a:outerShdw blurRad="76200" dist="25400" dir="8100000" algn="bl" rotWithShape="0">
              <a:srgbClr val="000000">
                <a:alpha val="15000"/>
              </a:srgbClr>
            </a:outerShdw>
          </a:effectLst>
        </p:spPr>
      </p:sp>
      <p:sp>
        <p:nvSpPr>
          <p:cNvPr id="23" name="Text 21"/>
          <p:cNvSpPr/>
          <p:nvPr/>
        </p:nvSpPr>
        <p:spPr>
          <a:xfrm>
            <a:off x="960120" y="3459861"/>
            <a:ext cx="1645920" cy="438912"/>
          </a:xfrm>
          <a:prstGeom prst="rect">
            <a:avLst/>
          </a:prstGeom>
          <a:noFill/>
          <a:ln/>
        </p:spPr>
        <p:txBody>
          <a:bodyPr wrap="square" rtlCol="0" anchor="ctr"/>
          <a:lstStyle/>
          <a:p>
            <a:pPr marL="0" indent="0">
              <a:buNone/>
            </a:pPr>
            <a:r>
              <a:rPr lang="en-US" sz="1100" b="1" dirty="0">
                <a:solidFill>
                  <a:srgbClr val="D4641A"/>
                </a:solidFill>
                <a:latin typeface="Calibri" pitchFamily="34" charset="0"/>
                <a:ea typeface="Calibri" pitchFamily="34" charset="-122"/>
                <a:cs typeface="Calibri" pitchFamily="34" charset="-120"/>
              </a:rPr>
              <a:t>COST</a:t>
            </a:r>
            <a:endParaRPr lang="en-US" sz="1100" dirty="0"/>
          </a:p>
        </p:txBody>
      </p:sp>
      <p:sp>
        <p:nvSpPr>
          <p:cNvPr id="24" name="Text 22"/>
          <p:cNvSpPr/>
          <p:nvPr/>
        </p:nvSpPr>
        <p:spPr>
          <a:xfrm>
            <a:off x="2606040" y="3459861"/>
            <a:ext cx="5943600" cy="438912"/>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Time, money, or risk of not solving it.</a:t>
            </a:r>
            <a:endParaRPr lang="en-US" sz="1100" dirty="0"/>
          </a:p>
        </p:txBody>
      </p:sp>
      <p:sp>
        <p:nvSpPr>
          <p:cNvPr id="25" name="Shape 23"/>
          <p:cNvSpPr/>
          <p:nvPr/>
        </p:nvSpPr>
        <p:spPr>
          <a:xfrm>
            <a:off x="347472" y="4325112"/>
            <a:ext cx="365760" cy="365760"/>
          </a:xfrm>
          <a:prstGeom prst="line">
            <a:avLst/>
          </a:prstGeom>
          <a:solidFill>
            <a:srgbClr val="0D1B2A"/>
          </a:solidFill>
          <a:ln/>
        </p:spPr>
      </p:sp>
      <p:sp>
        <p:nvSpPr>
          <p:cNvPr id="26" name="Text 24"/>
          <p:cNvSpPr/>
          <p:nvPr/>
        </p:nvSpPr>
        <p:spPr>
          <a:xfrm>
            <a:off x="347472" y="4090797"/>
            <a:ext cx="365760" cy="365760"/>
          </a:xfrm>
          <a:prstGeom prst="rect">
            <a:avLst/>
          </a:prstGeom>
          <a:noFill/>
          <a:ln/>
        </p:spPr>
        <p:txBody>
          <a:bodyPr wrap="square" rtlCol="0" anchor="ctr"/>
          <a:lstStyle/>
          <a:p>
            <a:pPr marL="0" indent="0" algn="ctr">
              <a:buNone/>
            </a:pPr>
            <a:r>
              <a:rPr lang="en-US" sz="1300" b="1" dirty="0"/>
              <a:t>5</a:t>
            </a:r>
            <a:endParaRPr lang="en-US" sz="1300" dirty="0"/>
          </a:p>
        </p:txBody>
      </p:sp>
      <p:sp>
        <p:nvSpPr>
          <p:cNvPr id="27" name="Shape 25"/>
          <p:cNvSpPr/>
          <p:nvPr/>
        </p:nvSpPr>
        <p:spPr>
          <a:xfrm>
            <a:off x="841248" y="4017645"/>
            <a:ext cx="7863840" cy="512064"/>
          </a:xfrm>
          <a:prstGeom prst="rect">
            <a:avLst/>
          </a:prstGeom>
          <a:solidFill>
            <a:srgbClr val="FFFFFF"/>
          </a:solidFill>
          <a:ln/>
          <a:effectLst>
            <a:outerShdw blurRad="76200" dist="25400" dir="8100000" algn="bl" rotWithShape="0">
              <a:srgbClr val="000000">
                <a:alpha val="15000"/>
              </a:srgbClr>
            </a:outerShdw>
          </a:effectLst>
        </p:spPr>
      </p:sp>
      <p:sp>
        <p:nvSpPr>
          <p:cNvPr id="28" name="Text 26"/>
          <p:cNvSpPr/>
          <p:nvPr/>
        </p:nvSpPr>
        <p:spPr>
          <a:xfrm>
            <a:off x="960120" y="4054221"/>
            <a:ext cx="1645920" cy="438912"/>
          </a:xfrm>
          <a:prstGeom prst="rect">
            <a:avLst/>
          </a:prstGeom>
          <a:noFill/>
          <a:ln/>
        </p:spPr>
        <p:txBody>
          <a:bodyPr wrap="square" rtlCol="0" anchor="ctr"/>
          <a:lstStyle/>
          <a:p>
            <a:pPr marL="0" indent="0">
              <a:buNone/>
            </a:pPr>
            <a:r>
              <a:rPr lang="en-US" sz="1100" b="1" dirty="0">
                <a:solidFill>
                  <a:srgbClr val="0D1B2A"/>
                </a:solidFill>
                <a:latin typeface="Calibri" pitchFamily="34" charset="0"/>
                <a:ea typeface="Calibri" pitchFamily="34" charset="-122"/>
                <a:cs typeface="Calibri" pitchFamily="34" charset="-120"/>
              </a:rPr>
              <a:t>OWNER</a:t>
            </a:r>
            <a:endParaRPr lang="en-US" sz="1100" dirty="0"/>
          </a:p>
        </p:txBody>
      </p:sp>
      <p:sp>
        <p:nvSpPr>
          <p:cNvPr id="29" name="Text 27"/>
          <p:cNvSpPr/>
          <p:nvPr/>
        </p:nvSpPr>
        <p:spPr>
          <a:xfrm>
            <a:off x="2606040" y="4054221"/>
            <a:ext cx="5943600" cy="438912"/>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Who has the problem and why it hasn't been solved.</a:t>
            </a:r>
            <a:endParaRPr lang="en-US" sz="1100" dirty="0"/>
          </a:p>
        </p:txBody>
      </p:sp>
      <p:sp>
        <p:nvSpPr>
          <p:cNvPr id="30" name="Shape 28"/>
          <p:cNvSpPr/>
          <p:nvPr/>
        </p:nvSpPr>
        <p:spPr>
          <a:xfrm>
            <a:off x="347472" y="4828032"/>
            <a:ext cx="8412480" cy="320040"/>
          </a:xfrm>
          <a:prstGeom prst="rect">
            <a:avLst/>
          </a:prstGeom>
          <a:solidFill>
            <a:srgbClr val="FEF3C7"/>
          </a:solidFill>
          <a:ln/>
        </p:spPr>
      </p:sp>
      <p:sp>
        <p:nvSpPr>
          <p:cNvPr id="31" name="Text 29"/>
          <p:cNvSpPr/>
          <p:nvPr/>
        </p:nvSpPr>
        <p:spPr>
          <a:xfrm>
            <a:off x="457200" y="4828032"/>
            <a:ext cx="8229600" cy="320040"/>
          </a:xfrm>
          <a:prstGeom prst="rect">
            <a:avLst/>
          </a:prstGeom>
          <a:noFill/>
          <a:ln/>
        </p:spPr>
        <p:txBody>
          <a:bodyPr wrap="square" rtlCol="0" anchor="ctr"/>
          <a:lstStyle/>
          <a:p>
            <a:pPr marL="0" indent="0">
              <a:buNone/>
            </a:pPr>
            <a:r>
              <a:rPr lang="en-US" sz="1000" i="1" dirty="0">
                <a:solidFill>
                  <a:srgbClr val="0D1B2A"/>
                </a:solidFill>
                <a:latin typeface="Calibri" pitchFamily="34" charset="0"/>
                <a:ea typeface="Calibri" pitchFamily="34" charset="-122"/>
                <a:cs typeface="Calibri" pitchFamily="34" charset="-120"/>
              </a:rPr>
              <a:t>The test: "If this was solved — what would actually change?"  If the answer is vague, you're still at the symptom.</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A7A9E"/>
          </a:solidFill>
          <a:ln w="12700">
            <a:solidFill>
              <a:srgbClr val="1A7A9E"/>
            </a:solidFill>
            <a:prstDash val="solid"/>
          </a:ln>
        </p:spPr>
      </p:sp>
      <p:sp>
        <p:nvSpPr>
          <p:cNvPr id="3" name="Text 1"/>
          <p:cNvSpPr/>
          <p:nvPr/>
        </p:nvSpPr>
        <p:spPr>
          <a:xfrm>
            <a:off x="347472" y="274320"/>
            <a:ext cx="8412480" cy="530352"/>
          </a:xfrm>
          <a:prstGeom prst="rect">
            <a:avLst/>
          </a:prstGeom>
          <a:noFill/>
          <a:ln/>
        </p:spPr>
        <p:txBody>
          <a:bodyPr wrap="square"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THIS IS WHERE YOU START.</a:t>
            </a:r>
            <a:endParaRPr lang="en-US" sz="2800" dirty="0"/>
          </a:p>
        </p:txBody>
      </p:sp>
      <p:sp>
        <p:nvSpPr>
          <p:cNvPr id="4" name="Text 2"/>
          <p:cNvSpPr/>
          <p:nvPr/>
        </p:nvSpPr>
        <p:spPr>
          <a:xfrm>
            <a:off x="347472" y="804672"/>
            <a:ext cx="8412480" cy="274320"/>
          </a:xfrm>
          <a:prstGeom prst="rect">
            <a:avLst/>
          </a:prstGeom>
          <a:noFill/>
          <a:ln/>
        </p:spPr>
        <p:txBody>
          <a:bodyPr wrap="square" rtlCol="0" anchor="ctr"/>
          <a:lstStyle/>
          <a:p>
            <a:pPr marL="0" indent="0">
              <a:buNone/>
            </a:pPr>
            <a:r>
              <a:rPr lang="en-US" sz="1200" i="1" dirty="0">
                <a:solidFill>
                  <a:srgbClr val="AECBDC"/>
                </a:solidFill>
                <a:latin typeface="Calibri" pitchFamily="34" charset="0"/>
                <a:ea typeface="Calibri" pitchFamily="34" charset="-122"/>
                <a:cs typeface="Calibri" pitchFamily="34" charset="-120"/>
              </a:rPr>
              <a:t>This is the prompt Sarah used to begin. Watch how it works — then use it on your own problem at the end.</a:t>
            </a:r>
            <a:endParaRPr lang="en-US" sz="1200" dirty="0"/>
          </a:p>
        </p:txBody>
      </p:sp>
      <p:sp>
        <p:nvSpPr>
          <p:cNvPr id="5" name="Shape 3"/>
          <p:cNvSpPr/>
          <p:nvPr/>
        </p:nvSpPr>
        <p:spPr>
          <a:xfrm>
            <a:off x="347472" y="1143000"/>
            <a:ext cx="8412480" cy="3401568"/>
          </a:xfrm>
          <a:prstGeom prst="rect">
            <a:avLst/>
          </a:prstGeom>
          <a:solidFill>
            <a:srgbClr val="1E2D3D"/>
          </a:solidFill>
          <a:ln w="19050">
            <a:solidFill>
              <a:srgbClr val="1A7A9E"/>
            </a:solidFill>
            <a:prstDash val="solid"/>
          </a:ln>
        </p:spPr>
      </p:sp>
      <p:sp>
        <p:nvSpPr>
          <p:cNvPr id="6" name="Shape 4"/>
          <p:cNvSpPr/>
          <p:nvPr/>
        </p:nvSpPr>
        <p:spPr>
          <a:xfrm>
            <a:off x="347472" y="1143000"/>
            <a:ext cx="8412480" cy="347472"/>
          </a:xfrm>
          <a:prstGeom prst="rect">
            <a:avLst/>
          </a:prstGeom>
          <a:solidFill>
            <a:srgbClr val="1A7A9E"/>
          </a:solidFill>
          <a:ln/>
        </p:spPr>
      </p:sp>
      <p:sp>
        <p:nvSpPr>
          <p:cNvPr id="7" name="Text 5"/>
          <p:cNvSpPr/>
          <p:nvPr/>
        </p:nvSpPr>
        <p:spPr>
          <a:xfrm>
            <a:off x="502920" y="1143000"/>
            <a:ext cx="8229600" cy="347472"/>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MASTER PROMPT  --  copy and paste into AI</a:t>
            </a:r>
            <a:endParaRPr lang="en-US" sz="950" dirty="0"/>
          </a:p>
        </p:txBody>
      </p:sp>
      <p:sp>
        <p:nvSpPr>
          <p:cNvPr id="8" name="Text 6"/>
          <p:cNvSpPr/>
          <p:nvPr/>
        </p:nvSpPr>
        <p:spPr>
          <a:xfrm>
            <a:off x="566928" y="1554480"/>
            <a:ext cx="8092440" cy="2907792"/>
          </a:xfrm>
          <a:prstGeom prst="rect">
            <a:avLst/>
          </a:prstGeom>
          <a:noFill/>
          <a:ln/>
        </p:spPr>
        <p:txBody>
          <a:bodyPr wrap="square" rtlCol="0" anchor="t"/>
          <a:lstStyle/>
          <a:p>
            <a:pPr marL="0" indent="0">
              <a:buNone/>
            </a:pPr>
            <a:r>
              <a:rPr lang="en-US" sz="1020" b="1" dirty="0">
                <a:solidFill>
                  <a:srgbClr val="FFFFFF"/>
                </a:solidFill>
                <a:latin typeface="Courier New" pitchFamily="34" charset="0"/>
                <a:ea typeface="Courier New" pitchFamily="34" charset="-122"/>
                <a:cs typeface="Courier New" pitchFamily="34" charset="-120"/>
              </a:rPr>
              <a:t>I want to unpack a problem in my business. Don't suggest solutions yet.
</a:t>
            </a:r>
            <a:r>
              <a:rPr lang="en-US" sz="1020" dirty="0">
                <a:solidFill>
                  <a:srgbClr val="CBD5E0"/>
                </a:solidFill>
                <a:latin typeface="Courier New" pitchFamily="34" charset="0"/>
                <a:ea typeface="Courier New" pitchFamily="34" charset="-122"/>
                <a:cs typeface="Courier New" pitchFamily="34" charset="-120"/>
              </a:rPr>
              <a:t>Work through these 5 layers with me, one at a time. Ask me ONE question per layer, wait for my answer, then move to the next. After all 5, restate the real problem in 2 sentences I would agree are exactly right.
</a:t>
            </a:r>
            <a:r>
              <a:rPr lang="en-US" sz="1020" b="1" dirty="0">
                <a:solidFill>
                  <a:srgbClr val="1A7A9E"/>
                </a:solidFill>
                <a:latin typeface="Courier New" pitchFamily="34" charset="0"/>
                <a:ea typeface="Courier New" pitchFamily="34" charset="-122"/>
                <a:cs typeface="Courier New" pitchFamily="34" charset="-120"/>
              </a:rPr>
              <a:t>Layer 1 - SYMPTOM:    </a:t>
            </a:r>
            <a:r>
              <a:rPr lang="en-US" sz="1020" dirty="0">
                <a:solidFill>
                  <a:srgbClr val="AECBDC"/>
                </a:solidFill>
                <a:latin typeface="Courier New" pitchFamily="34" charset="0"/>
                <a:ea typeface="Courier New" pitchFamily="34" charset="-122"/>
                <a:cs typeface="Courier New" pitchFamily="34" charset="-120"/>
              </a:rPr>
              <a:t>Ask me what problem I keep running into and who it affects.
</a:t>
            </a:r>
            <a:r>
              <a:rPr lang="en-US" sz="1020" b="1" dirty="0">
                <a:solidFill>
                  <a:srgbClr val="1A7A9E"/>
                </a:solidFill>
                <a:latin typeface="Courier New" pitchFamily="34" charset="0"/>
                <a:ea typeface="Courier New" pitchFamily="34" charset="-122"/>
                <a:cs typeface="Courier New" pitchFamily="34" charset="-120"/>
              </a:rPr>
              <a:t>Layer 2 - PROCESS:    </a:t>
            </a:r>
            <a:r>
              <a:rPr lang="en-US" sz="1020" dirty="0">
                <a:solidFill>
                  <a:srgbClr val="AECBDC"/>
                </a:solidFill>
                <a:latin typeface="Courier New" pitchFamily="34" charset="0"/>
                <a:ea typeface="Courier New" pitchFamily="34" charset="-122"/>
                <a:cs typeface="Courier New" pitchFamily="34" charset="-120"/>
              </a:rPr>
              <a:t>Ask me to describe what actually happens, step by step.
</a:t>
            </a:r>
            <a:r>
              <a:rPr lang="en-US" sz="1020" b="1" dirty="0">
                <a:solidFill>
                  <a:srgbClr val="D4641A"/>
                </a:solidFill>
                <a:latin typeface="Courier New" pitchFamily="34" charset="0"/>
                <a:ea typeface="Courier New" pitchFamily="34" charset="-122"/>
                <a:cs typeface="Courier New" pitchFamily="34" charset="-120"/>
              </a:rPr>
              <a:t>Layer 3 - CONSTRAINT: </a:t>
            </a:r>
            <a:r>
              <a:rPr lang="en-US" sz="1020" dirty="0">
                <a:solidFill>
                  <a:srgbClr val="E8C49A"/>
                </a:solidFill>
                <a:latin typeface="Courier New" pitchFamily="34" charset="0"/>
                <a:ea typeface="Courier New" pitchFamily="34" charset="-122"/>
                <a:cs typeface="Courier New" pitchFamily="34" charset="-120"/>
              </a:rPr>
              <a:t>Ask me where it breaks down and why it keeps happening.
</a:t>
            </a:r>
            <a:r>
              <a:rPr lang="en-US" sz="1020" b="1" dirty="0">
                <a:solidFill>
                  <a:srgbClr val="D4641A"/>
                </a:solidFill>
                <a:latin typeface="Courier New" pitchFamily="34" charset="0"/>
                <a:ea typeface="Courier New" pitchFamily="34" charset="-122"/>
                <a:cs typeface="Courier New" pitchFamily="34" charset="-120"/>
              </a:rPr>
              <a:t>Layer 4 - COST:       </a:t>
            </a:r>
            <a:r>
              <a:rPr lang="en-US" sz="1020" dirty="0">
                <a:solidFill>
                  <a:srgbClr val="E8C49A"/>
                </a:solidFill>
                <a:latin typeface="Courier New" pitchFamily="34" charset="0"/>
                <a:ea typeface="Courier New" pitchFamily="34" charset="-122"/>
                <a:cs typeface="Courier New" pitchFamily="34" charset="-120"/>
              </a:rPr>
              <a:t>Ask me what it costs in time, money or risk -- be specific.
</a:t>
            </a:r>
            <a:r>
              <a:rPr lang="en-US" sz="1020" b="1" dirty="0">
                <a:solidFill>
                  <a:srgbClr val="AECBDC"/>
                </a:solidFill>
                <a:latin typeface="Courier New" pitchFamily="34" charset="0"/>
                <a:ea typeface="Courier New" pitchFamily="34" charset="-122"/>
                <a:cs typeface="Courier New" pitchFamily="34" charset="-120"/>
              </a:rPr>
              <a:t>Layer 5 - OWNER:      </a:t>
            </a:r>
            <a:r>
              <a:rPr lang="en-US" sz="1020" dirty="0">
                <a:solidFill>
                  <a:srgbClr val="AECBDC"/>
                </a:solidFill>
                <a:latin typeface="Courier New" pitchFamily="34" charset="0"/>
                <a:ea typeface="Courier New" pitchFamily="34" charset="-122"/>
                <a:cs typeface="Courier New" pitchFamily="34" charset="-120"/>
              </a:rPr>
              <a:t>Ask me who should own this and why it hasn't been fixed yet.
</a:t>
            </a:r>
            <a:r>
              <a:rPr lang="en-US" sz="1020" b="1" dirty="0">
                <a:solidFill>
                  <a:srgbClr val="FFFFFF"/>
                </a:solidFill>
                <a:latin typeface="Courier New" pitchFamily="34" charset="0"/>
                <a:ea typeface="Courier New" pitchFamily="34" charset="-122"/>
                <a:cs typeface="Courier New" pitchFamily="34" charset="-120"/>
              </a:rPr>
              <a:t>Start with Layer 1 now.</a:t>
            </a:r>
            <a:endParaRPr lang="en-US" sz="1020" dirty="0"/>
          </a:p>
        </p:txBody>
      </p:sp>
      <p:sp>
        <p:nvSpPr>
          <p:cNvPr id="9" name="Shape 7"/>
          <p:cNvSpPr/>
          <p:nvPr/>
        </p:nvSpPr>
        <p:spPr>
          <a:xfrm>
            <a:off x="347472" y="4608576"/>
            <a:ext cx="8412480" cy="530352"/>
          </a:xfrm>
          <a:prstGeom prst="rect">
            <a:avLst/>
          </a:prstGeom>
          <a:solidFill>
            <a:srgbClr val="0F2D45"/>
          </a:solidFill>
          <a:ln/>
        </p:spPr>
      </p:sp>
      <p:sp>
        <p:nvSpPr>
          <p:cNvPr id="10" name="Shape 8"/>
          <p:cNvSpPr/>
          <p:nvPr/>
        </p:nvSpPr>
        <p:spPr>
          <a:xfrm>
            <a:off x="347472" y="4608576"/>
            <a:ext cx="54864" cy="530352"/>
          </a:xfrm>
          <a:prstGeom prst="rect">
            <a:avLst/>
          </a:prstGeom>
          <a:solidFill>
            <a:srgbClr val="1A7A9E"/>
          </a:solidFill>
          <a:ln/>
        </p:spPr>
      </p:sp>
      <p:sp>
        <p:nvSpPr>
          <p:cNvPr id="11" name="Text 9"/>
          <p:cNvSpPr/>
          <p:nvPr/>
        </p:nvSpPr>
        <p:spPr>
          <a:xfrm>
            <a:off x="530352" y="4608576"/>
            <a:ext cx="8229600" cy="530352"/>
          </a:xfrm>
          <a:prstGeom prst="rect">
            <a:avLst/>
          </a:prstGeom>
          <a:noFill/>
          <a:ln/>
        </p:spPr>
        <p:txBody>
          <a:bodyPr wrap="square" rtlCol="0" anchor="ctr"/>
          <a:lstStyle/>
          <a:p>
            <a:pPr marL="0" indent="0">
              <a:buNone/>
            </a:pPr>
            <a:r>
              <a:rPr lang="en-US" sz="1100" i="1" dirty="0">
                <a:solidFill>
                  <a:schemeClr val="bg1"/>
                </a:solidFill>
                <a:latin typeface="Calibri" pitchFamily="34" charset="0"/>
                <a:ea typeface="Calibri" pitchFamily="34" charset="-122"/>
                <a:cs typeface="Calibri" pitchFamily="34" charset="-120"/>
              </a:rPr>
              <a:t>Watch what happens when Sarah uses this — then you'll use it on your own problem at the end of the session.</a:t>
            </a:r>
            <a:endParaRPr lang="en-US" sz="1100" dirty="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4641A"/>
          </a:solidFill>
          <a:ln w="12700">
            <a:solidFill>
              <a:srgbClr val="D4641A"/>
            </a:solidFill>
            <a:prstDash val="solid"/>
          </a:ln>
        </p:spPr>
      </p:sp>
      <p:sp>
        <p:nvSpPr>
          <p:cNvPr id="3" name="Text 1"/>
          <p:cNvSpPr/>
          <p:nvPr/>
        </p:nvSpPr>
        <p:spPr>
          <a:xfrm>
            <a:off x="347472" y="274320"/>
            <a:ext cx="8412480" cy="530352"/>
          </a:xfrm>
          <a:prstGeom prst="rect">
            <a:avLst/>
          </a:prstGeom>
          <a:noFill/>
          <a:ln/>
        </p:spPr>
        <p:txBody>
          <a:bodyPr wrap="square" rtlCol="0" anchor="ctr"/>
          <a:lstStyle/>
          <a:p>
            <a:pPr marL="0" indent="0">
              <a:buNone/>
            </a:pPr>
            <a:r>
              <a:rPr lang="en-US" sz="2600" b="1" dirty="0">
                <a:solidFill>
                  <a:srgbClr val="FFFFFF"/>
                </a:solidFill>
                <a:latin typeface="Arial Black" pitchFamily="34" charset="0"/>
                <a:ea typeface="Arial Black" pitchFamily="34" charset="-122"/>
                <a:cs typeface="Arial Black" pitchFamily="34" charset="-120"/>
              </a:rPr>
              <a:t>SARAH WORKS THROUGH THE 5 LAYERS.</a:t>
            </a:r>
            <a:endParaRPr lang="en-US" sz="2600" dirty="0"/>
          </a:p>
        </p:txBody>
      </p:sp>
      <p:sp>
        <p:nvSpPr>
          <p:cNvPr id="4" name="Text 2"/>
          <p:cNvSpPr/>
          <p:nvPr/>
        </p:nvSpPr>
        <p:spPr>
          <a:xfrm>
            <a:off x="347472" y="804672"/>
            <a:ext cx="8412480" cy="274320"/>
          </a:xfrm>
          <a:prstGeom prst="rect">
            <a:avLst/>
          </a:prstGeom>
          <a:noFill/>
          <a:ln/>
        </p:spPr>
        <p:txBody>
          <a:bodyPr wrap="square" rtlCol="0" anchor="ctr"/>
          <a:lstStyle/>
          <a:p>
            <a:pPr marL="0" indent="0">
              <a:buNone/>
            </a:pPr>
            <a:r>
              <a:rPr lang="en-US" sz="1200" i="1" dirty="0">
                <a:solidFill>
                  <a:srgbClr val="AECBDC"/>
                </a:solidFill>
                <a:latin typeface="Calibri" pitchFamily="34" charset="0"/>
                <a:ea typeface="Calibri" pitchFamily="34" charset="-122"/>
                <a:cs typeface="Calibri" pitchFamily="34" charset="-120"/>
              </a:rPr>
              <a:t>AI walks her through each layer — one question at a time. Watch what shifts.</a:t>
            </a:r>
            <a:endParaRPr lang="en-US" sz="1200" dirty="0"/>
          </a:p>
        </p:txBody>
      </p:sp>
      <p:sp>
        <p:nvSpPr>
          <p:cNvPr id="5" name="Shape 3"/>
          <p:cNvSpPr/>
          <p:nvPr/>
        </p:nvSpPr>
        <p:spPr>
          <a:xfrm>
            <a:off x="347472" y="1170432"/>
            <a:ext cx="8412480" cy="548640"/>
          </a:xfrm>
          <a:prstGeom prst="rect">
            <a:avLst/>
          </a:prstGeom>
          <a:solidFill>
            <a:srgbClr val="1E2D3D"/>
          </a:solidFill>
          <a:ln w="12700">
            <a:solidFill>
              <a:srgbClr val="243448"/>
            </a:solidFill>
            <a:prstDash val="solid"/>
          </a:ln>
        </p:spPr>
      </p:sp>
      <p:sp>
        <p:nvSpPr>
          <p:cNvPr id="6" name="Shape 4"/>
          <p:cNvSpPr/>
          <p:nvPr/>
        </p:nvSpPr>
        <p:spPr>
          <a:xfrm>
            <a:off x="475488" y="1271016"/>
            <a:ext cx="329184" cy="329184"/>
          </a:xfrm>
          <a:prstGeom prst="line">
            <a:avLst/>
          </a:prstGeom>
          <a:solidFill>
            <a:srgbClr val="1A7A9E"/>
          </a:solidFill>
          <a:ln/>
        </p:spPr>
      </p:sp>
      <p:sp>
        <p:nvSpPr>
          <p:cNvPr id="7" name="Text 5"/>
          <p:cNvSpPr/>
          <p:nvPr/>
        </p:nvSpPr>
        <p:spPr>
          <a:xfrm>
            <a:off x="475488" y="1271016"/>
            <a:ext cx="329184" cy="329184"/>
          </a:xfrm>
          <a:prstGeom prst="rect">
            <a:avLst/>
          </a:prstGeom>
          <a:noFill/>
          <a:ln/>
        </p:spPr>
        <p:txBody>
          <a:bodyPr wrap="square" rtlCol="0" anchor="ctr"/>
          <a:lstStyle/>
          <a:p>
            <a:pPr marL="0" indent="0" algn="ctr">
              <a:buNone/>
            </a:pPr>
            <a:r>
              <a:rPr lang="en-US" sz="1100" b="1" dirty="0">
                <a:solidFill>
                  <a:srgbClr val="FFFFFF"/>
                </a:solidFill>
              </a:rPr>
              <a:t>1</a:t>
            </a:r>
            <a:endParaRPr lang="en-US" sz="1100" dirty="0"/>
          </a:p>
        </p:txBody>
      </p:sp>
      <p:sp>
        <p:nvSpPr>
          <p:cNvPr id="8" name="Text 6"/>
          <p:cNvSpPr/>
          <p:nvPr/>
        </p:nvSpPr>
        <p:spPr>
          <a:xfrm>
            <a:off x="932688" y="1243584"/>
            <a:ext cx="1417320" cy="402336"/>
          </a:xfrm>
          <a:prstGeom prst="rect">
            <a:avLst/>
          </a:prstGeom>
          <a:noFill/>
          <a:ln/>
        </p:spPr>
        <p:txBody>
          <a:bodyPr wrap="square" rtlCol="0" anchor="ctr"/>
          <a:lstStyle/>
          <a:p>
            <a:pPr marL="0" indent="0">
              <a:buNone/>
            </a:pPr>
            <a:r>
              <a:rPr lang="en-US" sz="850" b="1" dirty="0">
                <a:solidFill>
                  <a:srgbClr val="1A7A9E"/>
                </a:solidFill>
                <a:latin typeface="Calibri" pitchFamily="34" charset="0"/>
                <a:ea typeface="Calibri" pitchFamily="34" charset="-122"/>
                <a:cs typeface="Calibri" pitchFamily="34" charset="-120"/>
              </a:rPr>
              <a:t>SYMPTOM</a:t>
            </a:r>
            <a:endParaRPr lang="en-US" sz="850" dirty="0"/>
          </a:p>
        </p:txBody>
      </p:sp>
      <p:sp>
        <p:nvSpPr>
          <p:cNvPr id="9" name="Text 7"/>
          <p:cNvSpPr/>
          <p:nvPr/>
        </p:nvSpPr>
        <p:spPr>
          <a:xfrm>
            <a:off x="2450592" y="1216152"/>
            <a:ext cx="6217920" cy="457200"/>
          </a:xfrm>
          <a:prstGeom prst="rect">
            <a:avLst/>
          </a:prstGeom>
          <a:noFill/>
          <a:ln/>
        </p:spPr>
        <p:txBody>
          <a:bodyPr wrap="square" rtlCol="0" anchor="ctr"/>
          <a:lstStyle/>
          <a:p>
            <a:pPr marL="0" indent="0">
              <a:buNone/>
            </a:pPr>
            <a:r>
              <a:rPr lang="en-US" sz="1050" i="1" dirty="0">
                <a:solidFill>
                  <a:srgbClr val="CBD5E0"/>
                </a:solidFill>
                <a:latin typeface="Calibri" pitchFamily="34" charset="0"/>
                <a:ea typeface="Calibri" pitchFamily="34" charset="-122"/>
                <a:cs typeface="Calibri" pitchFamily="34" charset="-120"/>
              </a:rPr>
              <a:t>"Compliance paperwork is eating my Monday mornings."</a:t>
            </a:r>
            <a:endParaRPr lang="en-US" sz="1050" dirty="0"/>
          </a:p>
        </p:txBody>
      </p:sp>
      <p:sp>
        <p:nvSpPr>
          <p:cNvPr id="10" name="Shape 8"/>
          <p:cNvSpPr/>
          <p:nvPr/>
        </p:nvSpPr>
        <p:spPr>
          <a:xfrm>
            <a:off x="347472" y="1773936"/>
            <a:ext cx="8412480" cy="548640"/>
          </a:xfrm>
          <a:prstGeom prst="rect">
            <a:avLst/>
          </a:prstGeom>
          <a:solidFill>
            <a:srgbClr val="1E2D3D"/>
          </a:solidFill>
          <a:ln w="12700">
            <a:solidFill>
              <a:srgbClr val="243448"/>
            </a:solidFill>
            <a:prstDash val="solid"/>
          </a:ln>
        </p:spPr>
      </p:sp>
      <p:sp>
        <p:nvSpPr>
          <p:cNvPr id="11" name="Shape 9"/>
          <p:cNvSpPr/>
          <p:nvPr/>
        </p:nvSpPr>
        <p:spPr>
          <a:xfrm>
            <a:off x="475488" y="1874520"/>
            <a:ext cx="329184" cy="329184"/>
          </a:xfrm>
          <a:prstGeom prst="line">
            <a:avLst/>
          </a:prstGeom>
          <a:solidFill>
            <a:srgbClr val="1A7A9E"/>
          </a:solidFill>
          <a:ln/>
        </p:spPr>
      </p:sp>
      <p:sp>
        <p:nvSpPr>
          <p:cNvPr id="12" name="Text 10"/>
          <p:cNvSpPr/>
          <p:nvPr/>
        </p:nvSpPr>
        <p:spPr>
          <a:xfrm>
            <a:off x="475488" y="1874520"/>
            <a:ext cx="329184" cy="329184"/>
          </a:xfrm>
          <a:prstGeom prst="rect">
            <a:avLst/>
          </a:prstGeom>
          <a:noFill/>
          <a:ln/>
        </p:spPr>
        <p:txBody>
          <a:bodyPr wrap="square" rtlCol="0" anchor="ctr"/>
          <a:lstStyle/>
          <a:p>
            <a:pPr marL="0" indent="0" algn="ctr">
              <a:buNone/>
            </a:pPr>
            <a:r>
              <a:rPr lang="en-US" sz="1100" b="1" dirty="0">
                <a:solidFill>
                  <a:srgbClr val="FFFFFF"/>
                </a:solidFill>
              </a:rPr>
              <a:t>2</a:t>
            </a:r>
            <a:endParaRPr lang="en-US" sz="1100" dirty="0"/>
          </a:p>
        </p:txBody>
      </p:sp>
      <p:sp>
        <p:nvSpPr>
          <p:cNvPr id="13" name="Text 11"/>
          <p:cNvSpPr/>
          <p:nvPr/>
        </p:nvSpPr>
        <p:spPr>
          <a:xfrm>
            <a:off x="932688" y="1847088"/>
            <a:ext cx="1417320" cy="402336"/>
          </a:xfrm>
          <a:prstGeom prst="rect">
            <a:avLst/>
          </a:prstGeom>
          <a:noFill/>
          <a:ln/>
        </p:spPr>
        <p:txBody>
          <a:bodyPr wrap="square" rtlCol="0" anchor="ctr"/>
          <a:lstStyle/>
          <a:p>
            <a:pPr marL="0" indent="0">
              <a:buNone/>
            </a:pPr>
            <a:r>
              <a:rPr lang="en-US" sz="850" b="1" dirty="0">
                <a:solidFill>
                  <a:srgbClr val="1A7A9E"/>
                </a:solidFill>
                <a:latin typeface="Calibri" pitchFamily="34" charset="0"/>
                <a:ea typeface="Calibri" pitchFamily="34" charset="-122"/>
                <a:cs typeface="Calibri" pitchFamily="34" charset="-120"/>
              </a:rPr>
              <a:t>PROCESS</a:t>
            </a:r>
            <a:endParaRPr lang="en-US" sz="850" dirty="0"/>
          </a:p>
        </p:txBody>
      </p:sp>
      <p:sp>
        <p:nvSpPr>
          <p:cNvPr id="14" name="Text 12"/>
          <p:cNvSpPr/>
          <p:nvPr/>
        </p:nvSpPr>
        <p:spPr>
          <a:xfrm>
            <a:off x="2450592" y="1819656"/>
            <a:ext cx="6217920" cy="457200"/>
          </a:xfrm>
          <a:prstGeom prst="rect">
            <a:avLst/>
          </a:prstGeom>
          <a:noFill/>
          <a:ln/>
        </p:spPr>
        <p:txBody>
          <a:bodyPr wrap="square" rtlCol="0" anchor="ctr"/>
          <a:lstStyle/>
          <a:p>
            <a:pPr marL="0" indent="0">
              <a:buNone/>
            </a:pPr>
            <a:r>
              <a:rPr lang="en-US" sz="1050" i="1" dirty="0">
                <a:solidFill>
                  <a:srgbClr val="CBD5E0"/>
                </a:solidFill>
                <a:latin typeface="Calibri" pitchFamily="34" charset="0"/>
                <a:ea typeface="Calibri" pitchFamily="34" charset="-122"/>
                <a:cs typeface="Calibri" pitchFamily="34" charset="-120"/>
              </a:rPr>
              <a:t>"Certificates tracked in a spreadsheet. Inductions logged manually. Expiries not flagged anywhere."</a:t>
            </a:r>
            <a:endParaRPr lang="en-US" sz="1050" dirty="0"/>
          </a:p>
        </p:txBody>
      </p:sp>
      <p:sp>
        <p:nvSpPr>
          <p:cNvPr id="15" name="Shape 13"/>
          <p:cNvSpPr/>
          <p:nvPr/>
        </p:nvSpPr>
        <p:spPr>
          <a:xfrm>
            <a:off x="347472" y="2377440"/>
            <a:ext cx="8412480" cy="548640"/>
          </a:xfrm>
          <a:prstGeom prst="rect">
            <a:avLst/>
          </a:prstGeom>
          <a:solidFill>
            <a:srgbClr val="1C2E1A"/>
          </a:solidFill>
          <a:ln w="25400">
            <a:solidFill>
              <a:srgbClr val="D4641A"/>
            </a:solidFill>
            <a:prstDash val="solid"/>
          </a:ln>
        </p:spPr>
      </p:sp>
      <p:sp>
        <p:nvSpPr>
          <p:cNvPr id="16" name="Shape 14"/>
          <p:cNvSpPr/>
          <p:nvPr/>
        </p:nvSpPr>
        <p:spPr>
          <a:xfrm>
            <a:off x="347472" y="2377440"/>
            <a:ext cx="64008" cy="548640"/>
          </a:xfrm>
          <a:prstGeom prst="rect">
            <a:avLst/>
          </a:prstGeom>
          <a:solidFill>
            <a:srgbClr val="D4641A"/>
          </a:solidFill>
          <a:ln/>
        </p:spPr>
      </p:sp>
      <p:sp>
        <p:nvSpPr>
          <p:cNvPr id="17" name="Shape 15"/>
          <p:cNvSpPr/>
          <p:nvPr/>
        </p:nvSpPr>
        <p:spPr>
          <a:xfrm>
            <a:off x="475488" y="2478024"/>
            <a:ext cx="329184" cy="329184"/>
          </a:xfrm>
          <a:prstGeom prst="line">
            <a:avLst/>
          </a:prstGeom>
          <a:solidFill>
            <a:srgbClr val="D4641A"/>
          </a:solidFill>
          <a:ln/>
        </p:spPr>
      </p:sp>
      <p:sp>
        <p:nvSpPr>
          <p:cNvPr id="18" name="Text 16"/>
          <p:cNvSpPr/>
          <p:nvPr/>
        </p:nvSpPr>
        <p:spPr>
          <a:xfrm>
            <a:off x="475488" y="2478024"/>
            <a:ext cx="329184" cy="329184"/>
          </a:xfrm>
          <a:prstGeom prst="rect">
            <a:avLst/>
          </a:prstGeom>
          <a:noFill/>
          <a:ln/>
        </p:spPr>
        <p:txBody>
          <a:bodyPr wrap="square" rtlCol="0" anchor="ctr"/>
          <a:lstStyle/>
          <a:p>
            <a:pPr marL="0" indent="0" algn="ctr">
              <a:buNone/>
            </a:pPr>
            <a:r>
              <a:rPr lang="en-US" sz="1100" b="1" dirty="0">
                <a:solidFill>
                  <a:srgbClr val="FFFFFF"/>
                </a:solidFill>
              </a:rPr>
              <a:t>3</a:t>
            </a:r>
            <a:endParaRPr lang="en-US" sz="1100" dirty="0"/>
          </a:p>
        </p:txBody>
      </p:sp>
      <p:sp>
        <p:nvSpPr>
          <p:cNvPr id="19" name="Text 17"/>
          <p:cNvSpPr/>
          <p:nvPr/>
        </p:nvSpPr>
        <p:spPr>
          <a:xfrm>
            <a:off x="932688" y="2450592"/>
            <a:ext cx="1417320" cy="402336"/>
          </a:xfrm>
          <a:prstGeom prst="rect">
            <a:avLst/>
          </a:prstGeom>
          <a:noFill/>
          <a:ln/>
        </p:spPr>
        <p:txBody>
          <a:bodyPr wrap="square" rtlCol="0" anchor="ctr"/>
          <a:lstStyle/>
          <a:p>
            <a:pPr marL="0" indent="0">
              <a:buNone/>
            </a:pPr>
            <a:r>
              <a:rPr lang="en-US" sz="850" b="1" dirty="0">
                <a:solidFill>
                  <a:srgbClr val="D4641A"/>
                </a:solidFill>
                <a:latin typeface="Calibri" pitchFamily="34" charset="0"/>
                <a:ea typeface="Calibri" pitchFamily="34" charset="-122"/>
                <a:cs typeface="Calibri" pitchFamily="34" charset="-120"/>
              </a:rPr>
              <a:t>CONSTRAINT ★</a:t>
            </a:r>
            <a:endParaRPr lang="en-US" sz="850" dirty="0"/>
          </a:p>
        </p:txBody>
      </p:sp>
      <p:sp>
        <p:nvSpPr>
          <p:cNvPr id="20" name="Text 18"/>
          <p:cNvSpPr/>
          <p:nvPr/>
        </p:nvSpPr>
        <p:spPr>
          <a:xfrm>
            <a:off x="2450592" y="2423160"/>
            <a:ext cx="6217920" cy="457200"/>
          </a:xfrm>
          <a:prstGeom prst="rect">
            <a:avLst/>
          </a:prstGeom>
          <a:noFill/>
          <a:ln/>
        </p:spPr>
        <p:txBody>
          <a:bodyPr wrap="square" rtlCol="0" anchor="ctr"/>
          <a:lstStyle/>
          <a:p>
            <a:pPr marL="0" indent="0">
              <a:buNone/>
            </a:pPr>
            <a:r>
              <a:rPr lang="en-US" sz="1050" b="1" i="1" dirty="0">
                <a:solidFill>
                  <a:srgbClr val="FFFFFF"/>
                </a:solidFill>
                <a:latin typeface="Calibri" pitchFamily="34" charset="0"/>
                <a:ea typeface="Calibri" pitchFamily="34" charset="-122"/>
                <a:cs typeface="Calibri" pitchFamily="34" charset="-120"/>
              </a:rPr>
              <a:t>"No single owner. Whoever is around does it. Records live in three different places."</a:t>
            </a:r>
            <a:endParaRPr lang="en-US" sz="1050" dirty="0"/>
          </a:p>
        </p:txBody>
      </p:sp>
      <p:sp>
        <p:nvSpPr>
          <p:cNvPr id="21" name="Shape 19"/>
          <p:cNvSpPr/>
          <p:nvPr/>
        </p:nvSpPr>
        <p:spPr>
          <a:xfrm>
            <a:off x="347472" y="2980944"/>
            <a:ext cx="8412480" cy="548640"/>
          </a:xfrm>
          <a:prstGeom prst="rect">
            <a:avLst/>
          </a:prstGeom>
          <a:solidFill>
            <a:srgbClr val="1E2D3D"/>
          </a:solidFill>
          <a:ln w="12700">
            <a:solidFill>
              <a:srgbClr val="243448"/>
            </a:solidFill>
            <a:prstDash val="solid"/>
          </a:ln>
        </p:spPr>
      </p:sp>
      <p:sp>
        <p:nvSpPr>
          <p:cNvPr id="22" name="Shape 20"/>
          <p:cNvSpPr/>
          <p:nvPr/>
        </p:nvSpPr>
        <p:spPr>
          <a:xfrm>
            <a:off x="475488" y="3081528"/>
            <a:ext cx="329184" cy="329184"/>
          </a:xfrm>
          <a:prstGeom prst="line">
            <a:avLst/>
          </a:prstGeom>
          <a:solidFill>
            <a:srgbClr val="B85042"/>
          </a:solidFill>
          <a:ln/>
        </p:spPr>
      </p:sp>
      <p:sp>
        <p:nvSpPr>
          <p:cNvPr id="23" name="Text 21"/>
          <p:cNvSpPr/>
          <p:nvPr/>
        </p:nvSpPr>
        <p:spPr>
          <a:xfrm>
            <a:off x="475488" y="3081528"/>
            <a:ext cx="329184" cy="329184"/>
          </a:xfrm>
          <a:prstGeom prst="rect">
            <a:avLst/>
          </a:prstGeom>
          <a:noFill/>
          <a:ln/>
        </p:spPr>
        <p:txBody>
          <a:bodyPr wrap="square" rtlCol="0" anchor="ctr"/>
          <a:lstStyle/>
          <a:p>
            <a:pPr marL="0" indent="0" algn="ctr">
              <a:buNone/>
            </a:pPr>
            <a:r>
              <a:rPr lang="en-US" sz="1100" b="1" dirty="0">
                <a:solidFill>
                  <a:srgbClr val="FFFFFF"/>
                </a:solidFill>
              </a:rPr>
              <a:t>4</a:t>
            </a:r>
            <a:endParaRPr lang="en-US" sz="1100" dirty="0"/>
          </a:p>
        </p:txBody>
      </p:sp>
      <p:sp>
        <p:nvSpPr>
          <p:cNvPr id="24" name="Text 22"/>
          <p:cNvSpPr/>
          <p:nvPr/>
        </p:nvSpPr>
        <p:spPr>
          <a:xfrm>
            <a:off x="932688" y="3054096"/>
            <a:ext cx="1417320" cy="402336"/>
          </a:xfrm>
          <a:prstGeom prst="rect">
            <a:avLst/>
          </a:prstGeom>
          <a:noFill/>
          <a:ln/>
        </p:spPr>
        <p:txBody>
          <a:bodyPr wrap="square" rtlCol="0" anchor="ctr"/>
          <a:lstStyle/>
          <a:p>
            <a:pPr marL="0" indent="0">
              <a:buNone/>
            </a:pPr>
            <a:r>
              <a:rPr lang="en-US" sz="850" b="1" dirty="0">
                <a:solidFill>
                  <a:srgbClr val="B85042"/>
                </a:solidFill>
                <a:latin typeface="Calibri" pitchFamily="34" charset="0"/>
                <a:ea typeface="Calibri" pitchFamily="34" charset="-122"/>
                <a:cs typeface="Calibri" pitchFamily="34" charset="-120"/>
              </a:rPr>
              <a:t>COST</a:t>
            </a:r>
            <a:endParaRPr lang="en-US" sz="850" dirty="0"/>
          </a:p>
        </p:txBody>
      </p:sp>
      <p:sp>
        <p:nvSpPr>
          <p:cNvPr id="25" name="Text 23"/>
          <p:cNvSpPr/>
          <p:nvPr/>
        </p:nvSpPr>
        <p:spPr>
          <a:xfrm>
            <a:off x="2450592" y="3026664"/>
            <a:ext cx="6217920" cy="457200"/>
          </a:xfrm>
          <a:prstGeom prst="rect">
            <a:avLst/>
          </a:prstGeom>
          <a:noFill/>
          <a:ln/>
        </p:spPr>
        <p:txBody>
          <a:bodyPr wrap="square" rtlCol="0" anchor="ctr"/>
          <a:lstStyle/>
          <a:p>
            <a:pPr marL="0" indent="0">
              <a:buNone/>
            </a:pPr>
            <a:r>
              <a:rPr lang="en-US" sz="1050" i="1" dirty="0">
                <a:solidFill>
                  <a:srgbClr val="CBD5E0"/>
                </a:solidFill>
                <a:latin typeface="Calibri" pitchFamily="34" charset="0"/>
                <a:ea typeface="Calibri" pitchFamily="34" charset="-122"/>
                <a:cs typeface="Calibri" pitchFamily="34" charset="-120"/>
              </a:rPr>
              <a:t>"2 hours every Monday. Two near-misses last year. If we get audited this month — we fail."</a:t>
            </a:r>
            <a:endParaRPr lang="en-US" sz="1050" dirty="0"/>
          </a:p>
        </p:txBody>
      </p:sp>
      <p:sp>
        <p:nvSpPr>
          <p:cNvPr id="26" name="Shape 24"/>
          <p:cNvSpPr/>
          <p:nvPr/>
        </p:nvSpPr>
        <p:spPr>
          <a:xfrm>
            <a:off x="347472" y="3584448"/>
            <a:ext cx="8412480" cy="548640"/>
          </a:xfrm>
          <a:prstGeom prst="rect">
            <a:avLst/>
          </a:prstGeom>
          <a:solidFill>
            <a:srgbClr val="1E2D3D"/>
          </a:solidFill>
          <a:ln w="12700">
            <a:solidFill>
              <a:srgbClr val="243448"/>
            </a:solidFill>
            <a:prstDash val="solid"/>
          </a:ln>
        </p:spPr>
      </p:sp>
      <p:sp>
        <p:nvSpPr>
          <p:cNvPr id="27" name="Shape 25"/>
          <p:cNvSpPr/>
          <p:nvPr/>
        </p:nvSpPr>
        <p:spPr>
          <a:xfrm>
            <a:off x="475488" y="3685032"/>
            <a:ext cx="329184" cy="329184"/>
          </a:xfrm>
          <a:prstGeom prst="line">
            <a:avLst/>
          </a:prstGeom>
          <a:solidFill>
            <a:srgbClr val="7B8EA0"/>
          </a:solidFill>
          <a:ln/>
        </p:spPr>
      </p:sp>
      <p:sp>
        <p:nvSpPr>
          <p:cNvPr id="28" name="Text 26"/>
          <p:cNvSpPr/>
          <p:nvPr/>
        </p:nvSpPr>
        <p:spPr>
          <a:xfrm>
            <a:off x="475488" y="3685032"/>
            <a:ext cx="329184" cy="329184"/>
          </a:xfrm>
          <a:prstGeom prst="rect">
            <a:avLst/>
          </a:prstGeom>
          <a:noFill/>
          <a:ln/>
        </p:spPr>
        <p:txBody>
          <a:bodyPr wrap="square" rtlCol="0" anchor="ctr"/>
          <a:lstStyle/>
          <a:p>
            <a:pPr marL="0" indent="0" algn="ctr">
              <a:buNone/>
            </a:pPr>
            <a:r>
              <a:rPr lang="en-US" sz="1100" b="1" dirty="0">
                <a:solidFill>
                  <a:srgbClr val="FFFFFF"/>
                </a:solidFill>
              </a:rPr>
              <a:t>5</a:t>
            </a:r>
            <a:endParaRPr lang="en-US" sz="1100" dirty="0"/>
          </a:p>
        </p:txBody>
      </p:sp>
      <p:sp>
        <p:nvSpPr>
          <p:cNvPr id="29" name="Text 27"/>
          <p:cNvSpPr/>
          <p:nvPr/>
        </p:nvSpPr>
        <p:spPr>
          <a:xfrm>
            <a:off x="932688" y="3657600"/>
            <a:ext cx="1417320" cy="402336"/>
          </a:xfrm>
          <a:prstGeom prst="rect">
            <a:avLst/>
          </a:prstGeom>
          <a:noFill/>
          <a:ln/>
        </p:spPr>
        <p:txBody>
          <a:bodyPr wrap="square" rtlCol="0" anchor="ctr"/>
          <a:lstStyle/>
          <a:p>
            <a:pPr marL="0" indent="0">
              <a:buNone/>
            </a:pPr>
            <a:r>
              <a:rPr lang="en-US" sz="850" b="1" dirty="0">
                <a:solidFill>
                  <a:srgbClr val="7B8EA0"/>
                </a:solidFill>
                <a:latin typeface="Calibri" pitchFamily="34" charset="0"/>
                <a:ea typeface="Calibri" pitchFamily="34" charset="-122"/>
                <a:cs typeface="Calibri" pitchFamily="34" charset="-120"/>
              </a:rPr>
              <a:t>OWNER</a:t>
            </a:r>
            <a:endParaRPr lang="en-US" sz="850" dirty="0"/>
          </a:p>
        </p:txBody>
      </p:sp>
      <p:sp>
        <p:nvSpPr>
          <p:cNvPr id="30" name="Text 28"/>
          <p:cNvSpPr/>
          <p:nvPr/>
        </p:nvSpPr>
        <p:spPr>
          <a:xfrm>
            <a:off x="2450592" y="3630168"/>
            <a:ext cx="6217920" cy="457200"/>
          </a:xfrm>
          <a:prstGeom prst="rect">
            <a:avLst/>
          </a:prstGeom>
          <a:noFill/>
          <a:ln/>
        </p:spPr>
        <p:txBody>
          <a:bodyPr wrap="square" rtlCol="0" anchor="ctr"/>
          <a:lstStyle/>
          <a:p>
            <a:pPr marL="0" indent="0">
              <a:buNone/>
            </a:pPr>
            <a:r>
              <a:rPr lang="en-US" sz="1050" i="1" dirty="0">
                <a:solidFill>
                  <a:srgbClr val="CBD5E0"/>
                </a:solidFill>
                <a:latin typeface="Calibri" pitchFamily="34" charset="0"/>
                <a:ea typeface="Calibri" pitchFamily="34" charset="-122"/>
                <a:cs typeface="Calibri" pitchFamily="34" charset="-120"/>
              </a:rPr>
              <a:t>"Technically me — but the solution needs to run without me chasing it every week."</a:t>
            </a:r>
            <a:endParaRPr lang="en-US" sz="1050" dirty="0"/>
          </a:p>
        </p:txBody>
      </p:sp>
      <p:sp>
        <p:nvSpPr>
          <p:cNvPr id="31" name="Shape 29"/>
          <p:cNvSpPr/>
          <p:nvPr/>
        </p:nvSpPr>
        <p:spPr>
          <a:xfrm>
            <a:off x="347472" y="4242816"/>
            <a:ext cx="8412480" cy="566928"/>
          </a:xfrm>
          <a:prstGeom prst="rect">
            <a:avLst/>
          </a:prstGeom>
          <a:solidFill>
            <a:srgbClr val="0F2D0F"/>
          </a:solidFill>
          <a:ln w="19050">
            <a:solidFill>
              <a:srgbClr val="D4641A"/>
            </a:solidFill>
            <a:prstDash val="solid"/>
          </a:ln>
        </p:spPr>
      </p:sp>
      <p:sp>
        <p:nvSpPr>
          <p:cNvPr id="32" name="Shape 30"/>
          <p:cNvSpPr/>
          <p:nvPr/>
        </p:nvSpPr>
        <p:spPr>
          <a:xfrm>
            <a:off x="347472" y="4242816"/>
            <a:ext cx="64008" cy="566928"/>
          </a:xfrm>
          <a:prstGeom prst="rect">
            <a:avLst/>
          </a:prstGeom>
          <a:solidFill>
            <a:srgbClr val="D4641A"/>
          </a:solidFill>
          <a:ln/>
        </p:spPr>
      </p:sp>
      <p:sp>
        <p:nvSpPr>
          <p:cNvPr id="33" name="Text 31"/>
          <p:cNvSpPr/>
          <p:nvPr/>
        </p:nvSpPr>
        <p:spPr>
          <a:xfrm>
            <a:off x="548640" y="4242816"/>
            <a:ext cx="8229600" cy="566928"/>
          </a:xfrm>
          <a:prstGeom prst="rect">
            <a:avLst/>
          </a:prstGeom>
          <a:noFill/>
          <a:ln/>
        </p:spPr>
        <p:txBody>
          <a:bodyPr wrap="square" rtlCol="0" anchor="ctr"/>
          <a:lstStyle/>
          <a:p>
            <a:pPr marL="0" indent="0">
              <a:buNone/>
            </a:pPr>
            <a:r>
              <a:rPr lang="en-US" sz="1100" b="1" dirty="0">
                <a:solidFill>
                  <a:srgbClr val="D4641A"/>
                </a:solidFill>
                <a:latin typeface="Calibri" pitchFamily="34" charset="0"/>
                <a:ea typeface="Calibri" pitchFamily="34" charset="-122"/>
                <a:cs typeface="Calibri" pitchFamily="34" charset="-120"/>
              </a:rPr>
              <a:t>The breakthrough: </a:t>
            </a:r>
            <a:r>
              <a:rPr lang="en-US" sz="1100" dirty="0">
                <a:solidFill>
                  <a:srgbClr val="CBD5E0"/>
                </a:solidFill>
                <a:latin typeface="Calibri" pitchFamily="34" charset="0"/>
                <a:ea typeface="Calibri" pitchFamily="34" charset="-122"/>
                <a:cs typeface="Calibri" pitchFamily="34" charset="-120"/>
              </a:rPr>
              <a:t>"The problem isn't the spreadsheet. It's ownership — and the solution can't rely on anyone's memory or bandwidth."</a:t>
            </a:r>
            <a:endParaRPr lang="en-US" sz="1100" dirty="0"/>
          </a:p>
        </p:txBody>
      </p:sp>
      <p:sp>
        <p:nvSpPr>
          <p:cNvPr id="34" name="Shape 32"/>
          <p:cNvSpPr/>
          <p:nvPr/>
        </p:nvSpPr>
        <p:spPr>
          <a:xfrm>
            <a:off x="347472" y="4873752"/>
            <a:ext cx="8412480" cy="292608"/>
          </a:xfrm>
          <a:prstGeom prst="rect">
            <a:avLst/>
          </a:prstGeom>
          <a:solidFill>
            <a:srgbClr val="1E2D3D"/>
          </a:solidFill>
          <a:ln/>
        </p:spPr>
      </p:sp>
      <p:sp>
        <p:nvSpPr>
          <p:cNvPr id="35" name="Text 33"/>
          <p:cNvSpPr/>
          <p:nvPr/>
        </p:nvSpPr>
        <p:spPr>
          <a:xfrm>
            <a:off x="502920" y="4873752"/>
            <a:ext cx="8229600" cy="292608"/>
          </a:xfrm>
          <a:prstGeom prst="rect">
            <a:avLst/>
          </a:prstGeom>
          <a:noFill/>
          <a:ln/>
        </p:spPr>
        <p:txBody>
          <a:bodyPr wrap="square" rtlCol="0" anchor="ctr"/>
          <a:lstStyle/>
          <a:p>
            <a:pPr marL="0" indent="0">
              <a:buNone/>
            </a:pPr>
            <a:r>
              <a:rPr lang="en-US" sz="1050" i="1" dirty="0">
                <a:solidFill>
                  <a:schemeClr val="bg1"/>
                </a:solidFill>
                <a:latin typeface="Calibri" pitchFamily="34" charset="0"/>
                <a:ea typeface="Calibri" pitchFamily="34" charset="-122"/>
                <a:cs typeface="Calibri" pitchFamily="34" charset="-120"/>
              </a:rPr>
              <a:t>Sarah now knows exactly what she's solving. She's ready to take it into Phase 2.</a:t>
            </a:r>
            <a:endParaRPr lang="en-US" sz="1050"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EFE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A7A9E"/>
          </a:solidFill>
          <a:ln w="12700">
            <a:solidFill>
              <a:srgbClr val="1A7A9E"/>
            </a:solidFill>
            <a:prstDash val="solid"/>
          </a:ln>
        </p:spPr>
        <p:txBody>
          <a:bodyPr/>
          <a:lstStyle/>
          <a:p>
            <a:endParaRPr lang="en-US"/>
          </a:p>
        </p:txBody>
      </p:sp>
      <p:sp>
        <p:nvSpPr>
          <p:cNvPr id="3" name="Text 1"/>
          <p:cNvSpPr/>
          <p:nvPr/>
        </p:nvSpPr>
        <p:spPr>
          <a:xfrm>
            <a:off x="347472" y="530352"/>
            <a:ext cx="8412480" cy="594360"/>
          </a:xfrm>
          <a:prstGeom prst="rect">
            <a:avLst/>
          </a:prstGeom>
          <a:noFill/>
          <a:ln/>
        </p:spPr>
        <p:txBody>
          <a:bodyPr wrap="square" rtlCol="0" anchor="ctr"/>
          <a:lstStyle/>
          <a:p>
            <a:pPr marL="0" indent="0">
              <a:buNone/>
            </a:pPr>
            <a:r>
              <a:rPr lang="en-US" sz="2600" b="1" dirty="0">
                <a:solidFill>
                  <a:srgbClr val="0D1B2A"/>
                </a:solidFill>
                <a:latin typeface="Arial Black" pitchFamily="34" charset="0"/>
                <a:ea typeface="Arial Black" pitchFamily="34" charset="-122"/>
                <a:cs typeface="Arial Black" pitchFamily="34" charset="-120"/>
              </a:rPr>
              <a:t>PHASE 2: THE C³ METHOD</a:t>
            </a:r>
            <a:endParaRPr lang="en-US" sz="2600" dirty="0"/>
          </a:p>
        </p:txBody>
      </p:sp>
      <p:sp>
        <p:nvSpPr>
          <p:cNvPr id="4" name="Text 2"/>
          <p:cNvSpPr/>
          <p:nvPr/>
        </p:nvSpPr>
        <p:spPr>
          <a:xfrm>
            <a:off x="347472" y="1115568"/>
            <a:ext cx="8412480" cy="411480"/>
          </a:xfrm>
          <a:prstGeom prst="rect">
            <a:avLst/>
          </a:prstGeom>
          <a:noFill/>
          <a:ln/>
        </p:spPr>
        <p:txBody>
          <a:bodyPr wrap="square" rtlCol="0" anchor="ctr"/>
          <a:lstStyle/>
          <a:p>
            <a:pPr marL="0" indent="0">
              <a:buNone/>
            </a:pPr>
            <a:r>
              <a:rPr lang="en-US" sz="1300" dirty="0">
                <a:solidFill>
                  <a:srgbClr val="6B7280"/>
                </a:solidFill>
                <a:latin typeface="Calibri" pitchFamily="34" charset="0"/>
                <a:ea typeface="Calibri" pitchFamily="34" charset="-122"/>
                <a:cs typeface="Calibri" pitchFamily="34" charset="-120"/>
              </a:rPr>
              <a:t>Three moves. Used together, they produce results neither you nor the AI would reach alone.</a:t>
            </a:r>
            <a:endParaRPr lang="en-US" sz="1300" dirty="0"/>
          </a:p>
        </p:txBody>
      </p:sp>
      <p:sp>
        <p:nvSpPr>
          <p:cNvPr id="5" name="Shape 3"/>
          <p:cNvSpPr/>
          <p:nvPr/>
        </p:nvSpPr>
        <p:spPr>
          <a:xfrm>
            <a:off x="347472" y="1993392"/>
            <a:ext cx="2724912" cy="2880360"/>
          </a:xfrm>
          <a:prstGeom prst="rect">
            <a:avLst/>
          </a:prstGeom>
          <a:solidFill>
            <a:srgbClr val="FFFFFF"/>
          </a:solidFill>
          <a:ln/>
          <a:effectLst>
            <a:outerShdw blurRad="76200" dist="25400" dir="8100000" algn="bl" rotWithShape="0">
              <a:srgbClr val="000000">
                <a:alpha val="15000"/>
              </a:srgbClr>
            </a:outerShdw>
          </a:effectLst>
        </p:spPr>
        <p:txBody>
          <a:bodyPr/>
          <a:lstStyle/>
          <a:p>
            <a:endParaRPr lang="en-US"/>
          </a:p>
        </p:txBody>
      </p:sp>
      <p:sp>
        <p:nvSpPr>
          <p:cNvPr id="6" name="Shape 4"/>
          <p:cNvSpPr/>
          <p:nvPr/>
        </p:nvSpPr>
        <p:spPr>
          <a:xfrm>
            <a:off x="347472" y="1993392"/>
            <a:ext cx="2724912" cy="457200"/>
          </a:xfrm>
          <a:prstGeom prst="rect">
            <a:avLst/>
          </a:prstGeom>
          <a:solidFill>
            <a:srgbClr val="1A7A9E"/>
          </a:solidFill>
          <a:ln/>
        </p:spPr>
        <p:txBody>
          <a:bodyPr/>
          <a:lstStyle/>
          <a:p>
            <a:endParaRPr lang="en-US"/>
          </a:p>
        </p:txBody>
      </p:sp>
      <p:sp>
        <p:nvSpPr>
          <p:cNvPr id="7" name="Text 5"/>
          <p:cNvSpPr/>
          <p:nvPr/>
        </p:nvSpPr>
        <p:spPr>
          <a:xfrm>
            <a:off x="438912" y="1993392"/>
            <a:ext cx="2542032" cy="457200"/>
          </a:xfrm>
          <a:prstGeom prst="rect">
            <a:avLst/>
          </a:prstGeom>
          <a:noFill/>
          <a:ln/>
        </p:spPr>
        <p:txBody>
          <a:bodyPr wrap="square" rtlCol="0" anchor="ctr"/>
          <a:lstStyle/>
          <a:p>
            <a:pPr marL="0" indent="0">
              <a:buNone/>
            </a:pPr>
            <a:r>
              <a:rPr lang="en-US" sz="1500" b="1" dirty="0">
                <a:solidFill>
                  <a:srgbClr val="FFFFFF"/>
                </a:solidFill>
                <a:latin typeface="Arial Black" pitchFamily="34" charset="0"/>
                <a:ea typeface="Arial Black" pitchFamily="34" charset="-122"/>
                <a:cs typeface="Arial Black" pitchFamily="34" charset="-120"/>
              </a:rPr>
              <a:t>CLARITY</a:t>
            </a:r>
            <a:endParaRPr lang="en-US" sz="1500" dirty="0"/>
          </a:p>
        </p:txBody>
      </p:sp>
      <p:sp>
        <p:nvSpPr>
          <p:cNvPr id="8" name="Text 6"/>
          <p:cNvSpPr/>
          <p:nvPr/>
        </p:nvSpPr>
        <p:spPr>
          <a:xfrm>
            <a:off x="438912" y="2505456"/>
            <a:ext cx="2542032" cy="292608"/>
          </a:xfrm>
          <a:prstGeom prst="rect">
            <a:avLst/>
          </a:prstGeom>
          <a:noFill/>
          <a:ln/>
        </p:spPr>
        <p:txBody>
          <a:bodyPr wrap="square" rtlCol="0" anchor="ctr"/>
          <a:lstStyle/>
          <a:p>
            <a:pPr marL="0" indent="0">
              <a:buNone/>
            </a:pPr>
            <a:r>
              <a:rPr lang="en-US" sz="950" b="1" i="1" dirty="0">
                <a:solidFill>
                  <a:srgbClr val="1A7A9E"/>
                </a:solidFill>
                <a:latin typeface="Calibri" pitchFamily="34" charset="0"/>
                <a:ea typeface="Calibri" pitchFamily="34" charset="-122"/>
                <a:cs typeface="Calibri" pitchFamily="34" charset="-120"/>
              </a:rPr>
              <a:t>Know your problem deeply</a:t>
            </a:r>
            <a:endParaRPr lang="en-US" sz="950" dirty="0"/>
          </a:p>
        </p:txBody>
      </p:sp>
      <p:sp>
        <p:nvSpPr>
          <p:cNvPr id="9" name="Text 7"/>
          <p:cNvSpPr/>
          <p:nvPr/>
        </p:nvSpPr>
        <p:spPr>
          <a:xfrm>
            <a:off x="438912" y="2834640"/>
            <a:ext cx="2542032" cy="19202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Load the context. Your role, the bottleneck, the process step by step, the tools you use, the cost of not fixing it. The output quality is set here.</a:t>
            </a:r>
            <a:endParaRPr lang="en-US" sz="1100" dirty="0"/>
          </a:p>
        </p:txBody>
      </p:sp>
      <p:sp>
        <p:nvSpPr>
          <p:cNvPr id="10" name="Shape 8"/>
          <p:cNvSpPr/>
          <p:nvPr/>
        </p:nvSpPr>
        <p:spPr>
          <a:xfrm>
            <a:off x="3209544" y="1993392"/>
            <a:ext cx="2724912" cy="2880360"/>
          </a:xfrm>
          <a:prstGeom prst="rect">
            <a:avLst/>
          </a:prstGeom>
          <a:solidFill>
            <a:srgbClr val="FFFFFF"/>
          </a:solidFill>
          <a:ln/>
          <a:effectLst>
            <a:outerShdw blurRad="76200" dist="25400" dir="8100000" algn="bl" rotWithShape="0">
              <a:srgbClr val="000000">
                <a:alpha val="15000"/>
              </a:srgbClr>
            </a:outerShdw>
          </a:effectLst>
        </p:spPr>
        <p:txBody>
          <a:bodyPr/>
          <a:lstStyle/>
          <a:p>
            <a:endParaRPr lang="en-US"/>
          </a:p>
        </p:txBody>
      </p:sp>
      <p:sp>
        <p:nvSpPr>
          <p:cNvPr id="11" name="Shape 9"/>
          <p:cNvSpPr/>
          <p:nvPr/>
        </p:nvSpPr>
        <p:spPr>
          <a:xfrm>
            <a:off x="3209544" y="1993392"/>
            <a:ext cx="2724912" cy="457200"/>
          </a:xfrm>
          <a:prstGeom prst="rect">
            <a:avLst/>
          </a:prstGeom>
          <a:solidFill>
            <a:srgbClr val="D4641A"/>
          </a:solidFill>
          <a:ln/>
        </p:spPr>
        <p:txBody>
          <a:bodyPr/>
          <a:lstStyle/>
          <a:p>
            <a:endParaRPr lang="en-US"/>
          </a:p>
        </p:txBody>
      </p:sp>
      <p:sp>
        <p:nvSpPr>
          <p:cNvPr id="12" name="Text 10"/>
          <p:cNvSpPr/>
          <p:nvPr/>
        </p:nvSpPr>
        <p:spPr>
          <a:xfrm>
            <a:off x="3300984" y="1993392"/>
            <a:ext cx="2542032" cy="457200"/>
          </a:xfrm>
          <a:prstGeom prst="rect">
            <a:avLst/>
          </a:prstGeom>
          <a:noFill/>
          <a:ln/>
        </p:spPr>
        <p:txBody>
          <a:bodyPr wrap="square" rtlCol="0" anchor="ctr"/>
          <a:lstStyle/>
          <a:p>
            <a:pPr marL="0" indent="0">
              <a:buNone/>
            </a:pPr>
            <a:r>
              <a:rPr lang="en-US" sz="1500" b="1" dirty="0">
                <a:solidFill>
                  <a:srgbClr val="FFFFFF"/>
                </a:solidFill>
                <a:latin typeface="Arial Black" pitchFamily="34" charset="0"/>
                <a:ea typeface="Arial Black" pitchFamily="34" charset="-122"/>
                <a:cs typeface="Arial Black" pitchFamily="34" charset="-120"/>
              </a:rPr>
              <a:t>CURIOSITY</a:t>
            </a:r>
            <a:endParaRPr lang="en-US" sz="1500" dirty="0"/>
          </a:p>
        </p:txBody>
      </p:sp>
      <p:sp>
        <p:nvSpPr>
          <p:cNvPr id="13" name="Text 11"/>
          <p:cNvSpPr/>
          <p:nvPr/>
        </p:nvSpPr>
        <p:spPr>
          <a:xfrm>
            <a:off x="3300984" y="2505456"/>
            <a:ext cx="2542032" cy="292608"/>
          </a:xfrm>
          <a:prstGeom prst="rect">
            <a:avLst/>
          </a:prstGeom>
          <a:noFill/>
          <a:ln/>
        </p:spPr>
        <p:txBody>
          <a:bodyPr wrap="square" rtlCol="0" anchor="ctr"/>
          <a:lstStyle/>
          <a:p>
            <a:pPr marL="0" indent="0">
              <a:buNone/>
            </a:pPr>
            <a:r>
              <a:rPr lang="en-US" sz="950" b="1" i="1" dirty="0">
                <a:solidFill>
                  <a:srgbClr val="D4641A"/>
                </a:solidFill>
                <a:latin typeface="Calibri" pitchFamily="34" charset="0"/>
                <a:ea typeface="Calibri" pitchFamily="34" charset="-122"/>
                <a:cs typeface="Calibri" pitchFamily="34" charset="-120"/>
              </a:rPr>
              <a:t>Tic-tac, don't dictate</a:t>
            </a:r>
            <a:endParaRPr lang="en-US" sz="950" dirty="0"/>
          </a:p>
        </p:txBody>
      </p:sp>
      <p:sp>
        <p:nvSpPr>
          <p:cNvPr id="14" name="Text 12"/>
          <p:cNvSpPr/>
          <p:nvPr/>
        </p:nvSpPr>
        <p:spPr>
          <a:xfrm>
            <a:off x="3300984" y="2834640"/>
            <a:ext cx="2542032" cy="19202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Don't fire solutions at AI. Instead: 'Before you suggest anything, ask me questions one at a time.' Let it pull your thinking out. Less input, more exploration.</a:t>
            </a:r>
            <a:endParaRPr lang="en-US" sz="1100" dirty="0"/>
          </a:p>
        </p:txBody>
      </p:sp>
      <p:sp>
        <p:nvSpPr>
          <p:cNvPr id="15" name="Shape 13"/>
          <p:cNvSpPr/>
          <p:nvPr/>
        </p:nvSpPr>
        <p:spPr>
          <a:xfrm>
            <a:off x="6071616" y="1993392"/>
            <a:ext cx="2724912" cy="2880360"/>
          </a:xfrm>
          <a:prstGeom prst="rect">
            <a:avLst/>
          </a:prstGeom>
          <a:solidFill>
            <a:srgbClr val="FFFFFF"/>
          </a:solidFill>
          <a:ln/>
          <a:effectLst>
            <a:outerShdw blurRad="76200" dist="25400" dir="8100000" algn="bl" rotWithShape="0">
              <a:srgbClr val="000000">
                <a:alpha val="15000"/>
              </a:srgbClr>
            </a:outerShdw>
          </a:effectLst>
        </p:spPr>
        <p:txBody>
          <a:bodyPr/>
          <a:lstStyle/>
          <a:p>
            <a:endParaRPr lang="en-US"/>
          </a:p>
        </p:txBody>
      </p:sp>
      <p:sp>
        <p:nvSpPr>
          <p:cNvPr id="16" name="Shape 14"/>
          <p:cNvSpPr/>
          <p:nvPr/>
        </p:nvSpPr>
        <p:spPr>
          <a:xfrm>
            <a:off x="6071616" y="1993392"/>
            <a:ext cx="2724912" cy="457200"/>
          </a:xfrm>
          <a:prstGeom prst="rect">
            <a:avLst/>
          </a:prstGeom>
          <a:solidFill>
            <a:srgbClr val="2C5F2D"/>
          </a:solidFill>
          <a:ln/>
        </p:spPr>
        <p:txBody>
          <a:bodyPr/>
          <a:lstStyle/>
          <a:p>
            <a:endParaRPr lang="en-US"/>
          </a:p>
        </p:txBody>
      </p:sp>
      <p:sp>
        <p:nvSpPr>
          <p:cNvPr id="17" name="Text 15"/>
          <p:cNvSpPr/>
          <p:nvPr/>
        </p:nvSpPr>
        <p:spPr>
          <a:xfrm>
            <a:off x="6163056" y="1993392"/>
            <a:ext cx="2542032" cy="457200"/>
          </a:xfrm>
          <a:prstGeom prst="rect">
            <a:avLst/>
          </a:prstGeom>
          <a:noFill/>
          <a:ln/>
        </p:spPr>
        <p:txBody>
          <a:bodyPr wrap="square" rtlCol="0" anchor="ctr"/>
          <a:lstStyle/>
          <a:p>
            <a:pPr marL="0" indent="0">
              <a:buNone/>
            </a:pPr>
            <a:r>
              <a:rPr lang="en-US" sz="1500" b="1" dirty="0">
                <a:solidFill>
                  <a:srgbClr val="FFFFFF"/>
                </a:solidFill>
                <a:latin typeface="Arial Black" pitchFamily="34" charset="0"/>
                <a:ea typeface="Arial Black" pitchFamily="34" charset="-122"/>
                <a:cs typeface="Arial Black" pitchFamily="34" charset="-120"/>
              </a:rPr>
              <a:t>CHALLENGE</a:t>
            </a:r>
            <a:endParaRPr lang="en-US" sz="1500" dirty="0"/>
          </a:p>
        </p:txBody>
      </p:sp>
      <p:sp>
        <p:nvSpPr>
          <p:cNvPr id="18" name="Text 16"/>
          <p:cNvSpPr/>
          <p:nvPr/>
        </p:nvSpPr>
        <p:spPr>
          <a:xfrm>
            <a:off x="6163056" y="2505456"/>
            <a:ext cx="2542032" cy="292608"/>
          </a:xfrm>
          <a:prstGeom prst="rect">
            <a:avLst/>
          </a:prstGeom>
          <a:noFill/>
          <a:ln/>
        </p:spPr>
        <p:txBody>
          <a:bodyPr wrap="square" rtlCol="0" anchor="ctr"/>
          <a:lstStyle/>
          <a:p>
            <a:pPr marL="0" indent="0">
              <a:buNone/>
            </a:pPr>
            <a:r>
              <a:rPr lang="en-US" sz="950" b="1" i="1" dirty="0">
                <a:solidFill>
                  <a:srgbClr val="2C5F2D"/>
                </a:solidFill>
                <a:latin typeface="Calibri" pitchFamily="34" charset="0"/>
                <a:ea typeface="Calibri" pitchFamily="34" charset="-122"/>
                <a:cs typeface="Calibri" pitchFamily="34" charset="-120"/>
              </a:rPr>
              <a:t>Stress-test, don't settle</a:t>
            </a:r>
            <a:endParaRPr lang="en-US" sz="950" dirty="0"/>
          </a:p>
        </p:txBody>
      </p:sp>
      <p:sp>
        <p:nvSpPr>
          <p:cNvPr id="19" name="Text 17"/>
          <p:cNvSpPr/>
          <p:nvPr/>
        </p:nvSpPr>
        <p:spPr>
          <a:xfrm>
            <a:off x="6163056" y="2834640"/>
            <a:ext cx="2542032" cy="19202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Push back on the first answer. 'Rate this out of 10. Explain why. Now make it a 10.' The real gold is in the third or fourth exchange — not the first.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772E"/>
          </a:solidFill>
          <a:ln/>
        </p:spPr>
        <p:txBody>
          <a:bodyPr/>
          <a:lstStyle/>
          <a:p>
            <a:endParaRPr lang="en-US"/>
          </a:p>
        </p:txBody>
      </p:sp>
      <p:sp>
        <p:nvSpPr>
          <p:cNvPr id="3" name="Text 1"/>
          <p:cNvSpPr/>
          <p:nvPr/>
        </p:nvSpPr>
        <p:spPr>
          <a:xfrm>
            <a:off x="640080" y="137160"/>
            <a:ext cx="8229600" cy="4572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C³: THE AI MULTIPLIER</a:t>
            </a:r>
            <a:endParaRPr lang="en-US" sz="2800" dirty="0"/>
          </a:p>
        </p:txBody>
      </p:sp>
      <p:pic>
        <p:nvPicPr>
          <p:cNvPr id="4" name="Image 0" descr="/home/claude/venn-ccc.png"/>
          <p:cNvPicPr>
            <a:picLocks noChangeAspect="1"/>
          </p:cNvPicPr>
          <p:nvPr/>
        </p:nvPicPr>
        <p:blipFill>
          <a:blip r:embed="rId3"/>
          <a:stretch>
            <a:fillRect/>
          </a:stretch>
        </p:blipFill>
        <p:spPr>
          <a:xfrm>
            <a:off x="1371600" y="548640"/>
            <a:ext cx="6400800" cy="43891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EFE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4641A"/>
          </a:solidFill>
          <a:ln w="12700">
            <a:solidFill>
              <a:srgbClr val="D4641A"/>
            </a:solidFill>
            <a:prstDash val="solid"/>
          </a:ln>
        </p:spPr>
        <p:txBody>
          <a:bodyPr/>
          <a:lstStyle/>
          <a:p>
            <a:endParaRPr lang="en-US"/>
          </a:p>
        </p:txBody>
      </p:sp>
      <p:sp>
        <p:nvSpPr>
          <p:cNvPr id="3" name="Text 1"/>
          <p:cNvSpPr/>
          <p:nvPr/>
        </p:nvSpPr>
        <p:spPr>
          <a:xfrm>
            <a:off x="347472" y="566928"/>
            <a:ext cx="8412480" cy="640080"/>
          </a:xfrm>
          <a:prstGeom prst="rect">
            <a:avLst/>
          </a:prstGeom>
          <a:noFill/>
          <a:ln/>
        </p:spPr>
        <p:txBody>
          <a:bodyPr wrap="square" rtlCol="0" anchor="ctr"/>
          <a:lstStyle/>
          <a:p>
            <a:pPr marL="0" indent="0">
              <a:buNone/>
            </a:pPr>
            <a:r>
              <a:rPr lang="en-US" sz="2600" b="1" dirty="0">
                <a:solidFill>
                  <a:srgbClr val="0D1B2A"/>
                </a:solidFill>
                <a:latin typeface="Arial Black" pitchFamily="34" charset="0"/>
                <a:ea typeface="Arial Black" pitchFamily="34" charset="-122"/>
                <a:cs typeface="Arial Black" pitchFamily="34" charset="-120"/>
              </a:rPr>
              <a:t>WHAT EACH COMBINATION GIVES YOU</a:t>
            </a:r>
            <a:endParaRPr lang="en-US" sz="2600" dirty="0"/>
          </a:p>
        </p:txBody>
      </p:sp>
      <p:sp>
        <p:nvSpPr>
          <p:cNvPr id="4" name="Shape 2"/>
          <p:cNvSpPr/>
          <p:nvPr/>
        </p:nvSpPr>
        <p:spPr>
          <a:xfrm>
            <a:off x="347472" y="1325880"/>
            <a:ext cx="8412480" cy="877824"/>
          </a:xfrm>
          <a:prstGeom prst="rect">
            <a:avLst/>
          </a:prstGeom>
          <a:solidFill>
            <a:srgbClr val="FFFFFF"/>
          </a:solidFill>
          <a:ln/>
          <a:effectLst>
            <a:outerShdw blurRad="76200" dist="25400" dir="8100000" algn="bl" rotWithShape="0">
              <a:srgbClr val="000000">
                <a:alpha val="15000"/>
              </a:srgbClr>
            </a:outerShdw>
          </a:effectLst>
        </p:spPr>
        <p:txBody>
          <a:bodyPr/>
          <a:lstStyle/>
          <a:p>
            <a:endParaRPr lang="en-US"/>
          </a:p>
        </p:txBody>
      </p:sp>
      <p:sp>
        <p:nvSpPr>
          <p:cNvPr id="5" name="Shape 3"/>
          <p:cNvSpPr/>
          <p:nvPr/>
        </p:nvSpPr>
        <p:spPr>
          <a:xfrm>
            <a:off x="347472" y="1325880"/>
            <a:ext cx="64008" cy="877824"/>
          </a:xfrm>
          <a:prstGeom prst="rect">
            <a:avLst/>
          </a:prstGeom>
          <a:solidFill>
            <a:srgbClr val="1A7A9E"/>
          </a:solidFill>
          <a:ln/>
        </p:spPr>
        <p:txBody>
          <a:bodyPr/>
          <a:lstStyle/>
          <a:p>
            <a:endParaRPr lang="en-US"/>
          </a:p>
        </p:txBody>
      </p:sp>
      <p:sp>
        <p:nvSpPr>
          <p:cNvPr id="6" name="Text 4"/>
          <p:cNvSpPr/>
          <p:nvPr/>
        </p:nvSpPr>
        <p:spPr>
          <a:xfrm>
            <a:off x="530352" y="1362456"/>
            <a:ext cx="3931920" cy="228600"/>
          </a:xfrm>
          <a:prstGeom prst="rect">
            <a:avLst/>
          </a:prstGeom>
          <a:noFill/>
          <a:ln/>
        </p:spPr>
        <p:txBody>
          <a:bodyPr wrap="square" rtlCol="0" anchor="ctr"/>
          <a:lstStyle/>
          <a:p>
            <a:pPr marL="0" indent="0">
              <a:buNone/>
            </a:pPr>
            <a:r>
              <a:rPr lang="en-US" sz="800" kern="0" spc="100" dirty="0">
                <a:solidFill>
                  <a:srgbClr val="6B7280"/>
                </a:solidFill>
                <a:latin typeface="Calibri" pitchFamily="34" charset="0"/>
                <a:ea typeface="Calibri" pitchFamily="34" charset="-122"/>
                <a:cs typeface="Calibri" pitchFamily="34" charset="-120"/>
              </a:rPr>
              <a:t>CLARITY + CURIOSITY</a:t>
            </a:r>
            <a:endParaRPr lang="en-US" sz="800" dirty="0"/>
          </a:p>
        </p:txBody>
      </p:sp>
      <p:sp>
        <p:nvSpPr>
          <p:cNvPr id="7" name="Text 5"/>
          <p:cNvSpPr/>
          <p:nvPr/>
        </p:nvSpPr>
        <p:spPr>
          <a:xfrm>
            <a:off x="530352" y="1581912"/>
            <a:ext cx="3931920" cy="320040"/>
          </a:xfrm>
          <a:prstGeom prst="rect">
            <a:avLst/>
          </a:prstGeom>
          <a:noFill/>
          <a:ln/>
        </p:spPr>
        <p:txBody>
          <a:bodyPr wrap="square" rtlCol="0" anchor="ctr"/>
          <a:lstStyle/>
          <a:p>
            <a:pPr marL="0" indent="0">
              <a:buNone/>
            </a:pPr>
            <a:r>
              <a:rPr lang="en-US" sz="1400" b="1" dirty="0">
                <a:solidFill>
                  <a:srgbClr val="1A7A9E"/>
                </a:solidFill>
                <a:latin typeface="Calibri" pitchFamily="34" charset="0"/>
                <a:ea typeface="Calibri" pitchFamily="34" charset="-122"/>
                <a:cs typeface="Calibri" pitchFamily="34" charset="-120"/>
              </a:rPr>
              <a:t>Smart Conversation</a:t>
            </a:r>
            <a:endParaRPr lang="en-US" sz="1400" dirty="0"/>
          </a:p>
        </p:txBody>
      </p:sp>
      <p:sp>
        <p:nvSpPr>
          <p:cNvPr id="8" name="Text 6"/>
          <p:cNvSpPr/>
          <p:nvPr/>
        </p:nvSpPr>
        <p:spPr>
          <a:xfrm>
            <a:off x="530352" y="1874520"/>
            <a:ext cx="3840480" cy="274320"/>
          </a:xfrm>
          <a:prstGeom prst="rect">
            <a:avLst/>
          </a:prstGeom>
          <a:noFill/>
          <a:ln/>
        </p:spPr>
        <p:txBody>
          <a:bodyPr wrap="square" rtlCol="0" anchor="ctr"/>
          <a:lstStyle/>
          <a:p>
            <a:pPr marL="0" indent="0">
              <a:buNone/>
            </a:pPr>
            <a:r>
              <a:rPr lang="en-US" sz="1000" dirty="0">
                <a:solidFill>
                  <a:srgbClr val="0D1B2A"/>
                </a:solidFill>
                <a:latin typeface="Calibri" pitchFamily="34" charset="0"/>
                <a:ea typeface="Calibri" pitchFamily="34" charset="-122"/>
                <a:cs typeface="Calibri" pitchFamily="34" charset="-120"/>
              </a:rPr>
              <a:t>You understand the problem and explore it well. Solid result.</a:t>
            </a:r>
            <a:endParaRPr lang="en-US" sz="1000" dirty="0"/>
          </a:p>
        </p:txBody>
      </p:sp>
      <p:sp>
        <p:nvSpPr>
          <p:cNvPr id="9" name="Shape 7"/>
          <p:cNvSpPr/>
          <p:nvPr/>
        </p:nvSpPr>
        <p:spPr>
          <a:xfrm>
            <a:off x="4434840" y="1435608"/>
            <a:ext cx="9144" cy="658368"/>
          </a:xfrm>
          <a:prstGeom prst="rect">
            <a:avLst/>
          </a:prstGeom>
          <a:solidFill>
            <a:srgbClr val="E5E7EB"/>
          </a:solidFill>
          <a:ln/>
        </p:spPr>
        <p:txBody>
          <a:bodyPr/>
          <a:lstStyle/>
          <a:p>
            <a:endParaRPr lang="en-US"/>
          </a:p>
        </p:txBody>
      </p:sp>
      <p:sp>
        <p:nvSpPr>
          <p:cNvPr id="10" name="Text 8"/>
          <p:cNvSpPr/>
          <p:nvPr/>
        </p:nvSpPr>
        <p:spPr>
          <a:xfrm>
            <a:off x="4572000" y="1362456"/>
            <a:ext cx="4023360" cy="274320"/>
          </a:xfrm>
          <a:prstGeom prst="rect">
            <a:avLst/>
          </a:prstGeom>
          <a:noFill/>
          <a:ln/>
        </p:spPr>
        <p:txBody>
          <a:bodyPr wrap="square" rtlCol="0" anchor="ctr"/>
          <a:lstStyle/>
          <a:p>
            <a:pPr marL="0" indent="0">
              <a:buNone/>
            </a:pPr>
            <a:r>
              <a:rPr lang="en-US" sz="1000" b="1" i="1" dirty="0">
                <a:solidFill>
                  <a:srgbClr val="6B7280"/>
                </a:solidFill>
                <a:latin typeface="Calibri" pitchFamily="34" charset="0"/>
                <a:ea typeface="Calibri" pitchFamily="34" charset="-122"/>
                <a:cs typeface="Calibri" pitchFamily="34" charset="-120"/>
              </a:rPr>
              <a:t>But without Challenge...</a:t>
            </a:r>
            <a:endParaRPr lang="en-US" sz="1000" dirty="0"/>
          </a:p>
        </p:txBody>
      </p:sp>
      <p:sp>
        <p:nvSpPr>
          <p:cNvPr id="11" name="Text 9"/>
          <p:cNvSpPr/>
          <p:nvPr/>
        </p:nvSpPr>
        <p:spPr>
          <a:xfrm>
            <a:off x="4572000" y="1645920"/>
            <a:ext cx="4023360" cy="502920"/>
          </a:xfrm>
          <a:prstGeom prst="rect">
            <a:avLst/>
          </a:prstGeom>
          <a:noFill/>
          <a:ln/>
        </p:spPr>
        <p:txBody>
          <a:bodyPr wrap="square" rtlCol="0" anchor="ctr"/>
          <a:lstStyle/>
          <a:p>
            <a:pPr marL="0" indent="0">
              <a:buNone/>
            </a:pPr>
            <a:r>
              <a:rPr lang="en-US" sz="1000" dirty="0">
                <a:solidFill>
                  <a:srgbClr val="0D1B2A"/>
                </a:solidFill>
                <a:latin typeface="Calibri" pitchFamily="34" charset="0"/>
                <a:ea typeface="Calibri" pitchFamily="34" charset="-122"/>
                <a:cs typeface="Calibri" pitchFamily="34" charset="-120"/>
              </a:rPr>
              <a:t>You accept the first answer. You get a good start — not a breakthrough.</a:t>
            </a:r>
            <a:endParaRPr lang="en-US" sz="1000" dirty="0"/>
          </a:p>
        </p:txBody>
      </p:sp>
      <p:sp>
        <p:nvSpPr>
          <p:cNvPr id="12" name="Shape 10"/>
          <p:cNvSpPr/>
          <p:nvPr/>
        </p:nvSpPr>
        <p:spPr>
          <a:xfrm>
            <a:off x="347472" y="2313432"/>
            <a:ext cx="8412480" cy="877824"/>
          </a:xfrm>
          <a:prstGeom prst="rect">
            <a:avLst/>
          </a:prstGeom>
          <a:solidFill>
            <a:srgbClr val="FFFFFF"/>
          </a:solidFill>
          <a:ln/>
          <a:effectLst>
            <a:outerShdw blurRad="76200" dist="25400" dir="8100000" algn="bl" rotWithShape="0">
              <a:srgbClr val="000000">
                <a:alpha val="15000"/>
              </a:srgbClr>
            </a:outerShdw>
          </a:effectLst>
        </p:spPr>
        <p:txBody>
          <a:bodyPr/>
          <a:lstStyle/>
          <a:p>
            <a:endParaRPr lang="en-US"/>
          </a:p>
        </p:txBody>
      </p:sp>
      <p:sp>
        <p:nvSpPr>
          <p:cNvPr id="13" name="Shape 11"/>
          <p:cNvSpPr/>
          <p:nvPr/>
        </p:nvSpPr>
        <p:spPr>
          <a:xfrm>
            <a:off x="347472" y="2313432"/>
            <a:ext cx="64008" cy="877824"/>
          </a:xfrm>
          <a:prstGeom prst="rect">
            <a:avLst/>
          </a:prstGeom>
          <a:solidFill>
            <a:srgbClr val="D4641A"/>
          </a:solidFill>
          <a:ln/>
        </p:spPr>
        <p:txBody>
          <a:bodyPr/>
          <a:lstStyle/>
          <a:p>
            <a:endParaRPr lang="en-US"/>
          </a:p>
        </p:txBody>
      </p:sp>
      <p:sp>
        <p:nvSpPr>
          <p:cNvPr id="14" name="Text 12"/>
          <p:cNvSpPr/>
          <p:nvPr/>
        </p:nvSpPr>
        <p:spPr>
          <a:xfrm>
            <a:off x="530352" y="2350008"/>
            <a:ext cx="3931920" cy="228600"/>
          </a:xfrm>
          <a:prstGeom prst="rect">
            <a:avLst/>
          </a:prstGeom>
          <a:noFill/>
          <a:ln/>
        </p:spPr>
        <p:txBody>
          <a:bodyPr wrap="square" rtlCol="0" anchor="ctr"/>
          <a:lstStyle/>
          <a:p>
            <a:pPr marL="0" indent="0">
              <a:buNone/>
            </a:pPr>
            <a:r>
              <a:rPr lang="en-US" sz="800" kern="0" spc="100" dirty="0">
                <a:solidFill>
                  <a:srgbClr val="6B7280"/>
                </a:solidFill>
                <a:latin typeface="Calibri" pitchFamily="34" charset="0"/>
                <a:ea typeface="Calibri" pitchFamily="34" charset="-122"/>
                <a:cs typeface="Calibri" pitchFamily="34" charset="-120"/>
              </a:rPr>
              <a:t>CURIOSITY + CHALLENGE</a:t>
            </a:r>
            <a:endParaRPr lang="en-US" sz="800" dirty="0"/>
          </a:p>
        </p:txBody>
      </p:sp>
      <p:sp>
        <p:nvSpPr>
          <p:cNvPr id="15" name="Text 13"/>
          <p:cNvSpPr/>
          <p:nvPr/>
        </p:nvSpPr>
        <p:spPr>
          <a:xfrm>
            <a:off x="530352" y="2569464"/>
            <a:ext cx="3931920" cy="320040"/>
          </a:xfrm>
          <a:prstGeom prst="rect">
            <a:avLst/>
          </a:prstGeom>
          <a:noFill/>
          <a:ln/>
        </p:spPr>
        <p:txBody>
          <a:bodyPr wrap="square" rtlCol="0" anchor="ctr"/>
          <a:lstStyle/>
          <a:p>
            <a:pPr marL="0" indent="0">
              <a:buNone/>
            </a:pPr>
            <a:r>
              <a:rPr lang="en-US" sz="1400" b="1" dirty="0">
                <a:solidFill>
                  <a:srgbClr val="D4641A"/>
                </a:solidFill>
                <a:latin typeface="Calibri" pitchFamily="34" charset="0"/>
                <a:ea typeface="Calibri" pitchFamily="34" charset="-122"/>
                <a:cs typeface="Calibri" pitchFamily="34" charset="-120"/>
              </a:rPr>
              <a:t>Creative Thinking</a:t>
            </a:r>
            <a:endParaRPr lang="en-US" sz="1400" dirty="0"/>
          </a:p>
        </p:txBody>
      </p:sp>
      <p:sp>
        <p:nvSpPr>
          <p:cNvPr id="16" name="Text 14"/>
          <p:cNvSpPr/>
          <p:nvPr/>
        </p:nvSpPr>
        <p:spPr>
          <a:xfrm>
            <a:off x="530352" y="2862072"/>
            <a:ext cx="3840480" cy="274320"/>
          </a:xfrm>
          <a:prstGeom prst="rect">
            <a:avLst/>
          </a:prstGeom>
          <a:noFill/>
          <a:ln/>
        </p:spPr>
        <p:txBody>
          <a:bodyPr wrap="square" rtlCol="0" anchor="ctr"/>
          <a:lstStyle/>
          <a:p>
            <a:pPr marL="0" indent="0">
              <a:buNone/>
            </a:pPr>
            <a:r>
              <a:rPr lang="en-US" sz="1000" dirty="0">
                <a:solidFill>
                  <a:srgbClr val="0D1B2A"/>
                </a:solidFill>
                <a:latin typeface="Calibri" pitchFamily="34" charset="0"/>
                <a:ea typeface="Calibri" pitchFamily="34" charset="-122"/>
                <a:cs typeface="Calibri" pitchFamily="34" charset="-120"/>
              </a:rPr>
              <a:t>You're exploring ideas and pushing boundaries. Lots of energy.</a:t>
            </a:r>
            <a:endParaRPr lang="en-US" sz="1000" dirty="0"/>
          </a:p>
        </p:txBody>
      </p:sp>
      <p:sp>
        <p:nvSpPr>
          <p:cNvPr id="17" name="Shape 15"/>
          <p:cNvSpPr/>
          <p:nvPr/>
        </p:nvSpPr>
        <p:spPr>
          <a:xfrm>
            <a:off x="4434840" y="2423160"/>
            <a:ext cx="9144" cy="658368"/>
          </a:xfrm>
          <a:prstGeom prst="rect">
            <a:avLst/>
          </a:prstGeom>
          <a:solidFill>
            <a:srgbClr val="E5E7EB"/>
          </a:solidFill>
          <a:ln/>
        </p:spPr>
        <p:txBody>
          <a:bodyPr/>
          <a:lstStyle/>
          <a:p>
            <a:endParaRPr lang="en-US"/>
          </a:p>
        </p:txBody>
      </p:sp>
      <p:sp>
        <p:nvSpPr>
          <p:cNvPr id="18" name="Text 16"/>
          <p:cNvSpPr/>
          <p:nvPr/>
        </p:nvSpPr>
        <p:spPr>
          <a:xfrm>
            <a:off x="4572000" y="2350008"/>
            <a:ext cx="4023360" cy="274320"/>
          </a:xfrm>
          <a:prstGeom prst="rect">
            <a:avLst/>
          </a:prstGeom>
          <a:noFill/>
          <a:ln/>
        </p:spPr>
        <p:txBody>
          <a:bodyPr wrap="square" rtlCol="0" anchor="ctr"/>
          <a:lstStyle/>
          <a:p>
            <a:pPr marL="0" indent="0">
              <a:buNone/>
            </a:pPr>
            <a:r>
              <a:rPr lang="en-US" sz="1000" b="1" i="1" dirty="0">
                <a:solidFill>
                  <a:srgbClr val="6B7280"/>
                </a:solidFill>
                <a:latin typeface="Calibri" pitchFamily="34" charset="0"/>
                <a:ea typeface="Calibri" pitchFamily="34" charset="-122"/>
                <a:cs typeface="Calibri" pitchFamily="34" charset="-120"/>
              </a:rPr>
              <a:t>But without Clarity...</a:t>
            </a:r>
            <a:endParaRPr lang="en-US" sz="1000" dirty="0"/>
          </a:p>
        </p:txBody>
      </p:sp>
      <p:sp>
        <p:nvSpPr>
          <p:cNvPr id="19" name="Text 17"/>
          <p:cNvSpPr/>
          <p:nvPr/>
        </p:nvSpPr>
        <p:spPr>
          <a:xfrm>
            <a:off x="4572000" y="2633472"/>
            <a:ext cx="4023360" cy="502920"/>
          </a:xfrm>
          <a:prstGeom prst="rect">
            <a:avLst/>
          </a:prstGeom>
          <a:noFill/>
          <a:ln/>
        </p:spPr>
        <p:txBody>
          <a:bodyPr wrap="square" rtlCol="0" anchor="ctr"/>
          <a:lstStyle/>
          <a:p>
            <a:pPr marL="0" indent="0">
              <a:buNone/>
            </a:pPr>
            <a:r>
              <a:rPr lang="en-US" sz="1000" dirty="0">
                <a:solidFill>
                  <a:srgbClr val="0D1B2A"/>
                </a:solidFill>
                <a:latin typeface="Calibri" pitchFamily="34" charset="0"/>
                <a:ea typeface="Calibri" pitchFamily="34" charset="-122"/>
                <a:cs typeface="Calibri" pitchFamily="34" charset="-120"/>
              </a:rPr>
              <a:t>You go deep on the wrong thing. Lots of effort, wrong direction.</a:t>
            </a:r>
            <a:endParaRPr lang="en-US" sz="1000" dirty="0"/>
          </a:p>
        </p:txBody>
      </p:sp>
      <p:sp>
        <p:nvSpPr>
          <p:cNvPr id="20" name="Shape 18"/>
          <p:cNvSpPr/>
          <p:nvPr/>
        </p:nvSpPr>
        <p:spPr>
          <a:xfrm>
            <a:off x="347472" y="3300984"/>
            <a:ext cx="8412480" cy="877824"/>
          </a:xfrm>
          <a:prstGeom prst="rect">
            <a:avLst/>
          </a:prstGeom>
          <a:solidFill>
            <a:srgbClr val="FFFFFF"/>
          </a:solidFill>
          <a:ln/>
          <a:effectLst>
            <a:outerShdw blurRad="76200" dist="25400" dir="8100000" algn="bl" rotWithShape="0">
              <a:srgbClr val="000000">
                <a:alpha val="15000"/>
              </a:srgbClr>
            </a:outerShdw>
          </a:effectLst>
        </p:spPr>
        <p:txBody>
          <a:bodyPr/>
          <a:lstStyle/>
          <a:p>
            <a:endParaRPr lang="en-US"/>
          </a:p>
        </p:txBody>
      </p:sp>
      <p:sp>
        <p:nvSpPr>
          <p:cNvPr id="21" name="Shape 19"/>
          <p:cNvSpPr/>
          <p:nvPr/>
        </p:nvSpPr>
        <p:spPr>
          <a:xfrm>
            <a:off x="347472" y="3300984"/>
            <a:ext cx="64008" cy="877824"/>
          </a:xfrm>
          <a:prstGeom prst="rect">
            <a:avLst/>
          </a:prstGeom>
          <a:solidFill>
            <a:srgbClr val="1A7A9E"/>
          </a:solidFill>
          <a:ln/>
        </p:spPr>
        <p:txBody>
          <a:bodyPr/>
          <a:lstStyle/>
          <a:p>
            <a:endParaRPr lang="en-US"/>
          </a:p>
        </p:txBody>
      </p:sp>
      <p:sp>
        <p:nvSpPr>
          <p:cNvPr id="22" name="Text 20"/>
          <p:cNvSpPr/>
          <p:nvPr/>
        </p:nvSpPr>
        <p:spPr>
          <a:xfrm>
            <a:off x="530352" y="3337560"/>
            <a:ext cx="3931920" cy="228600"/>
          </a:xfrm>
          <a:prstGeom prst="rect">
            <a:avLst/>
          </a:prstGeom>
          <a:noFill/>
          <a:ln/>
        </p:spPr>
        <p:txBody>
          <a:bodyPr wrap="square" rtlCol="0" anchor="ctr"/>
          <a:lstStyle/>
          <a:p>
            <a:pPr marL="0" indent="0">
              <a:buNone/>
            </a:pPr>
            <a:r>
              <a:rPr lang="en-US" sz="800" kern="0" spc="100" dirty="0">
                <a:solidFill>
                  <a:srgbClr val="6B7280"/>
                </a:solidFill>
                <a:latin typeface="Calibri" pitchFamily="34" charset="0"/>
                <a:ea typeface="Calibri" pitchFamily="34" charset="-122"/>
                <a:cs typeface="Calibri" pitchFamily="34" charset="-120"/>
              </a:rPr>
              <a:t>CLARITY + CHALLENGE</a:t>
            </a:r>
            <a:endParaRPr lang="en-US" sz="800" dirty="0"/>
          </a:p>
        </p:txBody>
      </p:sp>
      <p:sp>
        <p:nvSpPr>
          <p:cNvPr id="23" name="Text 21"/>
          <p:cNvSpPr/>
          <p:nvPr/>
        </p:nvSpPr>
        <p:spPr>
          <a:xfrm>
            <a:off x="530352" y="3557016"/>
            <a:ext cx="3931920" cy="320040"/>
          </a:xfrm>
          <a:prstGeom prst="rect">
            <a:avLst/>
          </a:prstGeom>
          <a:noFill/>
          <a:ln/>
        </p:spPr>
        <p:txBody>
          <a:bodyPr wrap="square" rtlCol="0" anchor="ctr"/>
          <a:lstStyle/>
          <a:p>
            <a:pPr marL="0" indent="0">
              <a:buNone/>
            </a:pPr>
            <a:r>
              <a:rPr lang="en-US" sz="1400" b="1" dirty="0">
                <a:solidFill>
                  <a:srgbClr val="1A7A9E"/>
                </a:solidFill>
                <a:latin typeface="Calibri" pitchFamily="34" charset="0"/>
                <a:ea typeface="Calibri" pitchFamily="34" charset="-122"/>
                <a:cs typeface="Calibri" pitchFamily="34" charset="-120"/>
              </a:rPr>
              <a:t>Focused Execution</a:t>
            </a:r>
            <a:endParaRPr lang="en-US" sz="1400" dirty="0"/>
          </a:p>
        </p:txBody>
      </p:sp>
      <p:sp>
        <p:nvSpPr>
          <p:cNvPr id="24" name="Text 22"/>
          <p:cNvSpPr/>
          <p:nvPr/>
        </p:nvSpPr>
        <p:spPr>
          <a:xfrm>
            <a:off x="530352" y="3849624"/>
            <a:ext cx="3840480" cy="274320"/>
          </a:xfrm>
          <a:prstGeom prst="rect">
            <a:avLst/>
          </a:prstGeom>
          <a:noFill/>
          <a:ln/>
        </p:spPr>
        <p:txBody>
          <a:bodyPr wrap="square" rtlCol="0" anchor="ctr"/>
          <a:lstStyle/>
          <a:p>
            <a:pPr marL="0" indent="0">
              <a:buNone/>
            </a:pPr>
            <a:r>
              <a:rPr lang="en-US" sz="1000" dirty="0">
                <a:solidFill>
                  <a:srgbClr val="0D1B2A"/>
                </a:solidFill>
                <a:latin typeface="Calibri" pitchFamily="34" charset="0"/>
                <a:ea typeface="Calibri" pitchFamily="34" charset="-122"/>
                <a:cs typeface="Calibri" pitchFamily="34" charset="-120"/>
              </a:rPr>
              <a:t>You know what you want and you're demanding quality.</a:t>
            </a:r>
            <a:endParaRPr lang="en-US" sz="1000" dirty="0"/>
          </a:p>
        </p:txBody>
      </p:sp>
      <p:sp>
        <p:nvSpPr>
          <p:cNvPr id="25" name="Shape 23"/>
          <p:cNvSpPr/>
          <p:nvPr/>
        </p:nvSpPr>
        <p:spPr>
          <a:xfrm>
            <a:off x="4434840" y="3410712"/>
            <a:ext cx="9144" cy="658368"/>
          </a:xfrm>
          <a:prstGeom prst="rect">
            <a:avLst/>
          </a:prstGeom>
          <a:solidFill>
            <a:srgbClr val="E5E7EB"/>
          </a:solidFill>
          <a:ln/>
        </p:spPr>
        <p:txBody>
          <a:bodyPr/>
          <a:lstStyle/>
          <a:p>
            <a:endParaRPr lang="en-US"/>
          </a:p>
        </p:txBody>
      </p:sp>
      <p:sp>
        <p:nvSpPr>
          <p:cNvPr id="26" name="Text 24"/>
          <p:cNvSpPr/>
          <p:nvPr/>
        </p:nvSpPr>
        <p:spPr>
          <a:xfrm>
            <a:off x="4572000" y="3337560"/>
            <a:ext cx="4023360" cy="274320"/>
          </a:xfrm>
          <a:prstGeom prst="rect">
            <a:avLst/>
          </a:prstGeom>
          <a:noFill/>
          <a:ln/>
        </p:spPr>
        <p:txBody>
          <a:bodyPr wrap="square" rtlCol="0" anchor="ctr"/>
          <a:lstStyle/>
          <a:p>
            <a:pPr marL="0" indent="0">
              <a:buNone/>
            </a:pPr>
            <a:r>
              <a:rPr lang="en-US" sz="1000" b="1" i="1" dirty="0">
                <a:solidFill>
                  <a:srgbClr val="6B7280"/>
                </a:solidFill>
                <a:latin typeface="Calibri" pitchFamily="34" charset="0"/>
                <a:ea typeface="Calibri" pitchFamily="34" charset="-122"/>
                <a:cs typeface="Calibri" pitchFamily="34" charset="-120"/>
              </a:rPr>
              <a:t>But without Curiosity...</a:t>
            </a:r>
            <a:endParaRPr lang="en-US" sz="1000" dirty="0"/>
          </a:p>
        </p:txBody>
      </p:sp>
      <p:sp>
        <p:nvSpPr>
          <p:cNvPr id="27" name="Text 25"/>
          <p:cNvSpPr/>
          <p:nvPr/>
        </p:nvSpPr>
        <p:spPr>
          <a:xfrm>
            <a:off x="4572000" y="3621024"/>
            <a:ext cx="4023360" cy="502920"/>
          </a:xfrm>
          <a:prstGeom prst="rect">
            <a:avLst/>
          </a:prstGeom>
          <a:noFill/>
          <a:ln/>
        </p:spPr>
        <p:txBody>
          <a:bodyPr wrap="square" rtlCol="0" anchor="ctr"/>
          <a:lstStyle/>
          <a:p>
            <a:pPr marL="0" indent="0">
              <a:buNone/>
            </a:pPr>
            <a:r>
              <a:rPr lang="en-US" sz="1000" dirty="0">
                <a:solidFill>
                  <a:srgbClr val="0D1B2A"/>
                </a:solidFill>
                <a:latin typeface="Calibri" pitchFamily="34" charset="0"/>
                <a:ea typeface="Calibri" pitchFamily="34" charset="-122"/>
                <a:cs typeface="Calibri" pitchFamily="34" charset="-120"/>
              </a:rPr>
              <a:t>You only get what you already knew to ask for. Limited by what you know.</a:t>
            </a:r>
            <a:endParaRPr lang="en-US" sz="1000" dirty="0"/>
          </a:p>
        </p:txBody>
      </p:sp>
      <p:sp>
        <p:nvSpPr>
          <p:cNvPr id="28" name="Shape 26"/>
          <p:cNvSpPr/>
          <p:nvPr/>
        </p:nvSpPr>
        <p:spPr>
          <a:xfrm>
            <a:off x="347472" y="4297680"/>
            <a:ext cx="8412480" cy="502920"/>
          </a:xfrm>
          <a:prstGeom prst="rect">
            <a:avLst/>
          </a:prstGeom>
          <a:solidFill>
            <a:srgbClr val="D4641A"/>
          </a:solidFill>
          <a:ln/>
        </p:spPr>
        <p:txBody>
          <a:bodyPr/>
          <a:lstStyle/>
          <a:p>
            <a:endParaRPr lang="en-US"/>
          </a:p>
        </p:txBody>
      </p:sp>
      <p:sp>
        <p:nvSpPr>
          <p:cNvPr id="29" name="Text 27"/>
          <p:cNvSpPr/>
          <p:nvPr/>
        </p:nvSpPr>
        <p:spPr>
          <a:xfrm>
            <a:off x="347472" y="4297680"/>
            <a:ext cx="8412480" cy="502920"/>
          </a:xfrm>
          <a:prstGeom prst="rect">
            <a:avLst/>
          </a:prstGeom>
          <a:noFill/>
          <a:ln/>
        </p:spPr>
        <p:txBody>
          <a:bodyPr wrap="square" rtlCol="0" anchor="ctr"/>
          <a:lstStyle/>
          <a:p>
            <a:pPr marL="0" indent="0" algn="ctr">
              <a:buNone/>
            </a:pPr>
            <a:r>
              <a:rPr lang="en-US" sz="1300" b="1" dirty="0">
                <a:solidFill>
                  <a:srgbClr val="FFFFFF"/>
                </a:solidFill>
              </a:rPr>
              <a:t>All three together = 10x Solutions. That's what we're building today.</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A7A9E"/>
          </a:solidFill>
          <a:ln w="12700">
            <a:solidFill>
              <a:srgbClr val="1A7A9E"/>
            </a:solidFill>
            <a:prstDash val="solid"/>
          </a:ln>
        </p:spPr>
      </p:sp>
      <p:sp>
        <p:nvSpPr>
          <p:cNvPr id="3" name="Text 1"/>
          <p:cNvSpPr/>
          <p:nvPr/>
        </p:nvSpPr>
        <p:spPr>
          <a:xfrm>
            <a:off x="347472" y="274320"/>
            <a:ext cx="8412480" cy="530352"/>
          </a:xfrm>
          <a:prstGeom prst="rect">
            <a:avLst/>
          </a:prstGeom>
          <a:noFill/>
          <a:ln/>
        </p:spPr>
        <p:txBody>
          <a:bodyPr wrap="square" rtlCol="0" anchor="ctr"/>
          <a:lstStyle/>
          <a:p>
            <a:pPr marL="0" indent="0">
              <a:buNone/>
            </a:pPr>
            <a:r>
              <a:rPr lang="en-US" sz="2400" b="1" dirty="0">
                <a:solidFill>
                  <a:srgbClr val="FFFFFF"/>
                </a:solidFill>
                <a:latin typeface="Arial Black" pitchFamily="34" charset="0"/>
                <a:ea typeface="Arial Black" pitchFamily="34" charset="-122"/>
                <a:cs typeface="Arial Black" pitchFamily="34" charset="-120"/>
              </a:rPr>
              <a:t>THE PHRASES THAT CHANGE THE CONVERSATION.</a:t>
            </a:r>
            <a:endParaRPr lang="en-US" sz="2400" dirty="0"/>
          </a:p>
        </p:txBody>
      </p:sp>
      <p:sp>
        <p:nvSpPr>
          <p:cNvPr id="4" name="Text 2"/>
          <p:cNvSpPr/>
          <p:nvPr/>
        </p:nvSpPr>
        <p:spPr>
          <a:xfrm>
            <a:off x="347472" y="804672"/>
            <a:ext cx="8412480" cy="274320"/>
          </a:xfrm>
          <a:prstGeom prst="rect">
            <a:avLst/>
          </a:prstGeom>
          <a:noFill/>
          <a:ln/>
        </p:spPr>
        <p:txBody>
          <a:bodyPr wrap="square" rtlCol="0" anchor="ctr"/>
          <a:lstStyle/>
          <a:p>
            <a:pPr marL="0" indent="0">
              <a:buNone/>
            </a:pPr>
            <a:r>
              <a:rPr lang="en-US" sz="1200" i="1" dirty="0">
                <a:solidFill>
                  <a:srgbClr val="AECBDC"/>
                </a:solidFill>
                <a:latin typeface="Calibri" pitchFamily="34" charset="0"/>
                <a:ea typeface="Calibri" pitchFamily="34" charset="-122"/>
                <a:cs typeface="Calibri" pitchFamily="34" charset="-120"/>
              </a:rPr>
              <a:t>Screenshot this. You'll use these in the next 20 minutes — and every session after.</a:t>
            </a:r>
            <a:endParaRPr lang="en-US" sz="1200" dirty="0"/>
          </a:p>
        </p:txBody>
      </p:sp>
      <p:sp>
        <p:nvSpPr>
          <p:cNvPr id="5" name="Shape 3"/>
          <p:cNvSpPr/>
          <p:nvPr/>
        </p:nvSpPr>
        <p:spPr>
          <a:xfrm>
            <a:off x="347472" y="1170432"/>
            <a:ext cx="2743200" cy="3730752"/>
          </a:xfrm>
          <a:prstGeom prst="rect">
            <a:avLst/>
          </a:prstGeom>
          <a:solidFill>
            <a:srgbClr val="1E2D3D"/>
          </a:solidFill>
          <a:ln/>
          <a:effectLst>
            <a:outerShdw blurRad="76200" dist="25400" dir="8100000" algn="bl" rotWithShape="0">
              <a:srgbClr val="000000">
                <a:alpha val="15000"/>
              </a:srgbClr>
            </a:outerShdw>
          </a:effectLst>
        </p:spPr>
      </p:sp>
      <p:sp>
        <p:nvSpPr>
          <p:cNvPr id="6" name="Shape 4"/>
          <p:cNvSpPr/>
          <p:nvPr/>
        </p:nvSpPr>
        <p:spPr>
          <a:xfrm>
            <a:off x="347472" y="1170432"/>
            <a:ext cx="2743200" cy="566928"/>
          </a:xfrm>
          <a:prstGeom prst="rect">
            <a:avLst/>
          </a:prstGeom>
          <a:solidFill>
            <a:srgbClr val="1A7A9E"/>
          </a:solidFill>
          <a:ln/>
        </p:spPr>
      </p:sp>
      <p:sp>
        <p:nvSpPr>
          <p:cNvPr id="7" name="Text 5"/>
          <p:cNvSpPr/>
          <p:nvPr/>
        </p:nvSpPr>
        <p:spPr>
          <a:xfrm>
            <a:off x="438912" y="1170432"/>
            <a:ext cx="365760" cy="274320"/>
          </a:xfrm>
          <a:prstGeom prst="rect">
            <a:avLst/>
          </a:prstGeom>
          <a:noFill/>
          <a:ln/>
        </p:spPr>
        <p:txBody>
          <a:bodyPr wrap="square" rtlCol="0" anchor="ctr"/>
          <a:lstStyle/>
          <a:p>
            <a:pPr marL="0" indent="0">
              <a:buNone/>
            </a:pPr>
            <a:r>
              <a:rPr lang="en-US" sz="900" b="1" dirty="0">
                <a:solidFill>
                  <a:srgbClr val="AECBDC"/>
                </a:solidFill>
                <a:latin typeface="Calibri" pitchFamily="34" charset="0"/>
                <a:ea typeface="Calibri" pitchFamily="34" charset="-122"/>
                <a:cs typeface="Calibri" pitchFamily="34" charset="-120"/>
              </a:rPr>
              <a:t>C¹</a:t>
            </a:r>
            <a:endParaRPr lang="en-US" sz="900" dirty="0"/>
          </a:p>
        </p:txBody>
      </p:sp>
      <p:sp>
        <p:nvSpPr>
          <p:cNvPr id="8" name="Text 6"/>
          <p:cNvSpPr/>
          <p:nvPr/>
        </p:nvSpPr>
        <p:spPr>
          <a:xfrm>
            <a:off x="438912" y="1298448"/>
            <a:ext cx="2468880" cy="274320"/>
          </a:xfrm>
          <a:prstGeom prst="rect">
            <a:avLst/>
          </a:prstGeom>
          <a:noFill/>
          <a:ln/>
        </p:spPr>
        <p:txBody>
          <a:bodyPr wrap="square"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CLARITY</a:t>
            </a:r>
            <a:endParaRPr lang="en-US" sz="1300" dirty="0"/>
          </a:p>
        </p:txBody>
      </p:sp>
      <p:sp>
        <p:nvSpPr>
          <p:cNvPr id="9" name="Text 7"/>
          <p:cNvSpPr/>
          <p:nvPr/>
        </p:nvSpPr>
        <p:spPr>
          <a:xfrm>
            <a:off x="438912" y="1737360"/>
            <a:ext cx="2560320" cy="201168"/>
          </a:xfrm>
          <a:prstGeom prst="rect">
            <a:avLst/>
          </a:prstGeom>
          <a:noFill/>
          <a:ln/>
        </p:spPr>
        <p:txBody>
          <a:bodyPr wrap="square" rtlCol="0" anchor="ctr"/>
          <a:lstStyle/>
          <a:p>
            <a:pPr marL="0" indent="0">
              <a:buNone/>
            </a:pPr>
            <a:r>
              <a:rPr lang="en-US" sz="850" i="1" dirty="0">
                <a:solidFill>
                  <a:srgbClr val="7EC8D8"/>
                </a:solidFill>
                <a:latin typeface="Calibri" pitchFamily="34" charset="0"/>
                <a:ea typeface="Calibri" pitchFamily="34" charset="-122"/>
                <a:cs typeface="Calibri" pitchFamily="34" charset="-120"/>
              </a:rPr>
              <a:t>Load the context</a:t>
            </a:r>
            <a:endParaRPr lang="en-US" sz="850" dirty="0"/>
          </a:p>
        </p:txBody>
      </p:sp>
      <p:sp>
        <p:nvSpPr>
          <p:cNvPr id="10" name="Shape 8"/>
          <p:cNvSpPr/>
          <p:nvPr/>
        </p:nvSpPr>
        <p:spPr>
          <a:xfrm>
            <a:off x="438912" y="1975104"/>
            <a:ext cx="2560320" cy="621792"/>
          </a:xfrm>
          <a:prstGeom prst="rect">
            <a:avLst/>
          </a:prstGeom>
          <a:solidFill>
            <a:srgbClr val="1C2E40"/>
          </a:solidFill>
          <a:ln w="12700">
            <a:solidFill>
              <a:srgbClr val="243448"/>
            </a:solidFill>
            <a:prstDash val="solid"/>
          </a:ln>
        </p:spPr>
      </p:sp>
      <p:sp>
        <p:nvSpPr>
          <p:cNvPr id="11" name="Text 9"/>
          <p:cNvSpPr/>
          <p:nvPr/>
        </p:nvSpPr>
        <p:spPr>
          <a:xfrm>
            <a:off x="512064" y="2029968"/>
            <a:ext cx="2450592" cy="512064"/>
          </a:xfrm>
          <a:prstGeom prst="rect">
            <a:avLst/>
          </a:prstGeom>
          <a:noFill/>
          <a:ln/>
        </p:spPr>
        <p:txBody>
          <a:bodyPr wrap="square" rtlCol="0" anchor="ctr"/>
          <a:lstStyle/>
          <a:p>
            <a:pPr marL="0" indent="0">
              <a:buNone/>
            </a:pPr>
            <a:r>
              <a:rPr lang="en-US" sz="950" dirty="0">
                <a:solidFill>
                  <a:srgbClr val="9CB3C8"/>
                </a:solidFill>
                <a:latin typeface="Calibri" pitchFamily="34" charset="0"/>
                <a:ea typeface="Calibri" pitchFamily="34" charset="-122"/>
                <a:cs typeface="Calibri" pitchFamily="34" charset="-120"/>
              </a:rPr>
              <a:t>"I'm a [role]. Here's my problem..."</a:t>
            </a:r>
            <a:endParaRPr lang="en-US" sz="950" dirty="0"/>
          </a:p>
        </p:txBody>
      </p:sp>
      <p:sp>
        <p:nvSpPr>
          <p:cNvPr id="12" name="Shape 10"/>
          <p:cNvSpPr/>
          <p:nvPr/>
        </p:nvSpPr>
        <p:spPr>
          <a:xfrm>
            <a:off x="438912" y="2697480"/>
            <a:ext cx="2560320" cy="621792"/>
          </a:xfrm>
          <a:prstGeom prst="rect">
            <a:avLst/>
          </a:prstGeom>
          <a:solidFill>
            <a:srgbClr val="1C2E40"/>
          </a:solidFill>
          <a:ln w="12700">
            <a:solidFill>
              <a:srgbClr val="243448"/>
            </a:solidFill>
            <a:prstDash val="solid"/>
          </a:ln>
        </p:spPr>
      </p:sp>
      <p:sp>
        <p:nvSpPr>
          <p:cNvPr id="13" name="Text 11"/>
          <p:cNvSpPr/>
          <p:nvPr/>
        </p:nvSpPr>
        <p:spPr>
          <a:xfrm>
            <a:off x="512064" y="2752344"/>
            <a:ext cx="2450592" cy="512064"/>
          </a:xfrm>
          <a:prstGeom prst="rect">
            <a:avLst/>
          </a:prstGeom>
          <a:noFill/>
          <a:ln/>
        </p:spPr>
        <p:txBody>
          <a:bodyPr wrap="square" rtlCol="0" anchor="ctr"/>
          <a:lstStyle/>
          <a:p>
            <a:pPr marL="0" indent="0">
              <a:buNone/>
            </a:pPr>
            <a:r>
              <a:rPr lang="en-US" sz="950" dirty="0">
                <a:solidFill>
                  <a:srgbClr val="9CB3C8"/>
                </a:solidFill>
                <a:latin typeface="Calibri" pitchFamily="34" charset="0"/>
                <a:ea typeface="Calibri" pitchFamily="34" charset="-122"/>
                <a:cs typeface="Calibri" pitchFamily="34" charset="-120"/>
              </a:rPr>
              <a:t>"Here's the current process step by step..."</a:t>
            </a:r>
            <a:endParaRPr lang="en-US" sz="950" dirty="0"/>
          </a:p>
        </p:txBody>
      </p:sp>
      <p:sp>
        <p:nvSpPr>
          <p:cNvPr id="14" name="Shape 12"/>
          <p:cNvSpPr/>
          <p:nvPr/>
        </p:nvSpPr>
        <p:spPr>
          <a:xfrm>
            <a:off x="438912" y="3419856"/>
            <a:ext cx="2560320" cy="621792"/>
          </a:xfrm>
          <a:prstGeom prst="rect">
            <a:avLst/>
          </a:prstGeom>
          <a:solidFill>
            <a:srgbClr val="1C2E40"/>
          </a:solidFill>
          <a:ln w="12700">
            <a:solidFill>
              <a:srgbClr val="243448"/>
            </a:solidFill>
            <a:prstDash val="solid"/>
          </a:ln>
        </p:spPr>
      </p:sp>
      <p:sp>
        <p:nvSpPr>
          <p:cNvPr id="15" name="Text 13"/>
          <p:cNvSpPr/>
          <p:nvPr/>
        </p:nvSpPr>
        <p:spPr>
          <a:xfrm>
            <a:off x="512064" y="3474720"/>
            <a:ext cx="2450592" cy="512064"/>
          </a:xfrm>
          <a:prstGeom prst="rect">
            <a:avLst/>
          </a:prstGeom>
          <a:noFill/>
          <a:ln/>
        </p:spPr>
        <p:txBody>
          <a:bodyPr wrap="square" rtlCol="0" anchor="ctr"/>
          <a:lstStyle/>
          <a:p>
            <a:pPr marL="0" indent="0">
              <a:buNone/>
            </a:pPr>
            <a:r>
              <a:rPr lang="en-US" sz="950" dirty="0">
                <a:solidFill>
                  <a:srgbClr val="9CB3C8"/>
                </a:solidFill>
                <a:latin typeface="Calibri" pitchFamily="34" charset="0"/>
                <a:ea typeface="Calibri" pitchFamily="34" charset="-122"/>
                <a:cs typeface="Calibri" pitchFamily="34" charset="-120"/>
              </a:rPr>
              <a:t>"The bottleneck is..."</a:t>
            </a:r>
            <a:endParaRPr lang="en-US" sz="950" dirty="0"/>
          </a:p>
        </p:txBody>
      </p:sp>
      <p:sp>
        <p:nvSpPr>
          <p:cNvPr id="16" name="Shape 14"/>
          <p:cNvSpPr/>
          <p:nvPr/>
        </p:nvSpPr>
        <p:spPr>
          <a:xfrm>
            <a:off x="438912" y="4142232"/>
            <a:ext cx="2560320" cy="621792"/>
          </a:xfrm>
          <a:prstGeom prst="rect">
            <a:avLst/>
          </a:prstGeom>
          <a:solidFill>
            <a:srgbClr val="1C2E40"/>
          </a:solidFill>
          <a:ln w="12700">
            <a:solidFill>
              <a:srgbClr val="243448"/>
            </a:solidFill>
            <a:prstDash val="solid"/>
          </a:ln>
        </p:spPr>
      </p:sp>
      <p:sp>
        <p:nvSpPr>
          <p:cNvPr id="17" name="Text 15"/>
          <p:cNvSpPr/>
          <p:nvPr/>
        </p:nvSpPr>
        <p:spPr>
          <a:xfrm>
            <a:off x="512064" y="4197096"/>
            <a:ext cx="2450592" cy="512064"/>
          </a:xfrm>
          <a:prstGeom prst="rect">
            <a:avLst/>
          </a:prstGeom>
          <a:noFill/>
          <a:ln/>
        </p:spPr>
        <p:txBody>
          <a:bodyPr wrap="square" rtlCol="0" anchor="ctr"/>
          <a:lstStyle/>
          <a:p>
            <a:pPr marL="0" indent="0">
              <a:buNone/>
            </a:pPr>
            <a:r>
              <a:rPr lang="en-US" sz="950" dirty="0">
                <a:solidFill>
                  <a:srgbClr val="9CB3C8"/>
                </a:solidFill>
                <a:latin typeface="Calibri" pitchFamily="34" charset="0"/>
                <a:ea typeface="Calibri" pitchFamily="34" charset="-122"/>
                <a:cs typeface="Calibri" pitchFamily="34" charset="-120"/>
              </a:rPr>
              <a:t>"The tools we already use are..."</a:t>
            </a:r>
            <a:endParaRPr lang="en-US" sz="950" dirty="0"/>
          </a:p>
        </p:txBody>
      </p:sp>
      <p:sp>
        <p:nvSpPr>
          <p:cNvPr id="18" name="Shape 16"/>
          <p:cNvSpPr/>
          <p:nvPr/>
        </p:nvSpPr>
        <p:spPr>
          <a:xfrm>
            <a:off x="3246120" y="1170432"/>
            <a:ext cx="2743200" cy="3730752"/>
          </a:xfrm>
          <a:prstGeom prst="rect">
            <a:avLst/>
          </a:prstGeom>
          <a:solidFill>
            <a:srgbClr val="1E2D3D"/>
          </a:solidFill>
          <a:ln/>
          <a:effectLst>
            <a:outerShdw blurRad="76200" dist="25400" dir="8100000" algn="bl" rotWithShape="0">
              <a:srgbClr val="000000">
                <a:alpha val="15000"/>
              </a:srgbClr>
            </a:outerShdw>
          </a:effectLst>
        </p:spPr>
      </p:sp>
      <p:sp>
        <p:nvSpPr>
          <p:cNvPr id="19" name="Shape 17"/>
          <p:cNvSpPr/>
          <p:nvPr/>
        </p:nvSpPr>
        <p:spPr>
          <a:xfrm>
            <a:off x="3246120" y="1170432"/>
            <a:ext cx="2743200" cy="566928"/>
          </a:xfrm>
          <a:prstGeom prst="rect">
            <a:avLst/>
          </a:prstGeom>
          <a:solidFill>
            <a:srgbClr val="D4641A"/>
          </a:solidFill>
          <a:ln/>
        </p:spPr>
      </p:sp>
      <p:sp>
        <p:nvSpPr>
          <p:cNvPr id="20" name="Text 18"/>
          <p:cNvSpPr/>
          <p:nvPr/>
        </p:nvSpPr>
        <p:spPr>
          <a:xfrm>
            <a:off x="3337560" y="1170432"/>
            <a:ext cx="365760" cy="274320"/>
          </a:xfrm>
          <a:prstGeom prst="rect">
            <a:avLst/>
          </a:prstGeom>
          <a:noFill/>
          <a:ln/>
        </p:spPr>
        <p:txBody>
          <a:bodyPr wrap="square" rtlCol="0" anchor="ctr"/>
          <a:lstStyle/>
          <a:p>
            <a:pPr marL="0" indent="0">
              <a:buNone/>
            </a:pPr>
            <a:r>
              <a:rPr lang="en-US" sz="900" b="1" dirty="0">
                <a:solidFill>
                  <a:srgbClr val="AECBDC"/>
                </a:solidFill>
                <a:latin typeface="Calibri" pitchFamily="34" charset="0"/>
                <a:ea typeface="Calibri" pitchFamily="34" charset="-122"/>
                <a:cs typeface="Calibri" pitchFamily="34" charset="-120"/>
              </a:rPr>
              <a:t>C²</a:t>
            </a:r>
            <a:endParaRPr lang="en-US" sz="900" dirty="0"/>
          </a:p>
        </p:txBody>
      </p:sp>
      <p:sp>
        <p:nvSpPr>
          <p:cNvPr id="21" name="Text 19"/>
          <p:cNvSpPr/>
          <p:nvPr/>
        </p:nvSpPr>
        <p:spPr>
          <a:xfrm>
            <a:off x="3337560" y="1298448"/>
            <a:ext cx="2468880" cy="274320"/>
          </a:xfrm>
          <a:prstGeom prst="rect">
            <a:avLst/>
          </a:prstGeom>
          <a:noFill/>
          <a:ln/>
        </p:spPr>
        <p:txBody>
          <a:bodyPr wrap="square"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CURIOSITY</a:t>
            </a:r>
            <a:endParaRPr lang="en-US" sz="1300" dirty="0"/>
          </a:p>
        </p:txBody>
      </p:sp>
      <p:sp>
        <p:nvSpPr>
          <p:cNvPr id="22" name="Text 20"/>
          <p:cNvSpPr/>
          <p:nvPr/>
        </p:nvSpPr>
        <p:spPr>
          <a:xfrm>
            <a:off x="3337560" y="1737360"/>
            <a:ext cx="2560320" cy="201168"/>
          </a:xfrm>
          <a:prstGeom prst="rect">
            <a:avLst/>
          </a:prstGeom>
          <a:noFill/>
          <a:ln/>
        </p:spPr>
        <p:txBody>
          <a:bodyPr wrap="square" rtlCol="0" anchor="ctr"/>
          <a:lstStyle/>
          <a:p>
            <a:pPr marL="0" indent="0">
              <a:buNone/>
            </a:pPr>
            <a:r>
              <a:rPr lang="en-US" sz="850" i="1" dirty="0">
                <a:solidFill>
                  <a:srgbClr val="E8A060"/>
                </a:solidFill>
                <a:latin typeface="Calibri" pitchFamily="34" charset="0"/>
                <a:ea typeface="Calibri" pitchFamily="34" charset="-122"/>
                <a:cs typeface="Calibri" pitchFamily="34" charset="-120"/>
              </a:rPr>
              <a:t>Let AI investigate</a:t>
            </a:r>
            <a:endParaRPr lang="en-US" sz="850" dirty="0"/>
          </a:p>
        </p:txBody>
      </p:sp>
      <p:sp>
        <p:nvSpPr>
          <p:cNvPr id="23" name="Shape 21"/>
          <p:cNvSpPr/>
          <p:nvPr/>
        </p:nvSpPr>
        <p:spPr>
          <a:xfrm>
            <a:off x="3337560" y="1975104"/>
            <a:ext cx="2560320" cy="621792"/>
          </a:xfrm>
          <a:prstGeom prst="rect">
            <a:avLst/>
          </a:prstGeom>
          <a:solidFill>
            <a:srgbClr val="1A3A2A"/>
          </a:solidFill>
          <a:ln w="19050">
            <a:solidFill>
              <a:srgbClr val="2C5F2D"/>
            </a:solidFill>
            <a:prstDash val="solid"/>
          </a:ln>
        </p:spPr>
      </p:sp>
      <p:sp>
        <p:nvSpPr>
          <p:cNvPr id="24" name="Shape 22"/>
          <p:cNvSpPr/>
          <p:nvPr/>
        </p:nvSpPr>
        <p:spPr>
          <a:xfrm>
            <a:off x="3337560" y="1975104"/>
            <a:ext cx="45720" cy="621792"/>
          </a:xfrm>
          <a:prstGeom prst="rect">
            <a:avLst/>
          </a:prstGeom>
          <a:solidFill>
            <a:srgbClr val="D4641A"/>
          </a:solidFill>
          <a:ln/>
        </p:spPr>
      </p:sp>
      <p:sp>
        <p:nvSpPr>
          <p:cNvPr id="25" name="Text 23"/>
          <p:cNvSpPr/>
          <p:nvPr/>
        </p:nvSpPr>
        <p:spPr>
          <a:xfrm>
            <a:off x="3447288" y="2029968"/>
            <a:ext cx="2377440" cy="512064"/>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"Before answering, ask me questions one at a time"</a:t>
            </a:r>
            <a:endParaRPr lang="en-US" sz="950" dirty="0"/>
          </a:p>
        </p:txBody>
      </p:sp>
      <p:sp>
        <p:nvSpPr>
          <p:cNvPr id="26" name="Shape 24"/>
          <p:cNvSpPr/>
          <p:nvPr/>
        </p:nvSpPr>
        <p:spPr>
          <a:xfrm>
            <a:off x="3337560" y="2697480"/>
            <a:ext cx="2560320" cy="621792"/>
          </a:xfrm>
          <a:prstGeom prst="rect">
            <a:avLst/>
          </a:prstGeom>
          <a:solidFill>
            <a:srgbClr val="1C2E40"/>
          </a:solidFill>
          <a:ln w="12700">
            <a:solidFill>
              <a:srgbClr val="243448"/>
            </a:solidFill>
            <a:prstDash val="solid"/>
          </a:ln>
        </p:spPr>
      </p:sp>
      <p:sp>
        <p:nvSpPr>
          <p:cNvPr id="27" name="Text 25"/>
          <p:cNvSpPr/>
          <p:nvPr/>
        </p:nvSpPr>
        <p:spPr>
          <a:xfrm>
            <a:off x="3410712" y="2752344"/>
            <a:ext cx="2450592" cy="512064"/>
          </a:xfrm>
          <a:prstGeom prst="rect">
            <a:avLst/>
          </a:prstGeom>
          <a:noFill/>
          <a:ln/>
        </p:spPr>
        <p:txBody>
          <a:bodyPr wrap="square" rtlCol="0" anchor="ctr"/>
          <a:lstStyle/>
          <a:p>
            <a:pPr marL="0" indent="0">
              <a:buNone/>
            </a:pPr>
            <a:r>
              <a:rPr lang="en-US" sz="950" dirty="0">
                <a:solidFill>
                  <a:srgbClr val="9CB3C8"/>
                </a:solidFill>
                <a:latin typeface="Calibri" pitchFamily="34" charset="0"/>
                <a:ea typeface="Calibri" pitchFamily="34" charset="-122"/>
                <a:cs typeface="Calibri" pitchFamily="34" charset="-120"/>
              </a:rPr>
              <a:t>"What am I not thinking about?"</a:t>
            </a:r>
            <a:endParaRPr lang="en-US" sz="950" dirty="0"/>
          </a:p>
        </p:txBody>
      </p:sp>
      <p:sp>
        <p:nvSpPr>
          <p:cNvPr id="28" name="Shape 26"/>
          <p:cNvSpPr/>
          <p:nvPr/>
        </p:nvSpPr>
        <p:spPr>
          <a:xfrm>
            <a:off x="3337560" y="3419856"/>
            <a:ext cx="2560320" cy="621792"/>
          </a:xfrm>
          <a:prstGeom prst="rect">
            <a:avLst/>
          </a:prstGeom>
          <a:solidFill>
            <a:srgbClr val="1C2E40"/>
          </a:solidFill>
          <a:ln w="12700">
            <a:solidFill>
              <a:srgbClr val="243448"/>
            </a:solidFill>
            <a:prstDash val="solid"/>
          </a:ln>
        </p:spPr>
      </p:sp>
      <p:sp>
        <p:nvSpPr>
          <p:cNvPr id="29" name="Text 27"/>
          <p:cNvSpPr/>
          <p:nvPr/>
        </p:nvSpPr>
        <p:spPr>
          <a:xfrm>
            <a:off x="3410712" y="3474720"/>
            <a:ext cx="2450592" cy="512064"/>
          </a:xfrm>
          <a:prstGeom prst="rect">
            <a:avLst/>
          </a:prstGeom>
          <a:noFill/>
          <a:ln/>
        </p:spPr>
        <p:txBody>
          <a:bodyPr wrap="square" rtlCol="0" anchor="ctr"/>
          <a:lstStyle/>
          <a:p>
            <a:pPr marL="0" indent="0">
              <a:buNone/>
            </a:pPr>
            <a:r>
              <a:rPr lang="en-US" sz="950" dirty="0">
                <a:solidFill>
                  <a:srgbClr val="9CB3C8"/>
                </a:solidFill>
                <a:latin typeface="Calibri" pitchFamily="34" charset="0"/>
                <a:ea typeface="Calibri" pitchFamily="34" charset="-122"/>
                <a:cs typeface="Calibri" pitchFamily="34" charset="-120"/>
              </a:rPr>
              <a:t>"What would an expert do differently?"</a:t>
            </a:r>
            <a:endParaRPr lang="en-US" sz="950" dirty="0"/>
          </a:p>
        </p:txBody>
      </p:sp>
      <p:sp>
        <p:nvSpPr>
          <p:cNvPr id="30" name="Shape 28"/>
          <p:cNvSpPr/>
          <p:nvPr/>
        </p:nvSpPr>
        <p:spPr>
          <a:xfrm>
            <a:off x="3337560" y="4142232"/>
            <a:ext cx="2560320" cy="621792"/>
          </a:xfrm>
          <a:prstGeom prst="rect">
            <a:avLst/>
          </a:prstGeom>
          <a:solidFill>
            <a:srgbClr val="1C2E40"/>
          </a:solidFill>
          <a:ln w="12700">
            <a:solidFill>
              <a:srgbClr val="243448"/>
            </a:solidFill>
            <a:prstDash val="solid"/>
          </a:ln>
        </p:spPr>
      </p:sp>
      <p:sp>
        <p:nvSpPr>
          <p:cNvPr id="31" name="Text 29"/>
          <p:cNvSpPr/>
          <p:nvPr/>
        </p:nvSpPr>
        <p:spPr>
          <a:xfrm>
            <a:off x="3410712" y="4197096"/>
            <a:ext cx="2450592" cy="512064"/>
          </a:xfrm>
          <a:prstGeom prst="rect">
            <a:avLst/>
          </a:prstGeom>
          <a:noFill/>
          <a:ln/>
        </p:spPr>
        <p:txBody>
          <a:bodyPr wrap="square" rtlCol="0" anchor="ctr"/>
          <a:lstStyle/>
          <a:p>
            <a:pPr marL="0" indent="0">
              <a:buNone/>
            </a:pPr>
            <a:r>
              <a:rPr lang="en-US" sz="950" dirty="0">
                <a:solidFill>
                  <a:srgbClr val="9CB3C8"/>
                </a:solidFill>
                <a:latin typeface="Calibri" pitchFamily="34" charset="0"/>
                <a:ea typeface="Calibri" pitchFamily="34" charset="-122"/>
                <a:cs typeface="Calibri" pitchFamily="34" charset="-120"/>
              </a:rPr>
              <a:t>"Give me 3 options and explain the trade-offs"</a:t>
            </a:r>
            <a:endParaRPr lang="en-US" sz="950" dirty="0"/>
          </a:p>
        </p:txBody>
      </p:sp>
      <p:sp>
        <p:nvSpPr>
          <p:cNvPr id="32" name="Shape 30"/>
          <p:cNvSpPr/>
          <p:nvPr/>
        </p:nvSpPr>
        <p:spPr>
          <a:xfrm>
            <a:off x="6144768" y="1170432"/>
            <a:ext cx="2743200" cy="3730752"/>
          </a:xfrm>
          <a:prstGeom prst="rect">
            <a:avLst/>
          </a:prstGeom>
          <a:solidFill>
            <a:srgbClr val="1E2D3D"/>
          </a:solidFill>
          <a:ln/>
          <a:effectLst>
            <a:outerShdw blurRad="76200" dist="25400" dir="8100000" algn="bl" rotWithShape="0">
              <a:srgbClr val="000000">
                <a:alpha val="15000"/>
              </a:srgbClr>
            </a:outerShdw>
          </a:effectLst>
        </p:spPr>
      </p:sp>
      <p:sp>
        <p:nvSpPr>
          <p:cNvPr id="33" name="Shape 31"/>
          <p:cNvSpPr/>
          <p:nvPr/>
        </p:nvSpPr>
        <p:spPr>
          <a:xfrm>
            <a:off x="6144768" y="1170432"/>
            <a:ext cx="2743200" cy="566928"/>
          </a:xfrm>
          <a:prstGeom prst="rect">
            <a:avLst/>
          </a:prstGeom>
          <a:solidFill>
            <a:srgbClr val="2C5F2D"/>
          </a:solidFill>
          <a:ln/>
        </p:spPr>
      </p:sp>
      <p:sp>
        <p:nvSpPr>
          <p:cNvPr id="34" name="Text 32"/>
          <p:cNvSpPr/>
          <p:nvPr/>
        </p:nvSpPr>
        <p:spPr>
          <a:xfrm>
            <a:off x="6236208" y="1170432"/>
            <a:ext cx="365760" cy="274320"/>
          </a:xfrm>
          <a:prstGeom prst="rect">
            <a:avLst/>
          </a:prstGeom>
          <a:noFill/>
          <a:ln/>
        </p:spPr>
        <p:txBody>
          <a:bodyPr wrap="square" rtlCol="0" anchor="ctr"/>
          <a:lstStyle/>
          <a:p>
            <a:pPr marL="0" indent="0">
              <a:buNone/>
            </a:pPr>
            <a:r>
              <a:rPr lang="en-US" sz="900" b="1" dirty="0">
                <a:solidFill>
                  <a:srgbClr val="AECBDC"/>
                </a:solidFill>
                <a:latin typeface="Calibri" pitchFamily="34" charset="0"/>
                <a:ea typeface="Calibri" pitchFamily="34" charset="-122"/>
                <a:cs typeface="Calibri" pitchFamily="34" charset="-120"/>
              </a:rPr>
              <a:t>C³</a:t>
            </a:r>
            <a:endParaRPr lang="en-US" sz="900" dirty="0"/>
          </a:p>
        </p:txBody>
      </p:sp>
      <p:sp>
        <p:nvSpPr>
          <p:cNvPr id="35" name="Text 33"/>
          <p:cNvSpPr/>
          <p:nvPr/>
        </p:nvSpPr>
        <p:spPr>
          <a:xfrm>
            <a:off x="6236208" y="1298448"/>
            <a:ext cx="2468880" cy="274320"/>
          </a:xfrm>
          <a:prstGeom prst="rect">
            <a:avLst/>
          </a:prstGeom>
          <a:noFill/>
          <a:ln/>
        </p:spPr>
        <p:txBody>
          <a:bodyPr wrap="square"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CHALLENGE</a:t>
            </a:r>
            <a:endParaRPr lang="en-US" sz="1300" dirty="0"/>
          </a:p>
        </p:txBody>
      </p:sp>
      <p:sp>
        <p:nvSpPr>
          <p:cNvPr id="36" name="Text 34"/>
          <p:cNvSpPr/>
          <p:nvPr/>
        </p:nvSpPr>
        <p:spPr>
          <a:xfrm>
            <a:off x="6236208" y="1737360"/>
            <a:ext cx="2560320" cy="201168"/>
          </a:xfrm>
          <a:prstGeom prst="rect">
            <a:avLst/>
          </a:prstGeom>
          <a:noFill/>
          <a:ln/>
        </p:spPr>
        <p:txBody>
          <a:bodyPr wrap="square" rtlCol="0" anchor="ctr"/>
          <a:lstStyle/>
          <a:p>
            <a:pPr marL="0" indent="0">
              <a:buNone/>
            </a:pPr>
            <a:r>
              <a:rPr lang="en-US" sz="850" i="1" dirty="0">
                <a:solidFill>
                  <a:srgbClr val="5DB87A"/>
                </a:solidFill>
                <a:latin typeface="Calibri" pitchFamily="34" charset="0"/>
                <a:ea typeface="Calibri" pitchFamily="34" charset="-122"/>
                <a:cs typeface="Calibri" pitchFamily="34" charset="-120"/>
              </a:rPr>
              <a:t>Push back — don't settle</a:t>
            </a:r>
            <a:endParaRPr lang="en-US" sz="850" dirty="0"/>
          </a:p>
        </p:txBody>
      </p:sp>
      <p:sp>
        <p:nvSpPr>
          <p:cNvPr id="37" name="Shape 35"/>
          <p:cNvSpPr/>
          <p:nvPr/>
        </p:nvSpPr>
        <p:spPr>
          <a:xfrm>
            <a:off x="6236208" y="1975104"/>
            <a:ext cx="2560320" cy="621792"/>
          </a:xfrm>
          <a:prstGeom prst="rect">
            <a:avLst/>
          </a:prstGeom>
          <a:solidFill>
            <a:srgbClr val="1C2E40"/>
          </a:solidFill>
          <a:ln w="12700">
            <a:solidFill>
              <a:srgbClr val="243448"/>
            </a:solidFill>
            <a:prstDash val="solid"/>
          </a:ln>
        </p:spPr>
      </p:sp>
      <p:sp>
        <p:nvSpPr>
          <p:cNvPr id="38" name="Text 36"/>
          <p:cNvSpPr/>
          <p:nvPr/>
        </p:nvSpPr>
        <p:spPr>
          <a:xfrm>
            <a:off x="6309360" y="2029968"/>
            <a:ext cx="2450592" cy="512064"/>
          </a:xfrm>
          <a:prstGeom prst="rect">
            <a:avLst/>
          </a:prstGeom>
          <a:noFill/>
          <a:ln/>
        </p:spPr>
        <p:txBody>
          <a:bodyPr wrap="square" rtlCol="0" anchor="ctr"/>
          <a:lstStyle/>
          <a:p>
            <a:pPr marL="0" indent="0">
              <a:buNone/>
            </a:pPr>
            <a:r>
              <a:rPr lang="en-US" sz="950" dirty="0">
                <a:solidFill>
                  <a:srgbClr val="9CB3C8"/>
                </a:solidFill>
                <a:latin typeface="Calibri" pitchFamily="34" charset="0"/>
                <a:ea typeface="Calibri" pitchFamily="34" charset="-122"/>
                <a:cs typeface="Calibri" pitchFamily="34" charset="-120"/>
              </a:rPr>
              <a:t>"What are the risks or edge cases?"</a:t>
            </a:r>
            <a:endParaRPr lang="en-US" sz="950" dirty="0"/>
          </a:p>
        </p:txBody>
      </p:sp>
      <p:sp>
        <p:nvSpPr>
          <p:cNvPr id="39" name="Shape 37"/>
          <p:cNvSpPr/>
          <p:nvPr/>
        </p:nvSpPr>
        <p:spPr>
          <a:xfrm>
            <a:off x="6236208" y="2697480"/>
            <a:ext cx="2560320" cy="621792"/>
          </a:xfrm>
          <a:prstGeom prst="rect">
            <a:avLst/>
          </a:prstGeom>
          <a:solidFill>
            <a:srgbClr val="1C2E40"/>
          </a:solidFill>
          <a:ln w="12700">
            <a:solidFill>
              <a:srgbClr val="243448"/>
            </a:solidFill>
            <a:prstDash val="solid"/>
          </a:ln>
        </p:spPr>
      </p:sp>
      <p:sp>
        <p:nvSpPr>
          <p:cNvPr id="40" name="Text 38"/>
          <p:cNvSpPr/>
          <p:nvPr/>
        </p:nvSpPr>
        <p:spPr>
          <a:xfrm>
            <a:off x="6309360" y="2752344"/>
            <a:ext cx="2450592" cy="512064"/>
          </a:xfrm>
          <a:prstGeom prst="rect">
            <a:avLst/>
          </a:prstGeom>
          <a:noFill/>
          <a:ln/>
        </p:spPr>
        <p:txBody>
          <a:bodyPr wrap="square" rtlCol="0" anchor="ctr"/>
          <a:lstStyle/>
          <a:p>
            <a:pPr marL="0" indent="0">
              <a:buNone/>
            </a:pPr>
            <a:r>
              <a:rPr lang="en-US" sz="950" dirty="0">
                <a:solidFill>
                  <a:srgbClr val="9CB3C8"/>
                </a:solidFill>
                <a:latin typeface="Calibri" pitchFamily="34" charset="0"/>
                <a:ea typeface="Calibri" pitchFamily="34" charset="-122"/>
                <a:cs typeface="Calibri" pitchFamily="34" charset="-120"/>
              </a:rPr>
              <a:t>"Rate this out of 10. Explain why. Make it a 10."</a:t>
            </a:r>
            <a:endParaRPr lang="en-US" sz="950" dirty="0"/>
          </a:p>
        </p:txBody>
      </p:sp>
      <p:sp>
        <p:nvSpPr>
          <p:cNvPr id="41" name="Shape 39"/>
          <p:cNvSpPr/>
          <p:nvPr/>
        </p:nvSpPr>
        <p:spPr>
          <a:xfrm>
            <a:off x="6236208" y="3419856"/>
            <a:ext cx="2560320" cy="621792"/>
          </a:xfrm>
          <a:prstGeom prst="rect">
            <a:avLst/>
          </a:prstGeom>
          <a:solidFill>
            <a:srgbClr val="1C2E40"/>
          </a:solidFill>
          <a:ln w="12700">
            <a:solidFill>
              <a:srgbClr val="243448"/>
            </a:solidFill>
            <a:prstDash val="solid"/>
          </a:ln>
        </p:spPr>
      </p:sp>
      <p:sp>
        <p:nvSpPr>
          <p:cNvPr id="42" name="Text 40"/>
          <p:cNvSpPr/>
          <p:nvPr/>
        </p:nvSpPr>
        <p:spPr>
          <a:xfrm>
            <a:off x="6309360" y="3474720"/>
            <a:ext cx="2450592" cy="512064"/>
          </a:xfrm>
          <a:prstGeom prst="rect">
            <a:avLst/>
          </a:prstGeom>
          <a:noFill/>
          <a:ln/>
        </p:spPr>
        <p:txBody>
          <a:bodyPr wrap="square" rtlCol="0" anchor="ctr"/>
          <a:lstStyle/>
          <a:p>
            <a:pPr marL="0" indent="0">
              <a:buNone/>
            </a:pPr>
            <a:r>
              <a:rPr lang="en-US" sz="950" dirty="0">
                <a:solidFill>
                  <a:srgbClr val="9CB3C8"/>
                </a:solidFill>
                <a:latin typeface="Calibri" pitchFamily="34" charset="0"/>
                <a:ea typeface="Calibri" pitchFamily="34" charset="-122"/>
                <a:cs typeface="Calibri" pitchFamily="34" charset="-120"/>
              </a:rPr>
              <a:t>"What would you change if starting from scratch?"</a:t>
            </a:r>
            <a:endParaRPr lang="en-US" sz="950" dirty="0"/>
          </a:p>
        </p:txBody>
      </p:sp>
      <p:sp>
        <p:nvSpPr>
          <p:cNvPr id="43" name="Shape 41"/>
          <p:cNvSpPr/>
          <p:nvPr/>
        </p:nvSpPr>
        <p:spPr>
          <a:xfrm>
            <a:off x="6236208" y="4142232"/>
            <a:ext cx="2560320" cy="621792"/>
          </a:xfrm>
          <a:prstGeom prst="rect">
            <a:avLst/>
          </a:prstGeom>
          <a:solidFill>
            <a:srgbClr val="1C2E40"/>
          </a:solidFill>
          <a:ln w="12700">
            <a:solidFill>
              <a:srgbClr val="243448"/>
            </a:solidFill>
            <a:prstDash val="solid"/>
          </a:ln>
        </p:spPr>
      </p:sp>
      <p:sp>
        <p:nvSpPr>
          <p:cNvPr id="44" name="Text 42"/>
          <p:cNvSpPr/>
          <p:nvPr/>
        </p:nvSpPr>
        <p:spPr>
          <a:xfrm>
            <a:off x="6309360" y="4197096"/>
            <a:ext cx="2450592" cy="512064"/>
          </a:xfrm>
          <a:prstGeom prst="rect">
            <a:avLst/>
          </a:prstGeom>
          <a:noFill/>
          <a:ln/>
        </p:spPr>
        <p:txBody>
          <a:bodyPr wrap="square" rtlCol="0" anchor="ctr"/>
          <a:lstStyle/>
          <a:p>
            <a:pPr marL="0" indent="0">
              <a:buNone/>
            </a:pPr>
            <a:r>
              <a:rPr lang="en-US" sz="950" dirty="0">
                <a:solidFill>
                  <a:srgbClr val="9CB3C8"/>
                </a:solidFill>
                <a:latin typeface="Calibri" pitchFamily="34" charset="0"/>
                <a:ea typeface="Calibri" pitchFamily="34" charset="-122"/>
                <a:cs typeface="Calibri" pitchFamily="34" charset="-120"/>
              </a:rPr>
              <a:t>"Poke holes in this. What's missing?"</a:t>
            </a:r>
            <a:endParaRPr lang="en-US" sz="950" dirty="0"/>
          </a:p>
        </p:txBody>
      </p:sp>
      <p:sp>
        <p:nvSpPr>
          <p:cNvPr id="45" name="Shape 43"/>
          <p:cNvSpPr/>
          <p:nvPr/>
        </p:nvSpPr>
        <p:spPr>
          <a:xfrm>
            <a:off x="347472" y="4965192"/>
            <a:ext cx="8412480" cy="274320"/>
          </a:xfrm>
          <a:prstGeom prst="rect">
            <a:avLst/>
          </a:prstGeom>
          <a:solidFill>
            <a:srgbClr val="0F2D45"/>
          </a:solidFill>
          <a:ln/>
        </p:spPr>
      </p:sp>
      <p:sp>
        <p:nvSpPr>
          <p:cNvPr id="46" name="Shape 44"/>
          <p:cNvSpPr/>
          <p:nvPr/>
        </p:nvSpPr>
        <p:spPr>
          <a:xfrm>
            <a:off x="347472" y="4965192"/>
            <a:ext cx="54864" cy="274320"/>
          </a:xfrm>
          <a:prstGeom prst="rect">
            <a:avLst/>
          </a:prstGeom>
          <a:solidFill>
            <a:srgbClr val="D4641A"/>
          </a:solidFill>
          <a:ln/>
        </p:spPr>
      </p:sp>
      <p:sp>
        <p:nvSpPr>
          <p:cNvPr id="47" name="Text 45"/>
          <p:cNvSpPr/>
          <p:nvPr/>
        </p:nvSpPr>
        <p:spPr>
          <a:xfrm>
            <a:off x="530352" y="4965192"/>
            <a:ext cx="8229600" cy="274320"/>
          </a:xfrm>
          <a:prstGeom prst="rect">
            <a:avLst/>
          </a:prstGeom>
          <a:noFill/>
          <a:ln/>
        </p:spPr>
        <p:txBody>
          <a:bodyPr wrap="square" rtlCol="0" anchor="ctr"/>
          <a:lstStyle/>
          <a:p>
            <a:pPr marL="0" indent="0">
              <a:buNone/>
            </a:pPr>
            <a:r>
              <a:rPr lang="en-US" sz="950" dirty="0">
                <a:solidFill>
                  <a:srgbClr val="AECBDC"/>
                </a:solidFill>
                <a:latin typeface="Calibri" pitchFamily="34" charset="0"/>
                <a:ea typeface="Calibri" pitchFamily="34" charset="-122"/>
                <a:cs typeface="Calibri" pitchFamily="34" charset="-120"/>
              </a:rPr>
              <a:t>The starred phrase is the most important one in this session: </a:t>
            </a:r>
            <a:r>
              <a:rPr lang="en-US" sz="950" b="1" dirty="0">
                <a:solidFill>
                  <a:srgbClr val="FFFFFF"/>
                </a:solidFill>
                <a:latin typeface="Calibri" pitchFamily="34" charset="0"/>
                <a:ea typeface="Calibri" pitchFamily="34" charset="-122"/>
                <a:cs typeface="Calibri" pitchFamily="34" charset="-120"/>
              </a:rPr>
              <a:t>"Before answering, ask me questions one at a time."</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A7A9E"/>
          </a:solidFill>
          <a:ln w="12700">
            <a:solidFill>
              <a:srgbClr val="1A7A9E"/>
            </a:solidFill>
            <a:prstDash val="solid"/>
          </a:ln>
        </p:spPr>
      </p:sp>
      <p:sp>
        <p:nvSpPr>
          <p:cNvPr id="3" name="Text 1"/>
          <p:cNvSpPr/>
          <p:nvPr/>
        </p:nvSpPr>
        <p:spPr>
          <a:xfrm>
            <a:off x="347472" y="274320"/>
            <a:ext cx="8412480" cy="530352"/>
          </a:xfrm>
          <a:prstGeom prst="rect">
            <a:avLst/>
          </a:prstGeom>
          <a:noFill/>
          <a:ln/>
        </p:spPr>
        <p:txBody>
          <a:bodyPr wrap="square"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NOW TAKE IT INTO PHASE 2.</a:t>
            </a:r>
            <a:endParaRPr lang="en-US" sz="2800" dirty="0"/>
          </a:p>
        </p:txBody>
      </p:sp>
      <p:sp>
        <p:nvSpPr>
          <p:cNvPr id="4" name="Text 2"/>
          <p:cNvSpPr/>
          <p:nvPr/>
        </p:nvSpPr>
        <p:spPr>
          <a:xfrm>
            <a:off x="347472" y="804672"/>
            <a:ext cx="8412480" cy="274320"/>
          </a:xfrm>
          <a:prstGeom prst="rect">
            <a:avLst/>
          </a:prstGeom>
          <a:noFill/>
          <a:ln/>
        </p:spPr>
        <p:txBody>
          <a:bodyPr wrap="square" rtlCol="0" anchor="ctr"/>
          <a:lstStyle/>
          <a:p>
            <a:pPr marL="0" indent="0">
              <a:buNone/>
            </a:pPr>
            <a:r>
              <a:rPr lang="en-US" sz="1200" i="1" dirty="0">
                <a:solidFill>
                  <a:srgbClr val="AECBDC"/>
                </a:solidFill>
                <a:latin typeface="Calibri" pitchFamily="34" charset="0"/>
                <a:ea typeface="Calibri" pitchFamily="34" charset="-122"/>
                <a:cs typeface="Calibri" pitchFamily="34" charset="-120"/>
              </a:rPr>
              <a:t>You don't need to remember everything. Ask AI to do that for you.</a:t>
            </a:r>
            <a:endParaRPr lang="en-US" sz="1200" dirty="0"/>
          </a:p>
        </p:txBody>
      </p:sp>
      <p:sp>
        <p:nvSpPr>
          <p:cNvPr id="5" name="Shape 3"/>
          <p:cNvSpPr/>
          <p:nvPr/>
        </p:nvSpPr>
        <p:spPr>
          <a:xfrm>
            <a:off x="347472" y="1143000"/>
            <a:ext cx="8412480" cy="3401568"/>
          </a:xfrm>
          <a:prstGeom prst="rect">
            <a:avLst/>
          </a:prstGeom>
          <a:solidFill>
            <a:srgbClr val="1E2D3D"/>
          </a:solidFill>
          <a:ln w="19050">
            <a:solidFill>
              <a:srgbClr val="1A7A9E"/>
            </a:solidFill>
            <a:prstDash val="solid"/>
          </a:ln>
        </p:spPr>
      </p:sp>
      <p:sp>
        <p:nvSpPr>
          <p:cNvPr id="6" name="Shape 4"/>
          <p:cNvSpPr/>
          <p:nvPr/>
        </p:nvSpPr>
        <p:spPr>
          <a:xfrm>
            <a:off x="347472" y="1143000"/>
            <a:ext cx="8412480" cy="347472"/>
          </a:xfrm>
          <a:prstGeom prst="rect">
            <a:avLst/>
          </a:prstGeom>
          <a:solidFill>
            <a:srgbClr val="1A7A9E"/>
          </a:solidFill>
          <a:ln/>
        </p:spPr>
      </p:sp>
      <p:sp>
        <p:nvSpPr>
          <p:cNvPr id="7" name="Text 5"/>
          <p:cNvSpPr/>
          <p:nvPr/>
        </p:nvSpPr>
        <p:spPr>
          <a:xfrm>
            <a:off x="502920" y="1143000"/>
            <a:ext cx="8229600" cy="347472"/>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PHASE 2 PROMPT  --  send this immediately after Phase 1</a:t>
            </a:r>
            <a:endParaRPr lang="en-US" sz="950" dirty="0"/>
          </a:p>
        </p:txBody>
      </p:sp>
      <p:sp>
        <p:nvSpPr>
          <p:cNvPr id="8" name="Text 6"/>
          <p:cNvSpPr/>
          <p:nvPr/>
        </p:nvSpPr>
        <p:spPr>
          <a:xfrm>
            <a:off x="566928" y="1554480"/>
            <a:ext cx="8092440" cy="2907792"/>
          </a:xfrm>
          <a:prstGeom prst="rect">
            <a:avLst/>
          </a:prstGeom>
          <a:noFill/>
          <a:ln/>
        </p:spPr>
        <p:txBody>
          <a:bodyPr wrap="square" rtlCol="0" anchor="t"/>
          <a:lstStyle/>
          <a:p>
            <a:pPr marL="0" indent="0">
              <a:buNone/>
            </a:pPr>
            <a:r>
              <a:rPr lang="en-US" sz="1100" b="1" dirty="0">
                <a:solidFill>
                  <a:srgbClr val="FFFFFF"/>
                </a:solidFill>
                <a:latin typeface="Courier New" pitchFamily="34" charset="0"/>
                <a:ea typeface="Courier New" pitchFamily="34" charset="-122"/>
                <a:cs typeface="Courier New" pitchFamily="34" charset="-120"/>
              </a:rPr>
              <a:t>Good. Before you suggest any solutions —
</a:t>
            </a:r>
            <a:r>
              <a:rPr lang="en-US" sz="1100" dirty="0">
                <a:solidFill>
                  <a:srgbClr val="CBD5E0"/>
                </a:solidFill>
                <a:latin typeface="Courier New" pitchFamily="34" charset="0"/>
                <a:ea typeface="Courier New" pitchFamily="34" charset="-122"/>
                <a:cs typeface="Courier New" pitchFamily="34" charset="-120"/>
              </a:rPr>
              <a:t>Summarise back to me what you've understood about my problem so far.
Then ask me anything you're still not sure about, one question at a time.
Once you feel confident you understand it — restate the real problem in 2 sentences I'd agree are exactly right.
</a:t>
            </a:r>
            <a:r>
              <a:rPr lang="en-US" sz="1100" b="1" dirty="0">
                <a:solidFill>
                  <a:srgbClr val="FFFFFF"/>
                </a:solidFill>
                <a:latin typeface="Courier New" pitchFamily="34" charset="0"/>
                <a:ea typeface="Courier New" pitchFamily="34" charset="-122"/>
                <a:cs typeface="Courier New" pitchFamily="34" charset="-120"/>
              </a:rPr>
              <a:t>Only then ask me if you can start suggesting solutions.</a:t>
            </a:r>
            <a:endParaRPr lang="en-US" sz="1100" dirty="0"/>
          </a:p>
        </p:txBody>
      </p:sp>
      <p:sp>
        <p:nvSpPr>
          <p:cNvPr id="9" name="Shape 7"/>
          <p:cNvSpPr/>
          <p:nvPr/>
        </p:nvSpPr>
        <p:spPr>
          <a:xfrm>
            <a:off x="347472" y="4608576"/>
            <a:ext cx="8412480" cy="530352"/>
          </a:xfrm>
          <a:prstGeom prst="rect">
            <a:avLst/>
          </a:prstGeom>
          <a:solidFill>
            <a:srgbClr val="0F2D45"/>
          </a:solidFill>
          <a:ln/>
        </p:spPr>
      </p:sp>
      <p:sp>
        <p:nvSpPr>
          <p:cNvPr id="10" name="Shape 8"/>
          <p:cNvSpPr/>
          <p:nvPr/>
        </p:nvSpPr>
        <p:spPr>
          <a:xfrm>
            <a:off x="347472" y="4608576"/>
            <a:ext cx="54864" cy="530352"/>
          </a:xfrm>
          <a:prstGeom prst="rect">
            <a:avLst/>
          </a:prstGeom>
          <a:solidFill>
            <a:srgbClr val="1A7A9E"/>
          </a:solidFill>
          <a:ln/>
        </p:spPr>
      </p:sp>
      <p:sp>
        <p:nvSpPr>
          <p:cNvPr id="11" name="Text 9"/>
          <p:cNvSpPr/>
          <p:nvPr/>
        </p:nvSpPr>
        <p:spPr>
          <a:xfrm>
            <a:off x="530352" y="4608576"/>
            <a:ext cx="8229600" cy="530352"/>
          </a:xfrm>
          <a:prstGeom prst="rect">
            <a:avLst/>
          </a:prstGeom>
          <a:noFill/>
          <a:ln/>
        </p:spPr>
        <p:txBody>
          <a:bodyPr wrap="square" rtlCol="0" anchor="ctr"/>
          <a:lstStyle/>
          <a:p>
            <a:pPr marL="0" indent="0">
              <a:buNone/>
            </a:pPr>
            <a:r>
              <a:rPr lang="en-US" sz="1100" i="1" dirty="0">
                <a:solidFill>
                  <a:srgbClr val="AECBDC"/>
                </a:solidFill>
                <a:latin typeface="Calibri" pitchFamily="34" charset="0"/>
                <a:ea typeface="Calibri" pitchFamily="34" charset="-122"/>
                <a:cs typeface="Calibri" pitchFamily="34" charset="-120"/>
              </a:rPr>
              <a:t>AI now does the remembering. Sarah just says yes or no — and the conversation deepens.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A7A9E"/>
          </a:solidFill>
          <a:ln w="12700">
            <a:solidFill>
              <a:srgbClr val="1A7A9E"/>
            </a:solidFill>
            <a:prstDash val="solid"/>
          </a:ln>
        </p:spPr>
      </p:sp>
      <p:sp>
        <p:nvSpPr>
          <p:cNvPr id="3" name="Shape 1"/>
          <p:cNvSpPr/>
          <p:nvPr/>
        </p:nvSpPr>
        <p:spPr>
          <a:xfrm>
            <a:off x="347472" y="1097280"/>
            <a:ext cx="8412480" cy="2651760"/>
          </a:xfrm>
          <a:prstGeom prst="rect">
            <a:avLst/>
          </a:prstGeom>
          <a:solidFill>
            <a:srgbClr val="1E2D3D"/>
          </a:solidFill>
          <a:ln/>
          <a:effectLst>
            <a:outerShdw blurRad="76200" dist="25400" dir="8100000" algn="bl" rotWithShape="0">
              <a:srgbClr val="000000">
                <a:alpha val="15000"/>
              </a:srgbClr>
            </a:outerShdw>
          </a:effectLst>
        </p:spPr>
      </p:sp>
      <p:sp>
        <p:nvSpPr>
          <p:cNvPr id="4" name="Shape 2"/>
          <p:cNvSpPr/>
          <p:nvPr/>
        </p:nvSpPr>
        <p:spPr>
          <a:xfrm>
            <a:off x="347472" y="1097280"/>
            <a:ext cx="8412480" cy="54864"/>
          </a:xfrm>
          <a:prstGeom prst="rect">
            <a:avLst/>
          </a:prstGeom>
          <a:solidFill>
            <a:srgbClr val="1A7A9E"/>
          </a:solidFill>
          <a:ln/>
        </p:spPr>
      </p:sp>
      <p:sp>
        <p:nvSpPr>
          <p:cNvPr id="5" name="Text 3"/>
          <p:cNvSpPr/>
          <p:nvPr/>
        </p:nvSpPr>
        <p:spPr>
          <a:xfrm>
            <a:off x="530352" y="1261872"/>
            <a:ext cx="8046720" cy="2286000"/>
          </a:xfrm>
          <a:prstGeom prst="rect">
            <a:avLst/>
          </a:prstGeom>
          <a:noFill/>
          <a:ln/>
        </p:spPr>
        <p:txBody>
          <a:bodyPr wrap="square" rtlCol="0" anchor="ctr"/>
          <a:lstStyle/>
          <a:p>
            <a:pPr marL="0" indent="0" algn="ctr">
              <a:buNone/>
            </a:pPr>
            <a:r>
              <a:rPr lang="en-US" sz="2800" b="1" i="1" dirty="0">
                <a:solidFill>
                  <a:srgbClr val="FFFFFF"/>
                </a:solidFill>
                <a:latin typeface="Calibri" pitchFamily="34" charset="0"/>
                <a:ea typeface="Calibri" pitchFamily="34" charset="-122"/>
                <a:cs typeface="Calibri" pitchFamily="34" charset="-120"/>
              </a:rPr>
              <a:t>"Before you suggest anything,</a:t>
            </a:r>
            <a:endParaRPr lang="en-US" sz="2800" dirty="0"/>
          </a:p>
          <a:p>
            <a:pPr marL="0" indent="0" algn="ctr">
              <a:buNone/>
            </a:pPr>
            <a:r>
              <a:rPr lang="en-US" sz="2800" b="1" i="1" dirty="0">
                <a:solidFill>
                  <a:srgbClr val="FFFFFF"/>
                </a:solidFill>
                <a:latin typeface="Calibri" pitchFamily="34" charset="0"/>
                <a:ea typeface="Calibri" pitchFamily="34" charset="-122"/>
                <a:cs typeface="Calibri" pitchFamily="34" charset="-120"/>
              </a:rPr>
              <a:t>ask me questions one at a time."</a:t>
            </a:r>
            <a:endParaRPr lang="en-US" sz="2800" dirty="0"/>
          </a:p>
        </p:txBody>
      </p:sp>
      <p:sp>
        <p:nvSpPr>
          <p:cNvPr id="6" name="Text 4"/>
          <p:cNvSpPr/>
          <p:nvPr/>
        </p:nvSpPr>
        <p:spPr>
          <a:xfrm>
            <a:off x="347472" y="3931920"/>
            <a:ext cx="8412480" cy="457200"/>
          </a:xfrm>
          <a:prstGeom prst="rect">
            <a:avLst/>
          </a:prstGeom>
          <a:noFill/>
          <a:ln/>
        </p:spPr>
        <p:txBody>
          <a:bodyPr wrap="square" rtlCol="0" anchor="ctr"/>
          <a:lstStyle/>
          <a:p>
            <a:pPr marL="0" indent="0" algn="ctr">
              <a:buNone/>
            </a:pPr>
            <a:r>
              <a:rPr lang="en-US" sz="1400" dirty="0">
                <a:solidFill>
                  <a:srgbClr val="AECBDC"/>
                </a:solidFill>
                <a:latin typeface="Calibri" pitchFamily="34" charset="0"/>
                <a:ea typeface="Calibri" pitchFamily="34" charset="-122"/>
                <a:cs typeface="Calibri" pitchFamily="34" charset="-120"/>
              </a:rPr>
              <a:t>Copy this. Use it at the start of every important AI conversation.</a:t>
            </a:r>
            <a:endParaRPr lang="en-US" sz="1400" dirty="0"/>
          </a:p>
        </p:txBody>
      </p:sp>
      <p:sp>
        <p:nvSpPr>
          <p:cNvPr id="7" name="Shape 5"/>
          <p:cNvSpPr/>
          <p:nvPr/>
        </p:nvSpPr>
        <p:spPr>
          <a:xfrm>
            <a:off x="2743200" y="4526280"/>
            <a:ext cx="3657600" cy="54864"/>
          </a:xfrm>
          <a:prstGeom prst="rect">
            <a:avLst/>
          </a:prstGeom>
          <a:solidFill>
            <a:srgbClr val="D4641A"/>
          </a:solidFill>
          <a:ln/>
        </p:spPr>
      </p:sp>
      <p:sp>
        <p:nvSpPr>
          <p:cNvPr id="8" name="Text 6"/>
          <p:cNvSpPr/>
          <p:nvPr/>
        </p:nvSpPr>
        <p:spPr>
          <a:xfrm>
            <a:off x="347472" y="4663440"/>
            <a:ext cx="8412480" cy="457200"/>
          </a:xfrm>
          <a:prstGeom prst="rect">
            <a:avLst/>
          </a:prstGeom>
          <a:noFill/>
          <a:ln/>
        </p:spPr>
        <p:txBody>
          <a:bodyPr wrap="square"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This one shift — from answering to questioning — is where most people unlock 10x results.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EFE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A7A9E"/>
          </a:solidFill>
          <a:ln w="12700">
            <a:solidFill>
              <a:srgbClr val="1A7A9E"/>
            </a:solidFill>
            <a:prstDash val="solid"/>
          </a:ln>
        </p:spPr>
      </p:sp>
      <p:sp>
        <p:nvSpPr>
          <p:cNvPr id="3" name="Text 1"/>
          <p:cNvSpPr/>
          <p:nvPr/>
        </p:nvSpPr>
        <p:spPr>
          <a:xfrm>
            <a:off x="347472" y="530352"/>
            <a:ext cx="6400800" cy="548640"/>
          </a:xfrm>
          <a:prstGeom prst="rect">
            <a:avLst/>
          </a:prstGeom>
          <a:noFill/>
          <a:ln/>
        </p:spPr>
        <p:txBody>
          <a:bodyPr wrap="square" rtlCol="0" anchor="ctr"/>
          <a:lstStyle/>
          <a:p>
            <a:pPr marL="0" indent="0">
              <a:buNone/>
            </a:pPr>
            <a:r>
              <a:rPr lang="en-US" sz="2800" b="1" dirty="0">
                <a:solidFill>
                  <a:srgbClr val="0D1B2A"/>
                </a:solidFill>
                <a:latin typeface="Arial Black" pitchFamily="34" charset="0"/>
                <a:ea typeface="Arial Black" pitchFamily="34" charset="-122"/>
                <a:cs typeface="Arial Black" pitchFamily="34" charset="-120"/>
              </a:rPr>
              <a:t>C¹ CLARITY</a:t>
            </a:r>
            <a:endParaRPr lang="en-US" sz="2800" dirty="0"/>
          </a:p>
        </p:txBody>
      </p:sp>
      <p:sp>
        <p:nvSpPr>
          <p:cNvPr id="4" name="Shape 2"/>
          <p:cNvSpPr/>
          <p:nvPr/>
        </p:nvSpPr>
        <p:spPr>
          <a:xfrm>
            <a:off x="7498080" y="1719072"/>
            <a:ext cx="1234440" cy="292608"/>
          </a:xfrm>
          <a:prstGeom prst="rect">
            <a:avLst/>
          </a:prstGeom>
          <a:solidFill>
            <a:srgbClr val="1A7A9E"/>
          </a:solidFill>
          <a:ln w="12700">
            <a:solidFill>
              <a:srgbClr val="1A7A9E"/>
            </a:solidFill>
            <a:prstDash val="solid"/>
          </a:ln>
        </p:spPr>
      </p:sp>
      <p:sp>
        <p:nvSpPr>
          <p:cNvPr id="5" name="Text 3"/>
          <p:cNvSpPr/>
          <p:nvPr/>
        </p:nvSpPr>
        <p:spPr>
          <a:xfrm>
            <a:off x="7498080" y="1719072"/>
            <a:ext cx="1234440" cy="292608"/>
          </a:xfrm>
          <a:prstGeom prst="rect">
            <a:avLst/>
          </a:prstGeom>
          <a:noFill/>
          <a:ln/>
        </p:spPr>
        <p:txBody>
          <a:bodyPr wrap="square" rtlCol="0" anchor="ctr"/>
          <a:lstStyle/>
          <a:p>
            <a:pPr marL="0" indent="0" algn="ctr">
              <a:buNone/>
            </a:pPr>
            <a:r>
              <a:rPr lang="en-US" sz="850" b="1" dirty="0">
                <a:solidFill>
                  <a:srgbClr val="FFFFFF"/>
                </a:solidFill>
              </a:rPr>
              <a:t>C¹ CLARITY</a:t>
            </a:r>
            <a:endParaRPr lang="en-US" sz="850" dirty="0"/>
          </a:p>
        </p:txBody>
      </p:sp>
      <p:sp>
        <p:nvSpPr>
          <p:cNvPr id="6" name="Text 4"/>
          <p:cNvSpPr/>
          <p:nvPr/>
        </p:nvSpPr>
        <p:spPr>
          <a:xfrm>
            <a:off x="347472" y="1078992"/>
            <a:ext cx="8412480" cy="292608"/>
          </a:xfrm>
          <a:prstGeom prst="rect">
            <a:avLst/>
          </a:prstGeom>
          <a:noFill/>
          <a:ln/>
        </p:spPr>
        <p:txBody>
          <a:bodyPr wrap="square" rtlCol="0" anchor="ctr"/>
          <a:lstStyle/>
          <a:p>
            <a:pPr marL="0" indent="0">
              <a:buNone/>
            </a:pPr>
            <a:r>
              <a:rPr lang="en-US" sz="1200" i="1" dirty="0">
                <a:solidFill>
                  <a:srgbClr val="6B7280"/>
                </a:solidFill>
              </a:rPr>
              <a:t>AI has summarised the problem. Sarah confirms — and loads the full context to sharpen the conversation.</a:t>
            </a:r>
            <a:endParaRPr lang="en-US" sz="1200" dirty="0"/>
          </a:p>
        </p:txBody>
      </p:sp>
      <p:sp>
        <p:nvSpPr>
          <p:cNvPr id="7" name="Shape 5"/>
          <p:cNvSpPr/>
          <p:nvPr/>
        </p:nvSpPr>
        <p:spPr>
          <a:xfrm>
            <a:off x="347472" y="1417320"/>
            <a:ext cx="8412480" cy="3200400"/>
          </a:xfrm>
          <a:prstGeom prst="rect">
            <a:avLst/>
          </a:prstGeom>
          <a:solidFill>
            <a:srgbClr val="F8F9FA"/>
          </a:solidFill>
          <a:ln w="12700">
            <a:solidFill>
              <a:srgbClr val="E5E7EB"/>
            </a:solidFill>
            <a:prstDash val="solid"/>
          </a:ln>
          <a:effectLst>
            <a:outerShdw blurRad="76200" dist="25400" dir="8100000" algn="bl" rotWithShape="0">
              <a:srgbClr val="000000">
                <a:alpha val="15000"/>
              </a:srgbClr>
            </a:outerShdw>
          </a:effectLst>
        </p:spPr>
      </p:sp>
      <p:sp>
        <p:nvSpPr>
          <p:cNvPr id="8" name="Shape 6"/>
          <p:cNvSpPr/>
          <p:nvPr/>
        </p:nvSpPr>
        <p:spPr>
          <a:xfrm>
            <a:off x="347472" y="1417320"/>
            <a:ext cx="8412480" cy="365760"/>
          </a:xfrm>
          <a:prstGeom prst="rect">
            <a:avLst/>
          </a:prstGeom>
          <a:solidFill>
            <a:srgbClr val="E5E7EB"/>
          </a:solidFill>
          <a:ln/>
        </p:spPr>
      </p:sp>
      <p:sp>
        <p:nvSpPr>
          <p:cNvPr id="9" name="Text 7"/>
          <p:cNvSpPr/>
          <p:nvPr/>
        </p:nvSpPr>
        <p:spPr>
          <a:xfrm>
            <a:off x="502920" y="1417320"/>
            <a:ext cx="914400" cy="365760"/>
          </a:xfrm>
          <a:prstGeom prst="rect">
            <a:avLst/>
          </a:prstGeom>
          <a:noFill/>
          <a:ln/>
        </p:spPr>
        <p:txBody>
          <a:bodyPr wrap="square" rtlCol="0" anchor="ctr"/>
          <a:lstStyle/>
          <a:p>
            <a:pPr marL="0" indent="0">
              <a:buNone/>
            </a:pPr>
            <a:r>
              <a:rPr lang="en-US" sz="900" dirty="0">
                <a:solidFill>
                  <a:srgbClr val="9CA3AF"/>
                </a:solidFill>
              </a:rPr>
              <a:t>● ● ●</a:t>
            </a:r>
            <a:endParaRPr lang="en-US" sz="900" dirty="0"/>
          </a:p>
        </p:txBody>
      </p:sp>
      <p:sp>
        <p:nvSpPr>
          <p:cNvPr id="10" name="Text 8"/>
          <p:cNvSpPr/>
          <p:nvPr/>
        </p:nvSpPr>
        <p:spPr>
          <a:xfrm>
            <a:off x="3840480" y="1417320"/>
            <a:ext cx="1463040" cy="365760"/>
          </a:xfrm>
          <a:prstGeom prst="rect">
            <a:avLst/>
          </a:prstGeom>
          <a:noFill/>
          <a:ln/>
        </p:spPr>
        <p:txBody>
          <a:bodyPr wrap="square" rtlCol="0" anchor="ctr"/>
          <a:lstStyle/>
          <a:p>
            <a:pPr marL="0" indent="0" algn="ctr">
              <a:buNone/>
            </a:pPr>
            <a:r>
              <a:rPr lang="en-US" sz="1100" b="1" dirty="0">
                <a:solidFill>
                  <a:srgbClr val="0D1B2A"/>
                </a:solidFill>
              </a:rPr>
              <a:t>AI</a:t>
            </a:r>
            <a:endParaRPr lang="en-US" sz="1100" dirty="0"/>
          </a:p>
        </p:txBody>
      </p:sp>
      <p:sp>
        <p:nvSpPr>
          <p:cNvPr id="11" name="Shape 9"/>
          <p:cNvSpPr/>
          <p:nvPr/>
        </p:nvSpPr>
        <p:spPr>
          <a:xfrm>
            <a:off x="2926080" y="1901952"/>
            <a:ext cx="5760720" cy="1600200"/>
          </a:xfrm>
          <a:prstGeom prst="rect">
            <a:avLst/>
          </a:prstGeom>
          <a:solidFill>
            <a:srgbClr val="1A7A9E"/>
          </a:solidFill>
          <a:ln w="12700">
            <a:solidFill>
              <a:srgbClr val="1A7A9E"/>
            </a:solidFill>
            <a:prstDash val="solid"/>
          </a:ln>
        </p:spPr>
      </p:sp>
      <p:sp>
        <p:nvSpPr>
          <p:cNvPr id="12" name="Text 10"/>
          <p:cNvSpPr/>
          <p:nvPr/>
        </p:nvSpPr>
        <p:spPr>
          <a:xfrm>
            <a:off x="3035808" y="1956816"/>
            <a:ext cx="5577840" cy="1490472"/>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I'm an office manager at a trades business — 25 staff, subcontractors in and out.</a:t>
            </a:r>
            <a:endParaRPr lang="en-US" sz="1050" dirty="0"/>
          </a:p>
          <a:p>
            <a:pPr marL="0" indent="0">
              <a:buNone/>
            </a:pPr>
            <a:endParaRPr lang="en-US" sz="1050" dirty="0"/>
          </a:p>
          <a:p>
            <a:pPr marL="0" indent="0">
              <a:buNone/>
            </a:pPr>
            <a:r>
              <a:rPr lang="en-US" sz="1050" dirty="0">
                <a:solidFill>
                  <a:srgbClr val="FFFFFF"/>
                </a:solidFill>
                <a:latin typeface="Calibri" pitchFamily="34" charset="0"/>
                <a:ea typeface="Calibri" pitchFamily="34" charset="-122"/>
                <a:cs typeface="Calibri" pitchFamily="34" charset="-120"/>
              </a:rPr>
              <a:t>Compliance is a constant headache. No single owner, records in three places, certificates expire without warning.</a:t>
            </a:r>
            <a:endParaRPr lang="en-US" sz="1050" dirty="0"/>
          </a:p>
          <a:p>
            <a:pPr marL="0" indent="0">
              <a:buNone/>
            </a:pPr>
            <a:endParaRPr lang="en-US" sz="1050" dirty="0"/>
          </a:p>
          <a:p>
            <a:pPr marL="0" indent="0">
              <a:buNone/>
            </a:pPr>
            <a:r>
              <a:rPr lang="en-US" sz="1050" dirty="0">
                <a:solidFill>
                  <a:srgbClr val="FFFFFF"/>
                </a:solidFill>
                <a:latin typeface="Calibri" pitchFamily="34" charset="0"/>
                <a:ea typeface="Calibri" pitchFamily="34" charset="-122"/>
                <a:cs typeface="Calibri" pitchFamily="34" charset="-120"/>
              </a:rPr>
              <a:t>Before you suggest anything, ask me questions one at a time until you understand what's actually going wrong.</a:t>
            </a:r>
            <a:endParaRPr lang="en-US" sz="1050" dirty="0"/>
          </a:p>
        </p:txBody>
      </p:sp>
      <p:sp>
        <p:nvSpPr>
          <p:cNvPr id="13" name="Shape 11"/>
          <p:cNvSpPr/>
          <p:nvPr/>
        </p:nvSpPr>
        <p:spPr>
          <a:xfrm>
            <a:off x="365760" y="1993392"/>
            <a:ext cx="36576" cy="256032"/>
          </a:xfrm>
          <a:prstGeom prst="rect">
            <a:avLst/>
          </a:prstGeom>
          <a:solidFill>
            <a:srgbClr val="1A7A9E"/>
          </a:solidFill>
          <a:ln/>
        </p:spPr>
      </p:sp>
      <p:sp>
        <p:nvSpPr>
          <p:cNvPr id="14" name="Text 12"/>
          <p:cNvSpPr/>
          <p:nvPr/>
        </p:nvSpPr>
        <p:spPr>
          <a:xfrm>
            <a:off x="475488" y="1993392"/>
            <a:ext cx="2331720" cy="256032"/>
          </a:xfrm>
          <a:prstGeom prst="rect">
            <a:avLst/>
          </a:prstGeom>
          <a:noFill/>
          <a:ln/>
        </p:spPr>
        <p:txBody>
          <a:bodyPr wrap="square" rtlCol="0" anchor="ctr"/>
          <a:lstStyle/>
          <a:p>
            <a:pPr marL="0" indent="0">
              <a:buNone/>
            </a:pPr>
            <a:r>
              <a:rPr lang="en-US" sz="850" b="1" dirty="0">
                <a:solidFill>
                  <a:srgbClr val="1A7A9E"/>
                </a:solidFill>
                <a:latin typeface="Calibri" pitchFamily="34" charset="0"/>
                <a:ea typeface="Calibri" pitchFamily="34" charset="-122"/>
                <a:cs typeface="Calibri" pitchFamily="34" charset="-120"/>
              </a:rPr>
              <a:t>Role + business context</a:t>
            </a:r>
            <a:endParaRPr lang="en-US" sz="850" dirty="0"/>
          </a:p>
        </p:txBody>
      </p:sp>
      <p:sp>
        <p:nvSpPr>
          <p:cNvPr id="15" name="Shape 13"/>
          <p:cNvSpPr/>
          <p:nvPr/>
        </p:nvSpPr>
        <p:spPr>
          <a:xfrm>
            <a:off x="365760" y="2423160"/>
            <a:ext cx="36576" cy="256032"/>
          </a:xfrm>
          <a:prstGeom prst="rect">
            <a:avLst/>
          </a:prstGeom>
          <a:solidFill>
            <a:srgbClr val="D4641A"/>
          </a:solidFill>
          <a:ln/>
        </p:spPr>
      </p:sp>
      <p:sp>
        <p:nvSpPr>
          <p:cNvPr id="16" name="Text 14"/>
          <p:cNvSpPr/>
          <p:nvPr/>
        </p:nvSpPr>
        <p:spPr>
          <a:xfrm>
            <a:off x="475488" y="2423160"/>
            <a:ext cx="2331720" cy="256032"/>
          </a:xfrm>
          <a:prstGeom prst="rect">
            <a:avLst/>
          </a:prstGeom>
          <a:noFill/>
          <a:ln/>
        </p:spPr>
        <p:txBody>
          <a:bodyPr wrap="square" rtlCol="0" anchor="ctr"/>
          <a:lstStyle/>
          <a:p>
            <a:pPr marL="0" indent="0">
              <a:buNone/>
            </a:pPr>
            <a:r>
              <a:rPr lang="en-US" sz="850" b="1" dirty="0">
                <a:solidFill>
                  <a:srgbClr val="D4641A"/>
                </a:solidFill>
                <a:latin typeface="Calibri" pitchFamily="34" charset="0"/>
                <a:ea typeface="Calibri" pitchFamily="34" charset="-122"/>
                <a:cs typeface="Calibri" pitchFamily="34" charset="-120"/>
              </a:rPr>
              <a:t>Constraint named upfront — not the symptom</a:t>
            </a:r>
            <a:endParaRPr lang="en-US" sz="850" dirty="0"/>
          </a:p>
        </p:txBody>
      </p:sp>
      <p:sp>
        <p:nvSpPr>
          <p:cNvPr id="17" name="Shape 15"/>
          <p:cNvSpPr/>
          <p:nvPr/>
        </p:nvSpPr>
        <p:spPr>
          <a:xfrm>
            <a:off x="365760" y="3063240"/>
            <a:ext cx="36576" cy="256032"/>
          </a:xfrm>
          <a:prstGeom prst="rect">
            <a:avLst/>
          </a:prstGeom>
          <a:solidFill>
            <a:srgbClr val="2C5F2D"/>
          </a:solidFill>
          <a:ln/>
        </p:spPr>
      </p:sp>
      <p:sp>
        <p:nvSpPr>
          <p:cNvPr id="18" name="Text 16"/>
          <p:cNvSpPr/>
          <p:nvPr/>
        </p:nvSpPr>
        <p:spPr>
          <a:xfrm>
            <a:off x="475488" y="3063240"/>
            <a:ext cx="2331720" cy="256032"/>
          </a:xfrm>
          <a:prstGeom prst="rect">
            <a:avLst/>
          </a:prstGeom>
          <a:noFill/>
          <a:ln/>
        </p:spPr>
        <p:txBody>
          <a:bodyPr wrap="square" rtlCol="0" anchor="ctr"/>
          <a:lstStyle/>
          <a:p>
            <a:pPr marL="0" indent="0">
              <a:buNone/>
            </a:pPr>
            <a:r>
              <a:rPr lang="en-US" sz="850" b="1" dirty="0">
                <a:solidFill>
                  <a:srgbClr val="2C5F2D"/>
                </a:solidFill>
                <a:latin typeface="Calibri" pitchFamily="34" charset="0"/>
                <a:ea typeface="Calibri" pitchFamily="34" charset="-122"/>
                <a:cs typeface="Calibri" pitchFamily="34" charset="-120"/>
              </a:rPr>
              <a:t>Curiosity trigger — Sarah hands control to AI</a:t>
            </a:r>
            <a:endParaRPr lang="en-US" sz="850" dirty="0"/>
          </a:p>
        </p:txBody>
      </p:sp>
      <p:sp>
        <p:nvSpPr>
          <p:cNvPr id="19" name="Shape 17"/>
          <p:cNvSpPr/>
          <p:nvPr/>
        </p:nvSpPr>
        <p:spPr>
          <a:xfrm>
            <a:off x="347472" y="4681728"/>
            <a:ext cx="8412480" cy="457200"/>
          </a:xfrm>
          <a:prstGeom prst="rect">
            <a:avLst/>
          </a:prstGeom>
          <a:solidFill>
            <a:srgbClr val="EFF6FF"/>
          </a:solidFill>
          <a:ln/>
        </p:spPr>
      </p:sp>
      <p:sp>
        <p:nvSpPr>
          <p:cNvPr id="20" name="Text 18"/>
          <p:cNvSpPr/>
          <p:nvPr/>
        </p:nvSpPr>
        <p:spPr>
          <a:xfrm>
            <a:off x="502920" y="4681728"/>
            <a:ext cx="8229600" cy="457200"/>
          </a:xfrm>
          <a:prstGeom prst="rect">
            <a:avLst/>
          </a:prstGeom>
          <a:noFill/>
          <a:ln/>
        </p:spPr>
        <p:txBody>
          <a:bodyPr wrap="square" rtlCol="0" anchor="ctr"/>
          <a:lstStyle/>
          <a:p>
            <a:pPr marL="0" indent="0">
              <a:buNone/>
            </a:pPr>
            <a:r>
              <a:rPr lang="en-US" sz="1050" i="1" dirty="0">
                <a:solidFill>
                  <a:srgbClr val="1E40AF"/>
                </a:solidFill>
                <a:latin typeface="Calibri" pitchFamily="34" charset="0"/>
                <a:ea typeface="Calibri" pitchFamily="34" charset="-122"/>
                <a:cs typeface="Calibri" pitchFamily="34" charset="-120"/>
              </a:rPr>
              <a:t>Sarah didn't start with a question. She started with context. The quality of what AI asks next depends entirely on the quality of what she loaded here.</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EFE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4641A"/>
          </a:solidFill>
          <a:ln w="12700">
            <a:solidFill>
              <a:srgbClr val="D4641A"/>
            </a:solidFill>
            <a:prstDash val="solid"/>
          </a:ln>
        </p:spPr>
      </p:sp>
      <p:sp>
        <p:nvSpPr>
          <p:cNvPr id="3" name="Text 1"/>
          <p:cNvSpPr/>
          <p:nvPr/>
        </p:nvSpPr>
        <p:spPr>
          <a:xfrm>
            <a:off x="347472" y="530352"/>
            <a:ext cx="6400800" cy="548640"/>
          </a:xfrm>
          <a:prstGeom prst="rect">
            <a:avLst/>
          </a:prstGeom>
          <a:noFill/>
          <a:ln/>
        </p:spPr>
        <p:txBody>
          <a:bodyPr wrap="square" rtlCol="0" anchor="ctr"/>
          <a:lstStyle/>
          <a:p>
            <a:pPr marL="0" indent="0">
              <a:buNone/>
            </a:pPr>
            <a:r>
              <a:rPr lang="en-US" sz="2800" b="1" dirty="0">
                <a:solidFill>
                  <a:srgbClr val="0D1B2A"/>
                </a:solidFill>
                <a:latin typeface="Arial Black" pitchFamily="34" charset="0"/>
                <a:ea typeface="Arial Black" pitchFamily="34" charset="-122"/>
                <a:cs typeface="Arial Black" pitchFamily="34" charset="-120"/>
              </a:rPr>
              <a:t>C² CURIOSITY</a:t>
            </a:r>
            <a:endParaRPr lang="en-US" sz="2800" dirty="0"/>
          </a:p>
        </p:txBody>
      </p:sp>
      <p:sp>
        <p:nvSpPr>
          <p:cNvPr id="4" name="Shape 2"/>
          <p:cNvSpPr/>
          <p:nvPr/>
        </p:nvSpPr>
        <p:spPr>
          <a:xfrm>
            <a:off x="7498080" y="1719072"/>
            <a:ext cx="1234440" cy="292608"/>
          </a:xfrm>
          <a:prstGeom prst="rect">
            <a:avLst/>
          </a:prstGeom>
          <a:solidFill>
            <a:srgbClr val="D4641A"/>
          </a:solidFill>
          <a:ln w="12700">
            <a:solidFill>
              <a:srgbClr val="D4641A"/>
            </a:solidFill>
            <a:prstDash val="solid"/>
          </a:ln>
        </p:spPr>
      </p:sp>
      <p:sp>
        <p:nvSpPr>
          <p:cNvPr id="5" name="Text 3"/>
          <p:cNvSpPr/>
          <p:nvPr/>
        </p:nvSpPr>
        <p:spPr>
          <a:xfrm>
            <a:off x="7498080" y="1719072"/>
            <a:ext cx="1234440" cy="292608"/>
          </a:xfrm>
          <a:prstGeom prst="rect">
            <a:avLst/>
          </a:prstGeom>
          <a:noFill/>
          <a:ln/>
        </p:spPr>
        <p:txBody>
          <a:bodyPr wrap="square" rtlCol="0" anchor="ctr"/>
          <a:lstStyle/>
          <a:p>
            <a:pPr marL="0" indent="0" algn="ctr">
              <a:buNone/>
            </a:pPr>
            <a:r>
              <a:rPr lang="en-US" sz="850" b="1" dirty="0">
                <a:solidFill>
                  <a:srgbClr val="FFFFFF"/>
                </a:solidFill>
              </a:rPr>
              <a:t>C² CURIOSITY</a:t>
            </a:r>
            <a:endParaRPr lang="en-US" sz="850" dirty="0"/>
          </a:p>
        </p:txBody>
      </p:sp>
      <p:sp>
        <p:nvSpPr>
          <p:cNvPr id="6" name="Text 4"/>
          <p:cNvSpPr/>
          <p:nvPr/>
        </p:nvSpPr>
        <p:spPr>
          <a:xfrm>
            <a:off x="347472" y="1078992"/>
            <a:ext cx="8412480" cy="292608"/>
          </a:xfrm>
          <a:prstGeom prst="rect">
            <a:avLst/>
          </a:prstGeom>
          <a:noFill/>
          <a:ln/>
        </p:spPr>
        <p:txBody>
          <a:bodyPr wrap="square" rtlCol="0" anchor="ctr"/>
          <a:lstStyle/>
          <a:p>
            <a:pPr marL="0" indent="0">
              <a:buNone/>
            </a:pPr>
            <a:r>
              <a:rPr lang="en-US" sz="1200" i="1" dirty="0">
                <a:solidFill>
                  <a:srgbClr val="6B7280"/>
                </a:solidFill>
              </a:rPr>
              <a:t>AI leads. Sarah doesn't jump to solutions — she answers.</a:t>
            </a:r>
            <a:endParaRPr lang="en-US" sz="1200" dirty="0"/>
          </a:p>
        </p:txBody>
      </p:sp>
      <p:sp>
        <p:nvSpPr>
          <p:cNvPr id="7" name="Shape 5"/>
          <p:cNvSpPr/>
          <p:nvPr/>
        </p:nvSpPr>
        <p:spPr>
          <a:xfrm>
            <a:off x="347472" y="1417320"/>
            <a:ext cx="8412480" cy="3520440"/>
          </a:xfrm>
          <a:prstGeom prst="rect">
            <a:avLst/>
          </a:prstGeom>
          <a:solidFill>
            <a:srgbClr val="F8F9FA"/>
          </a:solidFill>
          <a:ln w="12700">
            <a:solidFill>
              <a:srgbClr val="E5E7EB"/>
            </a:solidFill>
            <a:prstDash val="solid"/>
          </a:ln>
          <a:effectLst>
            <a:outerShdw blurRad="76200" dist="25400" dir="8100000" algn="bl" rotWithShape="0">
              <a:srgbClr val="000000">
                <a:alpha val="15000"/>
              </a:srgbClr>
            </a:outerShdw>
          </a:effectLst>
        </p:spPr>
      </p:sp>
      <p:sp>
        <p:nvSpPr>
          <p:cNvPr id="8" name="Shape 6"/>
          <p:cNvSpPr/>
          <p:nvPr/>
        </p:nvSpPr>
        <p:spPr>
          <a:xfrm>
            <a:off x="347472" y="1417320"/>
            <a:ext cx="8412480" cy="365760"/>
          </a:xfrm>
          <a:prstGeom prst="rect">
            <a:avLst/>
          </a:prstGeom>
          <a:solidFill>
            <a:srgbClr val="E5E7EB"/>
          </a:solidFill>
          <a:ln/>
        </p:spPr>
      </p:sp>
      <p:sp>
        <p:nvSpPr>
          <p:cNvPr id="9" name="Text 7"/>
          <p:cNvSpPr/>
          <p:nvPr/>
        </p:nvSpPr>
        <p:spPr>
          <a:xfrm>
            <a:off x="502920" y="1417320"/>
            <a:ext cx="914400" cy="365760"/>
          </a:xfrm>
          <a:prstGeom prst="rect">
            <a:avLst/>
          </a:prstGeom>
          <a:noFill/>
          <a:ln/>
        </p:spPr>
        <p:txBody>
          <a:bodyPr wrap="square" rtlCol="0" anchor="ctr"/>
          <a:lstStyle/>
          <a:p>
            <a:pPr marL="0" indent="0">
              <a:buNone/>
            </a:pPr>
            <a:r>
              <a:rPr lang="en-US" sz="900" dirty="0">
                <a:solidFill>
                  <a:srgbClr val="9CA3AF"/>
                </a:solidFill>
              </a:rPr>
              <a:t>● ● ●</a:t>
            </a:r>
            <a:endParaRPr lang="en-US" sz="900" dirty="0"/>
          </a:p>
        </p:txBody>
      </p:sp>
      <p:sp>
        <p:nvSpPr>
          <p:cNvPr id="10" name="Text 8"/>
          <p:cNvSpPr/>
          <p:nvPr/>
        </p:nvSpPr>
        <p:spPr>
          <a:xfrm>
            <a:off x="3840480" y="1417320"/>
            <a:ext cx="1463040" cy="365760"/>
          </a:xfrm>
          <a:prstGeom prst="rect">
            <a:avLst/>
          </a:prstGeom>
          <a:noFill/>
          <a:ln/>
        </p:spPr>
        <p:txBody>
          <a:bodyPr wrap="square" rtlCol="0" anchor="ctr"/>
          <a:lstStyle/>
          <a:p>
            <a:pPr marL="0" indent="0" algn="ctr">
              <a:buNone/>
            </a:pPr>
            <a:r>
              <a:rPr lang="en-US" sz="1100" b="1" dirty="0">
                <a:solidFill>
                  <a:srgbClr val="0D1B2A"/>
                </a:solidFill>
              </a:rPr>
              <a:t>AI</a:t>
            </a:r>
            <a:endParaRPr lang="en-US" sz="1100" dirty="0"/>
          </a:p>
        </p:txBody>
      </p:sp>
      <p:sp>
        <p:nvSpPr>
          <p:cNvPr id="11" name="Shape 9"/>
          <p:cNvSpPr/>
          <p:nvPr/>
        </p:nvSpPr>
        <p:spPr>
          <a:xfrm>
            <a:off x="457200" y="1874520"/>
            <a:ext cx="6949440" cy="868680"/>
          </a:xfrm>
          <a:prstGeom prst="rect">
            <a:avLst/>
          </a:prstGeom>
          <a:solidFill>
            <a:srgbClr val="FFFFFF"/>
          </a:solidFill>
          <a:ln w="12700">
            <a:solidFill>
              <a:srgbClr val="E5E7EB"/>
            </a:solidFill>
            <a:prstDash val="solid"/>
          </a:ln>
        </p:spPr>
      </p:sp>
      <p:sp>
        <p:nvSpPr>
          <p:cNvPr id="12" name="Text 10"/>
          <p:cNvSpPr/>
          <p:nvPr/>
        </p:nvSpPr>
        <p:spPr>
          <a:xfrm>
            <a:off x="594360" y="1965960"/>
            <a:ext cx="6675120" cy="685800"/>
          </a:xfrm>
          <a:prstGeom prst="rect">
            <a:avLst/>
          </a:prstGeom>
          <a:noFill/>
          <a:ln/>
        </p:spPr>
        <p:txBody>
          <a:bodyPr wrap="square" rtlCol="0" anchor="t"/>
          <a:lstStyle/>
          <a:p>
            <a:pPr marL="0" indent="0">
              <a:buNone/>
            </a:pPr>
            <a:r>
              <a:rPr lang="en-US" sz="1050" b="1" dirty="0">
                <a:solidFill>
                  <a:srgbClr val="0D1B2A"/>
                </a:solidFill>
                <a:latin typeface="Calibri" pitchFamily="34" charset="0"/>
                <a:ea typeface="Calibri" pitchFamily="34" charset="-122"/>
                <a:cs typeface="Calibri" pitchFamily="34" charset="-120"/>
              </a:rPr>
              <a:t>Before I suggest anything — </a:t>
            </a:r>
            <a:r>
              <a:rPr lang="en-US" sz="1050" dirty="0">
                <a:solidFill>
                  <a:srgbClr val="0D1B2A"/>
                </a:solidFill>
                <a:latin typeface="Calibri" pitchFamily="34" charset="0"/>
                <a:ea typeface="Calibri" pitchFamily="34" charset="-122"/>
                <a:cs typeface="Calibri" pitchFamily="34" charset="-120"/>
              </a:rPr>
              <a:t>when a certificate lapses without anyone catching it, what actually happens? Does the worker stop? Does a supervisor step in? Or does it quietly slip through?</a:t>
            </a:r>
            <a:endParaRPr lang="en-US" sz="1050" dirty="0"/>
          </a:p>
        </p:txBody>
      </p:sp>
      <p:sp>
        <p:nvSpPr>
          <p:cNvPr id="13" name="Shape 11"/>
          <p:cNvSpPr/>
          <p:nvPr/>
        </p:nvSpPr>
        <p:spPr>
          <a:xfrm>
            <a:off x="2926080" y="2852928"/>
            <a:ext cx="5760720" cy="804672"/>
          </a:xfrm>
          <a:prstGeom prst="rect">
            <a:avLst/>
          </a:prstGeom>
          <a:solidFill>
            <a:srgbClr val="1A7A9E"/>
          </a:solidFill>
          <a:ln w="12700">
            <a:solidFill>
              <a:srgbClr val="1A7A9E"/>
            </a:solidFill>
            <a:prstDash val="solid"/>
          </a:ln>
        </p:spPr>
      </p:sp>
      <p:sp>
        <p:nvSpPr>
          <p:cNvPr id="14" name="Text 12"/>
          <p:cNvSpPr/>
          <p:nvPr/>
        </p:nvSpPr>
        <p:spPr>
          <a:xfrm>
            <a:off x="3035808" y="2907792"/>
            <a:ext cx="5577840" cy="694944"/>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Honestly? It slips through. We've had two subcontractors on site with expired white cards in the last six months. We didn't know until an audit.</a:t>
            </a:r>
            <a:endParaRPr lang="en-US" sz="1050" dirty="0"/>
          </a:p>
        </p:txBody>
      </p:sp>
      <p:sp>
        <p:nvSpPr>
          <p:cNvPr id="15" name="Shape 13"/>
          <p:cNvSpPr/>
          <p:nvPr/>
        </p:nvSpPr>
        <p:spPr>
          <a:xfrm>
            <a:off x="457200" y="3749040"/>
            <a:ext cx="6949440" cy="868680"/>
          </a:xfrm>
          <a:prstGeom prst="rect">
            <a:avLst/>
          </a:prstGeom>
          <a:solidFill>
            <a:srgbClr val="FFFFFF"/>
          </a:solidFill>
          <a:ln w="12700">
            <a:solidFill>
              <a:srgbClr val="E5E7EB"/>
            </a:solidFill>
            <a:prstDash val="solid"/>
          </a:ln>
        </p:spPr>
      </p:sp>
      <p:sp>
        <p:nvSpPr>
          <p:cNvPr id="16" name="Text 14"/>
          <p:cNvSpPr/>
          <p:nvPr/>
        </p:nvSpPr>
        <p:spPr>
          <a:xfrm>
            <a:off x="594360" y="3840480"/>
            <a:ext cx="6675120" cy="685800"/>
          </a:xfrm>
          <a:prstGeom prst="rect">
            <a:avLst/>
          </a:prstGeom>
          <a:noFill/>
          <a:ln/>
        </p:spPr>
        <p:txBody>
          <a:bodyPr wrap="square" rtlCol="0" anchor="t"/>
          <a:lstStyle/>
          <a:p>
            <a:pPr marL="0" indent="0">
              <a:buNone/>
            </a:pPr>
            <a:r>
              <a:rPr lang="en-US" sz="1050" b="1" dirty="0">
                <a:solidFill>
                  <a:srgbClr val="0D1B2A"/>
                </a:solidFill>
                <a:latin typeface="Calibri" pitchFamily="34" charset="0"/>
                <a:ea typeface="Calibri" pitchFamily="34" charset="-122"/>
                <a:cs typeface="Calibri" pitchFamily="34" charset="-120"/>
              </a:rPr>
              <a:t>That's important. Second question: </a:t>
            </a:r>
            <a:r>
              <a:rPr lang="en-US" sz="1050" dirty="0">
                <a:solidFill>
                  <a:srgbClr val="0D1B2A"/>
                </a:solidFill>
                <a:latin typeface="Calibri" pitchFamily="34" charset="0"/>
                <a:ea typeface="Calibri" pitchFamily="34" charset="-122"/>
                <a:cs typeface="Calibri" pitchFamily="34" charset="-120"/>
              </a:rPr>
              <a:t>when someone is responsible for checking certificates, who is it — and do they have a reliable way to see expiry dates, or are they manually checking each person?</a:t>
            </a:r>
            <a:endParaRPr lang="en-US" sz="1050" dirty="0"/>
          </a:p>
        </p:txBody>
      </p:sp>
      <p:sp>
        <p:nvSpPr>
          <p:cNvPr id="17" name="Shape 15"/>
          <p:cNvSpPr/>
          <p:nvPr/>
        </p:nvSpPr>
        <p:spPr>
          <a:xfrm>
            <a:off x="347472" y="4681728"/>
            <a:ext cx="8412480" cy="457200"/>
          </a:xfrm>
          <a:prstGeom prst="rect">
            <a:avLst/>
          </a:prstGeom>
          <a:solidFill>
            <a:srgbClr val="FFF7ED"/>
          </a:solidFill>
          <a:ln/>
        </p:spPr>
      </p:sp>
      <p:sp>
        <p:nvSpPr>
          <p:cNvPr id="18" name="Text 16"/>
          <p:cNvSpPr/>
          <p:nvPr/>
        </p:nvSpPr>
        <p:spPr>
          <a:xfrm>
            <a:off x="502920" y="4681728"/>
            <a:ext cx="8229600" cy="457200"/>
          </a:xfrm>
          <a:prstGeom prst="rect">
            <a:avLst/>
          </a:prstGeom>
          <a:noFill/>
          <a:ln/>
        </p:spPr>
        <p:txBody>
          <a:bodyPr wrap="square" rtlCol="0" anchor="ctr"/>
          <a:lstStyle/>
          <a:p>
            <a:pPr marL="0" indent="0">
              <a:buNone/>
            </a:pPr>
            <a:r>
              <a:rPr lang="en-US" sz="1050" i="1" dirty="0">
                <a:solidFill>
                  <a:srgbClr val="D4641A"/>
                </a:solidFill>
                <a:latin typeface="Calibri" pitchFamily="34" charset="0"/>
                <a:ea typeface="Calibri" pitchFamily="34" charset="-122"/>
                <a:cs typeface="Calibri" pitchFamily="34" charset="-120"/>
              </a:rPr>
              <a:t>AI is building a picture — not generating solutions. Each question goes one level deeper than the last.</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2EFE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0392B"/>
          </a:solidFill>
          <a:ln w="12700">
            <a:solidFill>
              <a:srgbClr val="C0392B"/>
            </a:solidFill>
            <a:prstDash val="solid"/>
          </a:ln>
        </p:spPr>
      </p:sp>
      <p:sp>
        <p:nvSpPr>
          <p:cNvPr id="3" name="Text 1"/>
          <p:cNvSpPr/>
          <p:nvPr/>
        </p:nvSpPr>
        <p:spPr>
          <a:xfrm>
            <a:off x="347472" y="530352"/>
            <a:ext cx="6858000" cy="548640"/>
          </a:xfrm>
          <a:prstGeom prst="rect">
            <a:avLst/>
          </a:prstGeom>
          <a:noFill/>
          <a:ln/>
        </p:spPr>
        <p:txBody>
          <a:bodyPr wrap="square" rtlCol="0" anchor="ctr"/>
          <a:lstStyle/>
          <a:p>
            <a:pPr marL="0" indent="0">
              <a:buNone/>
            </a:pPr>
            <a:r>
              <a:rPr lang="en-US" sz="2800" b="1" dirty="0">
                <a:solidFill>
                  <a:srgbClr val="0D1B2A"/>
                </a:solidFill>
                <a:latin typeface="Arial Black" pitchFamily="34" charset="0"/>
                <a:ea typeface="Arial Black" pitchFamily="34" charset="-122"/>
                <a:cs typeface="Arial Black" pitchFamily="34" charset="-120"/>
              </a:rPr>
              <a:t>AI GIVES AN ANSWER.</a:t>
            </a:r>
            <a:endParaRPr lang="en-US" sz="2800" dirty="0"/>
          </a:p>
        </p:txBody>
      </p:sp>
      <p:sp>
        <p:nvSpPr>
          <p:cNvPr id="4" name="Text 2"/>
          <p:cNvSpPr/>
          <p:nvPr/>
        </p:nvSpPr>
        <p:spPr>
          <a:xfrm>
            <a:off x="347472" y="1078992"/>
            <a:ext cx="8412480" cy="292608"/>
          </a:xfrm>
          <a:prstGeom prst="rect">
            <a:avLst/>
          </a:prstGeom>
          <a:noFill/>
          <a:ln/>
        </p:spPr>
        <p:txBody>
          <a:bodyPr wrap="square" rtlCol="0" anchor="ctr"/>
          <a:lstStyle/>
          <a:p>
            <a:pPr marL="0" indent="0">
              <a:buNone/>
            </a:pPr>
            <a:r>
              <a:rPr lang="en-US" sz="1200" b="1" i="1" dirty="0">
                <a:solidFill>
                  <a:srgbClr val="C0392B"/>
                </a:solidFill>
              </a:rPr>
              <a:t>It sounds right. Most people would stop here.</a:t>
            </a:r>
            <a:endParaRPr lang="en-US" sz="1200" dirty="0"/>
          </a:p>
        </p:txBody>
      </p:sp>
      <p:sp>
        <p:nvSpPr>
          <p:cNvPr id="5" name="Shape 3"/>
          <p:cNvSpPr/>
          <p:nvPr/>
        </p:nvSpPr>
        <p:spPr>
          <a:xfrm>
            <a:off x="347472" y="1417320"/>
            <a:ext cx="8412480" cy="3182112"/>
          </a:xfrm>
          <a:prstGeom prst="rect">
            <a:avLst/>
          </a:prstGeom>
          <a:solidFill>
            <a:srgbClr val="F8F9FA"/>
          </a:solidFill>
          <a:ln w="12700">
            <a:solidFill>
              <a:srgbClr val="E5E7EB"/>
            </a:solidFill>
            <a:prstDash val="solid"/>
          </a:ln>
          <a:effectLst>
            <a:outerShdw blurRad="76200" dist="25400" dir="8100000" algn="bl" rotWithShape="0">
              <a:srgbClr val="000000">
                <a:alpha val="15000"/>
              </a:srgbClr>
            </a:outerShdw>
          </a:effectLst>
        </p:spPr>
      </p:sp>
      <p:sp>
        <p:nvSpPr>
          <p:cNvPr id="6" name="Shape 4"/>
          <p:cNvSpPr/>
          <p:nvPr/>
        </p:nvSpPr>
        <p:spPr>
          <a:xfrm>
            <a:off x="347472" y="1417320"/>
            <a:ext cx="8412480" cy="365760"/>
          </a:xfrm>
          <a:prstGeom prst="rect">
            <a:avLst/>
          </a:prstGeom>
          <a:solidFill>
            <a:srgbClr val="E5E7EB"/>
          </a:solidFill>
          <a:ln/>
        </p:spPr>
      </p:sp>
      <p:sp>
        <p:nvSpPr>
          <p:cNvPr id="7" name="Text 5"/>
          <p:cNvSpPr/>
          <p:nvPr/>
        </p:nvSpPr>
        <p:spPr>
          <a:xfrm>
            <a:off x="502920" y="1417320"/>
            <a:ext cx="914400" cy="365760"/>
          </a:xfrm>
          <a:prstGeom prst="rect">
            <a:avLst/>
          </a:prstGeom>
          <a:noFill/>
          <a:ln/>
        </p:spPr>
        <p:txBody>
          <a:bodyPr wrap="square" rtlCol="0" anchor="ctr"/>
          <a:lstStyle/>
          <a:p>
            <a:pPr marL="0" indent="0">
              <a:buNone/>
            </a:pPr>
            <a:r>
              <a:rPr lang="en-US" sz="900" dirty="0">
                <a:solidFill>
                  <a:srgbClr val="9CA3AF"/>
                </a:solidFill>
              </a:rPr>
              <a:t>● ● ●</a:t>
            </a:r>
            <a:endParaRPr lang="en-US" sz="900" dirty="0"/>
          </a:p>
        </p:txBody>
      </p:sp>
      <p:sp>
        <p:nvSpPr>
          <p:cNvPr id="8" name="Text 6"/>
          <p:cNvSpPr/>
          <p:nvPr/>
        </p:nvSpPr>
        <p:spPr>
          <a:xfrm>
            <a:off x="3840480" y="1417320"/>
            <a:ext cx="1463040" cy="365760"/>
          </a:xfrm>
          <a:prstGeom prst="rect">
            <a:avLst/>
          </a:prstGeom>
          <a:noFill/>
          <a:ln/>
        </p:spPr>
        <p:txBody>
          <a:bodyPr wrap="square" rtlCol="0" anchor="ctr"/>
          <a:lstStyle/>
          <a:p>
            <a:pPr marL="0" indent="0" algn="ctr">
              <a:buNone/>
            </a:pPr>
            <a:r>
              <a:rPr lang="en-US" sz="1100" b="1" dirty="0">
                <a:solidFill>
                  <a:srgbClr val="0D1B2A"/>
                </a:solidFill>
              </a:rPr>
              <a:t>AI</a:t>
            </a:r>
            <a:endParaRPr lang="en-US" sz="1100" dirty="0"/>
          </a:p>
        </p:txBody>
      </p:sp>
      <p:sp>
        <p:nvSpPr>
          <p:cNvPr id="9" name="Shape 7"/>
          <p:cNvSpPr/>
          <p:nvPr/>
        </p:nvSpPr>
        <p:spPr>
          <a:xfrm>
            <a:off x="457200" y="1874520"/>
            <a:ext cx="6949440" cy="2606040"/>
          </a:xfrm>
          <a:prstGeom prst="rect">
            <a:avLst/>
          </a:prstGeom>
          <a:solidFill>
            <a:srgbClr val="FFFFFF"/>
          </a:solidFill>
          <a:ln w="12700">
            <a:solidFill>
              <a:srgbClr val="E5E7EB"/>
            </a:solidFill>
            <a:prstDash val="solid"/>
          </a:ln>
        </p:spPr>
      </p:sp>
      <p:sp>
        <p:nvSpPr>
          <p:cNvPr id="10" name="Text 8"/>
          <p:cNvSpPr/>
          <p:nvPr/>
        </p:nvSpPr>
        <p:spPr>
          <a:xfrm>
            <a:off x="594360" y="1965960"/>
            <a:ext cx="6675120" cy="2423160"/>
          </a:xfrm>
          <a:prstGeom prst="rect">
            <a:avLst/>
          </a:prstGeom>
          <a:noFill/>
          <a:ln/>
        </p:spPr>
        <p:txBody>
          <a:bodyPr wrap="square" rtlCol="0" anchor="t"/>
          <a:lstStyle/>
          <a:p>
            <a:pPr marL="0" indent="0">
              <a:buNone/>
            </a:pPr>
            <a:r>
              <a:rPr lang="en-US" sz="1050" b="1" dirty="0">
                <a:solidFill>
                  <a:srgbClr val="0D1B2A"/>
                </a:solidFill>
                <a:latin typeface="Calibri" pitchFamily="34" charset="0"/>
                <a:ea typeface="Calibri" pitchFamily="34" charset="-122"/>
                <a:cs typeface="Calibri" pitchFamily="34" charset="-120"/>
              </a:rPr>
              <a:t>Based on what you've told me, here's what I'd recommend:
1. </a:t>
            </a:r>
            <a:r>
              <a:rPr lang="en-US" sz="1050" dirty="0">
                <a:solidFill>
                  <a:srgbClr val="0D1B2A"/>
                </a:solidFill>
                <a:latin typeface="Calibri" pitchFamily="34" charset="0"/>
                <a:ea typeface="Calibri" pitchFamily="34" charset="-122"/>
                <a:cs typeface="Calibri" pitchFamily="34" charset="-120"/>
              </a:rPr>
              <a:t>Create a shared Google Sheet with all certificates and expiry dates, colour-coded by status.
</a:t>
            </a:r>
            <a:r>
              <a:rPr lang="en-US" sz="1050" b="1" dirty="0">
                <a:solidFill>
                  <a:srgbClr val="0D1B2A"/>
                </a:solidFill>
                <a:latin typeface="Calibri" pitchFamily="34" charset="0"/>
                <a:ea typeface="Calibri" pitchFamily="34" charset="-122"/>
                <a:cs typeface="Calibri" pitchFamily="34" charset="-120"/>
              </a:rPr>
              <a:t>2. </a:t>
            </a:r>
            <a:r>
              <a:rPr lang="en-US" sz="1050" dirty="0">
                <a:solidFill>
                  <a:srgbClr val="0D1B2A"/>
                </a:solidFill>
                <a:latin typeface="Calibri" pitchFamily="34" charset="0"/>
                <a:ea typeface="Calibri" pitchFamily="34" charset="-122"/>
                <a:cs typeface="Calibri" pitchFamily="34" charset="-120"/>
              </a:rPr>
              <a:t>Set up a Google Calendar with recurring alerts 30 days before each expiry.
</a:t>
            </a:r>
            <a:r>
              <a:rPr lang="en-US" sz="1050" b="1" dirty="0">
                <a:solidFill>
                  <a:srgbClr val="0D1B2A"/>
                </a:solidFill>
                <a:latin typeface="Calibri" pitchFamily="34" charset="0"/>
                <a:ea typeface="Calibri" pitchFamily="34" charset="-122"/>
                <a:cs typeface="Calibri" pitchFamily="34" charset="-120"/>
              </a:rPr>
              <a:t>3. </a:t>
            </a:r>
            <a:r>
              <a:rPr lang="en-US" sz="1050" dirty="0">
                <a:solidFill>
                  <a:srgbClr val="0D1B2A"/>
                </a:solidFill>
                <a:latin typeface="Calibri" pitchFamily="34" charset="0"/>
                <a:ea typeface="Calibri" pitchFamily="34" charset="-122"/>
                <a:cs typeface="Calibri" pitchFamily="34" charset="-120"/>
              </a:rPr>
              <a:t>Assign one person per team as the 'compliance owner' responsible for keeping it updated.
</a:t>
            </a:r>
            <a:r>
              <a:rPr lang="en-US" sz="1050" b="1" dirty="0">
                <a:solidFill>
                  <a:srgbClr val="0D1B2A"/>
                </a:solidFill>
                <a:latin typeface="Calibri" pitchFamily="34" charset="0"/>
                <a:ea typeface="Calibri" pitchFamily="34" charset="-122"/>
                <a:cs typeface="Calibri" pitchFamily="34" charset="-120"/>
              </a:rPr>
              <a:t>4. </a:t>
            </a:r>
            <a:r>
              <a:rPr lang="en-US" sz="1050" dirty="0">
                <a:solidFill>
                  <a:srgbClr val="0D1B2A"/>
                </a:solidFill>
                <a:latin typeface="Calibri" pitchFamily="34" charset="0"/>
                <a:ea typeface="Calibri" pitchFamily="34" charset="-122"/>
                <a:cs typeface="Calibri" pitchFamily="34" charset="-120"/>
              </a:rPr>
              <a:t>Review the sheet in your Monday morning meeting.</a:t>
            </a:r>
            <a:endParaRPr lang="en-US" sz="1050" dirty="0"/>
          </a:p>
        </p:txBody>
      </p:sp>
      <p:sp>
        <p:nvSpPr>
          <p:cNvPr id="11" name="Shape 9"/>
          <p:cNvSpPr/>
          <p:nvPr/>
        </p:nvSpPr>
        <p:spPr>
          <a:xfrm>
            <a:off x="7205472" y="2176272"/>
            <a:ext cx="1508760" cy="2331720"/>
          </a:xfrm>
          <a:prstGeom prst="rect">
            <a:avLst/>
          </a:prstGeom>
          <a:solidFill>
            <a:srgbClr val="FEF2F2"/>
          </a:solidFill>
          <a:ln w="19050">
            <a:solidFill>
              <a:srgbClr val="C0392B"/>
            </a:solidFill>
            <a:prstDash val="solid"/>
          </a:ln>
        </p:spPr>
      </p:sp>
      <p:sp>
        <p:nvSpPr>
          <p:cNvPr id="12" name="Text 10"/>
          <p:cNvSpPr/>
          <p:nvPr/>
        </p:nvSpPr>
        <p:spPr>
          <a:xfrm>
            <a:off x="7205472" y="2212848"/>
            <a:ext cx="1508760" cy="365760"/>
          </a:xfrm>
          <a:prstGeom prst="rect">
            <a:avLst/>
          </a:prstGeom>
          <a:noFill/>
          <a:ln/>
        </p:spPr>
        <p:txBody>
          <a:bodyPr wrap="square" rtlCol="0" anchor="ctr"/>
          <a:lstStyle/>
          <a:p>
            <a:pPr marL="0" indent="0" algn="ctr">
              <a:buNone/>
            </a:pPr>
            <a:r>
              <a:rPr lang="en-US" sz="1800" dirty="0">
                <a:solidFill>
                  <a:srgbClr val="C0392B"/>
                </a:solidFill>
              </a:rPr>
              <a:t>⚠</a:t>
            </a:r>
            <a:endParaRPr lang="en-US" sz="1800" dirty="0"/>
          </a:p>
        </p:txBody>
      </p:sp>
      <p:sp>
        <p:nvSpPr>
          <p:cNvPr id="13" name="Text 11"/>
          <p:cNvSpPr/>
          <p:nvPr/>
        </p:nvSpPr>
        <p:spPr>
          <a:xfrm>
            <a:off x="7223760" y="2560320"/>
            <a:ext cx="1463040" cy="1874520"/>
          </a:xfrm>
          <a:prstGeom prst="rect">
            <a:avLst/>
          </a:prstGeom>
          <a:noFill/>
          <a:ln/>
        </p:spPr>
        <p:txBody>
          <a:bodyPr wrap="square" rtlCol="0" anchor="ctr"/>
          <a:lstStyle/>
          <a:p>
            <a:pPr marL="0" indent="0" algn="ctr">
              <a:buNone/>
            </a:pPr>
            <a:r>
              <a:rPr lang="en-US" sz="900" dirty="0">
                <a:solidFill>
                  <a:srgbClr val="C0392B"/>
                </a:solidFill>
                <a:latin typeface="Calibri" pitchFamily="34" charset="0"/>
                <a:ea typeface="Calibri" pitchFamily="34" charset="-122"/>
                <a:cs typeface="Calibri" pitchFamily="34" charset="-120"/>
              </a:rPr>
              <a:t>Plausible.</a:t>
            </a:r>
            <a:endParaRPr lang="en-US" sz="900" dirty="0"/>
          </a:p>
          <a:p>
            <a:pPr marL="0" indent="0" algn="ctr">
              <a:buNone/>
            </a:pPr>
            <a:endParaRPr lang="en-US" sz="900" dirty="0"/>
          </a:p>
          <a:p>
            <a:pPr marL="0" indent="0" algn="ctr">
              <a:buNone/>
            </a:pPr>
            <a:r>
              <a:rPr lang="en-US" sz="900" dirty="0">
                <a:solidFill>
                  <a:srgbClr val="C0392B"/>
                </a:solidFill>
                <a:latin typeface="Calibri" pitchFamily="34" charset="0"/>
                <a:ea typeface="Calibri" pitchFamily="34" charset="-122"/>
                <a:cs typeface="Calibri" pitchFamily="34" charset="-120"/>
              </a:rPr>
              <a:t>But misses</a:t>
            </a:r>
            <a:endParaRPr lang="en-US" sz="900" dirty="0"/>
          </a:p>
          <a:p>
            <a:pPr marL="0" indent="0" algn="ctr">
              <a:buNone/>
            </a:pPr>
            <a:r>
              <a:rPr lang="en-US" sz="900" dirty="0">
                <a:solidFill>
                  <a:srgbClr val="C0392B"/>
                </a:solidFill>
                <a:latin typeface="Calibri" pitchFamily="34" charset="0"/>
                <a:ea typeface="Calibri" pitchFamily="34" charset="-122"/>
                <a:cs typeface="Calibri" pitchFamily="34" charset="-120"/>
              </a:rPr>
              <a:t>the real</a:t>
            </a:r>
            <a:endParaRPr lang="en-US" sz="900" dirty="0"/>
          </a:p>
          <a:p>
            <a:pPr marL="0" indent="0" algn="ctr">
              <a:buNone/>
            </a:pPr>
            <a:r>
              <a:rPr lang="en-US" sz="900" dirty="0">
                <a:solidFill>
                  <a:srgbClr val="C0392B"/>
                </a:solidFill>
                <a:latin typeface="Calibri" pitchFamily="34" charset="0"/>
                <a:ea typeface="Calibri" pitchFamily="34" charset="-122"/>
                <a:cs typeface="Calibri" pitchFamily="34" charset="-120"/>
              </a:rPr>
              <a:t>problem.</a:t>
            </a:r>
            <a:endParaRPr lang="en-US" sz="900" dirty="0"/>
          </a:p>
          <a:p>
            <a:pPr marL="0" indent="0" algn="ctr">
              <a:buNone/>
            </a:pPr>
            <a:endParaRPr lang="en-US" sz="900" dirty="0"/>
          </a:p>
          <a:p>
            <a:pPr marL="0" indent="0" algn="ctr">
              <a:buNone/>
            </a:pPr>
            <a:r>
              <a:rPr lang="en-US" sz="900" dirty="0">
                <a:solidFill>
                  <a:srgbClr val="C0392B"/>
                </a:solidFill>
                <a:latin typeface="Calibri" pitchFamily="34" charset="0"/>
                <a:ea typeface="Calibri" pitchFamily="34" charset="-122"/>
                <a:cs typeface="Calibri" pitchFamily="34" charset="-120"/>
              </a:rPr>
              <a:t>Sarah knows</a:t>
            </a:r>
            <a:endParaRPr lang="en-US" sz="900" dirty="0"/>
          </a:p>
          <a:p>
            <a:pPr marL="0" indent="0" algn="ctr">
              <a:buNone/>
            </a:pPr>
            <a:r>
              <a:rPr lang="en-US" sz="900" dirty="0">
                <a:solidFill>
                  <a:srgbClr val="C0392B"/>
                </a:solidFill>
                <a:latin typeface="Calibri" pitchFamily="34" charset="0"/>
                <a:ea typeface="Calibri" pitchFamily="34" charset="-122"/>
                <a:cs typeface="Calibri" pitchFamily="34" charset="-120"/>
              </a:rPr>
              <a:t>this.</a:t>
            </a:r>
            <a:endParaRPr lang="en-US" sz="900" dirty="0"/>
          </a:p>
        </p:txBody>
      </p:sp>
      <p:sp>
        <p:nvSpPr>
          <p:cNvPr id="14" name="Shape 12"/>
          <p:cNvSpPr/>
          <p:nvPr/>
        </p:nvSpPr>
        <p:spPr>
          <a:xfrm>
            <a:off x="347472" y="4663440"/>
            <a:ext cx="8412480" cy="475488"/>
          </a:xfrm>
          <a:prstGeom prst="rect">
            <a:avLst/>
          </a:prstGeom>
          <a:solidFill>
            <a:srgbClr val="FEF2F2"/>
          </a:solidFill>
          <a:ln/>
        </p:spPr>
      </p:sp>
      <p:sp>
        <p:nvSpPr>
          <p:cNvPr id="15" name="Text 13"/>
          <p:cNvSpPr/>
          <p:nvPr/>
        </p:nvSpPr>
        <p:spPr>
          <a:xfrm>
            <a:off x="502920" y="4663440"/>
            <a:ext cx="8229600" cy="475488"/>
          </a:xfrm>
          <a:prstGeom prst="rect">
            <a:avLst/>
          </a:prstGeom>
          <a:noFill/>
          <a:ln/>
        </p:spPr>
        <p:txBody>
          <a:bodyPr wrap="square" rtlCol="0" anchor="ctr"/>
          <a:lstStyle/>
          <a:p>
            <a:pPr marL="0" indent="0">
              <a:buNone/>
            </a:pPr>
            <a:r>
              <a:rPr lang="en-US" sz="1050" b="1" dirty="0">
                <a:solidFill>
                  <a:srgbClr val="C0392B"/>
                </a:solidFill>
                <a:latin typeface="Calibri" pitchFamily="34" charset="0"/>
                <a:ea typeface="Calibri" pitchFamily="34" charset="-122"/>
                <a:cs typeface="Calibri" pitchFamily="34" charset="-120"/>
              </a:rPr>
              <a:t>This is confident. It is not correct. If Sarah doesn't know her business — she accepts it. If she does — she pushes back.</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EFE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C5F2D"/>
          </a:solidFill>
          <a:ln w="12700">
            <a:solidFill>
              <a:srgbClr val="2C5F2D"/>
            </a:solidFill>
            <a:prstDash val="solid"/>
          </a:ln>
        </p:spPr>
      </p:sp>
      <p:sp>
        <p:nvSpPr>
          <p:cNvPr id="3" name="Text 1"/>
          <p:cNvSpPr/>
          <p:nvPr/>
        </p:nvSpPr>
        <p:spPr>
          <a:xfrm>
            <a:off x="347472" y="530352"/>
            <a:ext cx="6400800" cy="548640"/>
          </a:xfrm>
          <a:prstGeom prst="rect">
            <a:avLst/>
          </a:prstGeom>
          <a:noFill/>
          <a:ln/>
        </p:spPr>
        <p:txBody>
          <a:bodyPr wrap="square" rtlCol="0" anchor="ctr"/>
          <a:lstStyle/>
          <a:p>
            <a:pPr marL="0" indent="0">
              <a:buNone/>
            </a:pPr>
            <a:r>
              <a:rPr lang="en-US" sz="2800" b="1" dirty="0">
                <a:solidFill>
                  <a:srgbClr val="0D1B2A"/>
                </a:solidFill>
                <a:latin typeface="Arial Black" pitchFamily="34" charset="0"/>
                <a:ea typeface="Arial Black" pitchFamily="34" charset="-122"/>
                <a:cs typeface="Arial Black" pitchFamily="34" charset="-120"/>
              </a:rPr>
              <a:t>C³ CHALLENGE</a:t>
            </a:r>
            <a:endParaRPr lang="en-US" sz="2800" dirty="0"/>
          </a:p>
        </p:txBody>
      </p:sp>
      <p:sp>
        <p:nvSpPr>
          <p:cNvPr id="4" name="Shape 2"/>
          <p:cNvSpPr/>
          <p:nvPr/>
        </p:nvSpPr>
        <p:spPr>
          <a:xfrm>
            <a:off x="7498080" y="1719072"/>
            <a:ext cx="1234440" cy="292608"/>
          </a:xfrm>
          <a:prstGeom prst="rect">
            <a:avLst/>
          </a:prstGeom>
          <a:solidFill>
            <a:srgbClr val="2C5F2D"/>
          </a:solidFill>
          <a:ln w="12700">
            <a:solidFill>
              <a:srgbClr val="2C5F2D"/>
            </a:solidFill>
            <a:prstDash val="solid"/>
          </a:ln>
        </p:spPr>
      </p:sp>
      <p:sp>
        <p:nvSpPr>
          <p:cNvPr id="5" name="Text 3"/>
          <p:cNvSpPr/>
          <p:nvPr/>
        </p:nvSpPr>
        <p:spPr>
          <a:xfrm>
            <a:off x="7498080" y="1719072"/>
            <a:ext cx="1234440" cy="292608"/>
          </a:xfrm>
          <a:prstGeom prst="rect">
            <a:avLst/>
          </a:prstGeom>
          <a:noFill/>
          <a:ln/>
        </p:spPr>
        <p:txBody>
          <a:bodyPr wrap="square" rtlCol="0" anchor="ctr"/>
          <a:lstStyle/>
          <a:p>
            <a:pPr marL="0" indent="0" algn="ctr">
              <a:buNone/>
            </a:pPr>
            <a:r>
              <a:rPr lang="en-US" sz="850" b="1" dirty="0">
                <a:solidFill>
                  <a:srgbClr val="FFFFFF"/>
                </a:solidFill>
              </a:rPr>
              <a:t>C³ CHALLENGE</a:t>
            </a:r>
            <a:endParaRPr lang="en-US" sz="850" dirty="0"/>
          </a:p>
        </p:txBody>
      </p:sp>
      <p:sp>
        <p:nvSpPr>
          <p:cNvPr id="6" name="Text 4"/>
          <p:cNvSpPr/>
          <p:nvPr/>
        </p:nvSpPr>
        <p:spPr>
          <a:xfrm>
            <a:off x="347472" y="1078992"/>
            <a:ext cx="8412480" cy="292608"/>
          </a:xfrm>
          <a:prstGeom prst="rect">
            <a:avLst/>
          </a:prstGeom>
          <a:noFill/>
          <a:ln/>
        </p:spPr>
        <p:txBody>
          <a:bodyPr wrap="square" rtlCol="0" anchor="ctr"/>
          <a:lstStyle/>
          <a:p>
            <a:pPr marL="0" indent="0">
              <a:buNone/>
            </a:pPr>
            <a:r>
              <a:rPr lang="en-US" sz="1200" i="1" dirty="0">
                <a:solidFill>
                  <a:srgbClr val="6B7280"/>
                </a:solidFill>
              </a:rPr>
              <a:t>Sarah knows her business. AI doesn't. She uses that.</a:t>
            </a:r>
            <a:endParaRPr lang="en-US" sz="1200" dirty="0"/>
          </a:p>
        </p:txBody>
      </p:sp>
      <p:sp>
        <p:nvSpPr>
          <p:cNvPr id="7" name="Shape 5"/>
          <p:cNvSpPr/>
          <p:nvPr/>
        </p:nvSpPr>
        <p:spPr>
          <a:xfrm>
            <a:off x="347472" y="1417320"/>
            <a:ext cx="8412480" cy="3520440"/>
          </a:xfrm>
          <a:prstGeom prst="rect">
            <a:avLst/>
          </a:prstGeom>
          <a:solidFill>
            <a:srgbClr val="F8F9FA"/>
          </a:solidFill>
          <a:ln w="12700">
            <a:solidFill>
              <a:srgbClr val="E5E7EB"/>
            </a:solidFill>
            <a:prstDash val="solid"/>
          </a:ln>
          <a:effectLst>
            <a:outerShdw blurRad="76200" dist="25400" dir="8100000" algn="bl" rotWithShape="0">
              <a:srgbClr val="000000">
                <a:alpha val="15000"/>
              </a:srgbClr>
            </a:outerShdw>
          </a:effectLst>
        </p:spPr>
      </p:sp>
      <p:sp>
        <p:nvSpPr>
          <p:cNvPr id="8" name="Shape 6"/>
          <p:cNvSpPr/>
          <p:nvPr/>
        </p:nvSpPr>
        <p:spPr>
          <a:xfrm>
            <a:off x="347472" y="1417320"/>
            <a:ext cx="8412480" cy="365760"/>
          </a:xfrm>
          <a:prstGeom prst="rect">
            <a:avLst/>
          </a:prstGeom>
          <a:solidFill>
            <a:srgbClr val="E5E7EB"/>
          </a:solidFill>
          <a:ln/>
        </p:spPr>
      </p:sp>
      <p:sp>
        <p:nvSpPr>
          <p:cNvPr id="9" name="Text 7"/>
          <p:cNvSpPr/>
          <p:nvPr/>
        </p:nvSpPr>
        <p:spPr>
          <a:xfrm>
            <a:off x="502920" y="1417320"/>
            <a:ext cx="914400" cy="365760"/>
          </a:xfrm>
          <a:prstGeom prst="rect">
            <a:avLst/>
          </a:prstGeom>
          <a:noFill/>
          <a:ln/>
        </p:spPr>
        <p:txBody>
          <a:bodyPr wrap="square" rtlCol="0" anchor="ctr"/>
          <a:lstStyle/>
          <a:p>
            <a:pPr marL="0" indent="0">
              <a:buNone/>
            </a:pPr>
            <a:r>
              <a:rPr lang="en-US" sz="900" dirty="0">
                <a:solidFill>
                  <a:srgbClr val="9CA3AF"/>
                </a:solidFill>
              </a:rPr>
              <a:t>● ● ●</a:t>
            </a:r>
            <a:endParaRPr lang="en-US" sz="900" dirty="0"/>
          </a:p>
        </p:txBody>
      </p:sp>
      <p:sp>
        <p:nvSpPr>
          <p:cNvPr id="10" name="Text 8"/>
          <p:cNvSpPr/>
          <p:nvPr/>
        </p:nvSpPr>
        <p:spPr>
          <a:xfrm>
            <a:off x="3840480" y="1417320"/>
            <a:ext cx="1463040" cy="365760"/>
          </a:xfrm>
          <a:prstGeom prst="rect">
            <a:avLst/>
          </a:prstGeom>
          <a:noFill/>
          <a:ln/>
        </p:spPr>
        <p:txBody>
          <a:bodyPr wrap="square" rtlCol="0" anchor="ctr"/>
          <a:lstStyle/>
          <a:p>
            <a:pPr marL="0" indent="0" algn="ctr">
              <a:buNone/>
            </a:pPr>
            <a:r>
              <a:rPr lang="en-US" sz="1100" b="1" dirty="0">
                <a:solidFill>
                  <a:srgbClr val="0D1B2A"/>
                </a:solidFill>
              </a:rPr>
              <a:t>AI</a:t>
            </a:r>
            <a:endParaRPr lang="en-US" sz="1100" dirty="0"/>
          </a:p>
        </p:txBody>
      </p:sp>
      <p:sp>
        <p:nvSpPr>
          <p:cNvPr id="11" name="Shape 9"/>
          <p:cNvSpPr/>
          <p:nvPr/>
        </p:nvSpPr>
        <p:spPr>
          <a:xfrm>
            <a:off x="2926080" y="1874520"/>
            <a:ext cx="5760720" cy="1051560"/>
          </a:xfrm>
          <a:prstGeom prst="rect">
            <a:avLst/>
          </a:prstGeom>
          <a:solidFill>
            <a:srgbClr val="1A7A9E"/>
          </a:solidFill>
          <a:ln w="12700">
            <a:solidFill>
              <a:srgbClr val="1A7A9E"/>
            </a:solidFill>
            <a:prstDash val="solid"/>
          </a:ln>
        </p:spPr>
      </p:sp>
      <p:sp>
        <p:nvSpPr>
          <p:cNvPr id="12" name="Text 10"/>
          <p:cNvSpPr/>
          <p:nvPr/>
        </p:nvSpPr>
        <p:spPr>
          <a:xfrm>
            <a:off x="3035808" y="1929384"/>
            <a:ext cx="5577840" cy="941832"/>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We've tried the Google Sheet twice. It works for a month, then nobody maintains it. The problem isn't the tool — it's that compliance gets deprioritised the moment anyone is busy. What am I not thinking about?</a:t>
            </a:r>
            <a:endParaRPr lang="en-US" sz="1050" dirty="0"/>
          </a:p>
        </p:txBody>
      </p:sp>
      <p:sp>
        <p:nvSpPr>
          <p:cNvPr id="13" name="Shape 11"/>
          <p:cNvSpPr/>
          <p:nvPr/>
        </p:nvSpPr>
        <p:spPr>
          <a:xfrm>
            <a:off x="457200" y="3063240"/>
            <a:ext cx="6949440" cy="1783080"/>
          </a:xfrm>
          <a:prstGeom prst="rect">
            <a:avLst/>
          </a:prstGeom>
          <a:solidFill>
            <a:srgbClr val="FFFFFF"/>
          </a:solidFill>
          <a:ln w="12700">
            <a:solidFill>
              <a:srgbClr val="E5E7EB"/>
            </a:solidFill>
            <a:prstDash val="solid"/>
          </a:ln>
        </p:spPr>
      </p:sp>
      <p:sp>
        <p:nvSpPr>
          <p:cNvPr id="14" name="Text 12"/>
          <p:cNvSpPr/>
          <p:nvPr/>
        </p:nvSpPr>
        <p:spPr>
          <a:xfrm>
            <a:off x="594360" y="3154680"/>
            <a:ext cx="6675120" cy="1600200"/>
          </a:xfrm>
          <a:prstGeom prst="rect">
            <a:avLst/>
          </a:prstGeom>
          <a:noFill/>
          <a:ln/>
        </p:spPr>
        <p:txBody>
          <a:bodyPr wrap="square" rtlCol="0" anchor="t"/>
          <a:lstStyle/>
          <a:p>
            <a:pPr marL="0" indent="0">
              <a:buNone/>
            </a:pPr>
            <a:r>
              <a:rPr lang="en-US" sz="1050" b="1" dirty="0">
                <a:solidFill>
                  <a:srgbClr val="0D1B2A"/>
                </a:solidFill>
                <a:latin typeface="Calibri" pitchFamily="34" charset="0"/>
                <a:ea typeface="Calibri" pitchFamily="34" charset="-122"/>
                <a:cs typeface="Calibri" pitchFamily="34" charset="-120"/>
              </a:rPr>
              <a:t>That's a critical distinction — thank you for pushing back.
</a:t>
            </a:r>
            <a:r>
              <a:rPr lang="en-US" sz="1050" dirty="0">
                <a:solidFill>
                  <a:srgbClr val="0D1B2A"/>
                </a:solidFill>
                <a:latin typeface="Calibri" pitchFamily="34" charset="0"/>
                <a:ea typeface="Calibri" pitchFamily="34" charset="-122"/>
                <a:cs typeface="Calibri" pitchFamily="34" charset="-120"/>
              </a:rPr>
              <a:t>If manual maintenance always fails under pressure, the system can't rely on human remembering. Let me ask differently: </a:t>
            </a:r>
            <a:r>
              <a:rPr lang="en-US" sz="1050" b="1" dirty="0">
                <a:solidFill>
                  <a:srgbClr val="0D1B2A"/>
                </a:solidFill>
                <a:latin typeface="Calibri" pitchFamily="34" charset="0"/>
                <a:ea typeface="Calibri" pitchFamily="34" charset="-122"/>
                <a:cs typeface="Calibri" pitchFamily="34" charset="-120"/>
              </a:rPr>
              <a:t>is there a point in your existing workflow — onboarding, site sign-in, invoicing — where compliance status is already checked? Because the answer is to embed it there, not add a separate process.</a:t>
            </a:r>
            <a:endParaRPr lang="en-US" sz="1050" dirty="0"/>
          </a:p>
        </p:txBody>
      </p:sp>
      <p:sp>
        <p:nvSpPr>
          <p:cNvPr id="15" name="Shape 13"/>
          <p:cNvSpPr/>
          <p:nvPr/>
        </p:nvSpPr>
        <p:spPr>
          <a:xfrm>
            <a:off x="347472" y="4681728"/>
            <a:ext cx="8412480" cy="457200"/>
          </a:xfrm>
          <a:prstGeom prst="rect">
            <a:avLst/>
          </a:prstGeom>
          <a:solidFill>
            <a:srgbClr val="F0FDF4"/>
          </a:solidFill>
          <a:ln/>
        </p:spPr>
      </p:sp>
      <p:sp>
        <p:nvSpPr>
          <p:cNvPr id="16" name="Text 14"/>
          <p:cNvSpPr/>
          <p:nvPr/>
        </p:nvSpPr>
        <p:spPr>
          <a:xfrm>
            <a:off x="502920" y="4681728"/>
            <a:ext cx="8229600" cy="457200"/>
          </a:xfrm>
          <a:prstGeom prst="rect">
            <a:avLst/>
          </a:prstGeom>
          <a:noFill/>
          <a:ln/>
        </p:spPr>
        <p:txBody>
          <a:bodyPr wrap="square" rtlCol="0" anchor="ctr"/>
          <a:lstStyle/>
          <a:p>
            <a:pPr marL="0" indent="0">
              <a:buNone/>
            </a:pPr>
            <a:r>
              <a:rPr lang="en-US" sz="1050" b="1" dirty="0">
                <a:solidFill>
                  <a:srgbClr val="2C5F2D"/>
                </a:solidFill>
                <a:latin typeface="Calibri" pitchFamily="34" charset="0"/>
                <a:ea typeface="Calibri" pitchFamily="34" charset="-122"/>
                <a:cs typeface="Calibri" pitchFamily="34" charset="-120"/>
              </a:rPr>
              <a:t>Sarah said 'What am I not thinking about?' — and AI changed direction entirely. That's Challenge working.</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EFE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C5F2D"/>
          </a:solidFill>
          <a:ln w="12700">
            <a:solidFill>
              <a:srgbClr val="2C5F2D"/>
            </a:solidFill>
            <a:prstDash val="solid"/>
          </a:ln>
        </p:spPr>
      </p:sp>
      <p:sp>
        <p:nvSpPr>
          <p:cNvPr id="3" name="Text 1"/>
          <p:cNvSpPr/>
          <p:nvPr/>
        </p:nvSpPr>
        <p:spPr>
          <a:xfrm>
            <a:off x="347472" y="530352"/>
            <a:ext cx="8412480" cy="548640"/>
          </a:xfrm>
          <a:prstGeom prst="rect">
            <a:avLst/>
          </a:prstGeom>
          <a:noFill/>
          <a:ln/>
        </p:spPr>
        <p:txBody>
          <a:bodyPr wrap="square" rtlCol="0" anchor="ctr"/>
          <a:lstStyle/>
          <a:p>
            <a:pPr marL="0" indent="0">
              <a:buNone/>
            </a:pPr>
            <a:r>
              <a:rPr lang="en-US" sz="2600" b="1" dirty="0">
                <a:solidFill>
                  <a:srgbClr val="0D1B2A"/>
                </a:solidFill>
                <a:latin typeface="Arial Black" pitchFamily="34" charset="0"/>
                <a:ea typeface="Arial Black" pitchFamily="34" charset="-122"/>
                <a:cs typeface="Arial Black" pitchFamily="34" charset="-120"/>
              </a:rPr>
              <a:t>AI RESTATES THE PROBLEM.</a:t>
            </a:r>
            <a:endParaRPr lang="en-US" sz="2600" dirty="0"/>
          </a:p>
        </p:txBody>
      </p:sp>
      <p:sp>
        <p:nvSpPr>
          <p:cNvPr id="4" name="Text 2"/>
          <p:cNvSpPr/>
          <p:nvPr/>
        </p:nvSpPr>
        <p:spPr>
          <a:xfrm>
            <a:off x="347472" y="1078992"/>
            <a:ext cx="8412480" cy="292608"/>
          </a:xfrm>
          <a:prstGeom prst="rect">
            <a:avLst/>
          </a:prstGeom>
          <a:noFill/>
          <a:ln/>
        </p:spPr>
        <p:txBody>
          <a:bodyPr wrap="square" rtlCol="0" anchor="ctr"/>
          <a:lstStyle/>
          <a:p>
            <a:pPr marL="0" indent="0">
              <a:buNone/>
            </a:pPr>
            <a:r>
              <a:rPr lang="en-US" sz="1200" i="1" dirty="0">
                <a:solidFill>
                  <a:srgbClr val="6B7280"/>
                </a:solidFill>
              </a:rPr>
              <a:t>Sarah says: "That's exactly it."  The real solution can now begin.</a:t>
            </a:r>
            <a:endParaRPr lang="en-US" sz="1200" dirty="0"/>
          </a:p>
        </p:txBody>
      </p:sp>
      <p:sp>
        <p:nvSpPr>
          <p:cNvPr id="5" name="Shape 3"/>
          <p:cNvSpPr/>
          <p:nvPr/>
        </p:nvSpPr>
        <p:spPr>
          <a:xfrm>
            <a:off x="347472" y="1417320"/>
            <a:ext cx="8412480" cy="2468880"/>
          </a:xfrm>
          <a:prstGeom prst="rect">
            <a:avLst/>
          </a:prstGeom>
          <a:solidFill>
            <a:srgbClr val="F8F9FA"/>
          </a:solidFill>
          <a:ln w="12700">
            <a:solidFill>
              <a:srgbClr val="E5E7EB"/>
            </a:solidFill>
            <a:prstDash val="solid"/>
          </a:ln>
          <a:effectLst>
            <a:outerShdw blurRad="76200" dist="25400" dir="8100000" algn="bl" rotWithShape="0">
              <a:srgbClr val="000000">
                <a:alpha val="15000"/>
              </a:srgbClr>
            </a:outerShdw>
          </a:effectLst>
        </p:spPr>
      </p:sp>
      <p:sp>
        <p:nvSpPr>
          <p:cNvPr id="6" name="Shape 4"/>
          <p:cNvSpPr/>
          <p:nvPr/>
        </p:nvSpPr>
        <p:spPr>
          <a:xfrm>
            <a:off x="347472" y="1417320"/>
            <a:ext cx="8412480" cy="365760"/>
          </a:xfrm>
          <a:prstGeom prst="rect">
            <a:avLst/>
          </a:prstGeom>
          <a:solidFill>
            <a:srgbClr val="E5E7EB"/>
          </a:solidFill>
          <a:ln/>
        </p:spPr>
      </p:sp>
      <p:sp>
        <p:nvSpPr>
          <p:cNvPr id="7" name="Text 5"/>
          <p:cNvSpPr/>
          <p:nvPr/>
        </p:nvSpPr>
        <p:spPr>
          <a:xfrm>
            <a:off x="502920" y="1417320"/>
            <a:ext cx="914400" cy="365760"/>
          </a:xfrm>
          <a:prstGeom prst="rect">
            <a:avLst/>
          </a:prstGeom>
          <a:noFill/>
          <a:ln/>
        </p:spPr>
        <p:txBody>
          <a:bodyPr wrap="square" rtlCol="0" anchor="ctr"/>
          <a:lstStyle/>
          <a:p>
            <a:pPr marL="0" indent="0">
              <a:buNone/>
            </a:pPr>
            <a:r>
              <a:rPr lang="en-US" sz="900" dirty="0">
                <a:solidFill>
                  <a:srgbClr val="9CA3AF"/>
                </a:solidFill>
              </a:rPr>
              <a:t>● ● ●</a:t>
            </a:r>
            <a:endParaRPr lang="en-US" sz="900" dirty="0"/>
          </a:p>
        </p:txBody>
      </p:sp>
      <p:sp>
        <p:nvSpPr>
          <p:cNvPr id="8" name="Text 6"/>
          <p:cNvSpPr/>
          <p:nvPr/>
        </p:nvSpPr>
        <p:spPr>
          <a:xfrm>
            <a:off x="3840480" y="1417320"/>
            <a:ext cx="1463040" cy="365760"/>
          </a:xfrm>
          <a:prstGeom prst="rect">
            <a:avLst/>
          </a:prstGeom>
          <a:noFill/>
          <a:ln/>
        </p:spPr>
        <p:txBody>
          <a:bodyPr wrap="square" rtlCol="0" anchor="ctr"/>
          <a:lstStyle/>
          <a:p>
            <a:pPr marL="0" indent="0" algn="ctr">
              <a:buNone/>
            </a:pPr>
            <a:r>
              <a:rPr lang="en-US" sz="1100" b="1" dirty="0">
                <a:solidFill>
                  <a:srgbClr val="0D1B2A"/>
                </a:solidFill>
              </a:rPr>
              <a:t>AI</a:t>
            </a:r>
            <a:endParaRPr lang="en-US" sz="1100" dirty="0"/>
          </a:p>
        </p:txBody>
      </p:sp>
      <p:sp>
        <p:nvSpPr>
          <p:cNvPr id="9" name="Shape 7"/>
          <p:cNvSpPr/>
          <p:nvPr/>
        </p:nvSpPr>
        <p:spPr>
          <a:xfrm>
            <a:off x="457200" y="1874520"/>
            <a:ext cx="6949440" cy="1874520"/>
          </a:xfrm>
          <a:prstGeom prst="rect">
            <a:avLst/>
          </a:prstGeom>
          <a:solidFill>
            <a:srgbClr val="FFFFFF"/>
          </a:solidFill>
          <a:ln w="12700">
            <a:solidFill>
              <a:srgbClr val="E5E7EB"/>
            </a:solidFill>
            <a:prstDash val="solid"/>
          </a:ln>
        </p:spPr>
      </p:sp>
      <p:sp>
        <p:nvSpPr>
          <p:cNvPr id="10" name="Text 8"/>
          <p:cNvSpPr/>
          <p:nvPr/>
        </p:nvSpPr>
        <p:spPr>
          <a:xfrm>
            <a:off x="594360" y="1965960"/>
            <a:ext cx="6675120" cy="1691640"/>
          </a:xfrm>
          <a:prstGeom prst="rect">
            <a:avLst/>
          </a:prstGeom>
          <a:noFill/>
          <a:ln/>
        </p:spPr>
        <p:txBody>
          <a:bodyPr wrap="square" rtlCol="0" anchor="t"/>
          <a:lstStyle/>
          <a:p>
            <a:pPr marL="0" indent="0">
              <a:buNone/>
            </a:pPr>
            <a:r>
              <a:rPr lang="en-US" sz="1050" b="1" dirty="0">
                <a:solidFill>
                  <a:srgbClr val="0D1B2A"/>
                </a:solidFill>
                <a:latin typeface="Calibri" pitchFamily="34" charset="0"/>
                <a:ea typeface="Calibri" pitchFamily="34" charset="-122"/>
                <a:cs typeface="Calibri" pitchFamily="34" charset="-120"/>
              </a:rPr>
              <a:t>Let me restate what I'm actually hearing:
</a:t>
            </a:r>
            <a:r>
              <a:rPr lang="en-US" sz="1050" dirty="0">
                <a:solidFill>
                  <a:srgbClr val="0D1B2A"/>
                </a:solidFill>
                <a:latin typeface="Calibri" pitchFamily="34" charset="0"/>
                <a:ea typeface="Calibri" pitchFamily="34" charset="-122"/>
                <a:cs typeface="Calibri" pitchFamily="34" charset="-120"/>
              </a:rPr>
              <a:t>The real problem is that compliance checking only happens when someone remembers — and under pressure, nobody does. A new tool won't fix that. What's needed is compliance status that's visible automatically at a trigger point that already exists in your workflow, so it doesn't depend on anyone's memory or bandwidth.</a:t>
            </a:r>
            <a:endParaRPr lang="en-US" sz="1050" dirty="0"/>
          </a:p>
        </p:txBody>
      </p:sp>
      <p:sp>
        <p:nvSpPr>
          <p:cNvPr id="11" name="Shape 9"/>
          <p:cNvSpPr/>
          <p:nvPr/>
        </p:nvSpPr>
        <p:spPr>
          <a:xfrm>
            <a:off x="2926080" y="4005072"/>
            <a:ext cx="5760720" cy="658368"/>
          </a:xfrm>
          <a:prstGeom prst="rect">
            <a:avLst/>
          </a:prstGeom>
          <a:solidFill>
            <a:srgbClr val="1A7A9E"/>
          </a:solidFill>
          <a:ln w="12700">
            <a:solidFill>
              <a:srgbClr val="1A7A9E"/>
            </a:solidFill>
            <a:prstDash val="solid"/>
          </a:ln>
        </p:spPr>
      </p:sp>
      <p:sp>
        <p:nvSpPr>
          <p:cNvPr id="12" name="Text 10"/>
          <p:cNvSpPr/>
          <p:nvPr/>
        </p:nvSpPr>
        <p:spPr>
          <a:xfrm>
            <a:off x="3035808" y="4059936"/>
            <a:ext cx="5577840" cy="54864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Yes. That's exactly it. That's what I've been trying to say for three years.</a:t>
            </a:r>
            <a:endParaRPr lang="en-US" sz="1050" dirty="0"/>
          </a:p>
        </p:txBody>
      </p:sp>
      <p:sp>
        <p:nvSpPr>
          <p:cNvPr id="13" name="Shape 11"/>
          <p:cNvSpPr/>
          <p:nvPr/>
        </p:nvSpPr>
        <p:spPr>
          <a:xfrm>
            <a:off x="347472" y="4736592"/>
            <a:ext cx="8412480" cy="438912"/>
          </a:xfrm>
          <a:prstGeom prst="rect">
            <a:avLst/>
          </a:prstGeom>
          <a:solidFill>
            <a:srgbClr val="1E2D3D"/>
          </a:solidFill>
          <a:ln/>
        </p:spPr>
      </p:sp>
      <p:sp>
        <p:nvSpPr>
          <p:cNvPr id="14" name="Text 12"/>
          <p:cNvSpPr/>
          <p:nvPr/>
        </p:nvSpPr>
        <p:spPr>
          <a:xfrm>
            <a:off x="502920" y="4736592"/>
            <a:ext cx="8229600" cy="438912"/>
          </a:xfrm>
          <a:prstGeom prst="rect">
            <a:avLst/>
          </a:prstGeom>
          <a:noFill/>
          <a:ln/>
        </p:spPr>
        <p:txBody>
          <a:bodyPr wrap="square" rtlCol="0" anchor="ctr"/>
          <a:lstStyle/>
          <a:p>
            <a:pPr marL="0" indent="0">
              <a:buNone/>
            </a:pPr>
            <a:r>
              <a:rPr lang="en-US" sz="1050" i="1" dirty="0">
                <a:solidFill>
                  <a:srgbClr val="1A7A9E"/>
                </a:solidFill>
                <a:latin typeface="Calibri" pitchFamily="34" charset="0"/>
                <a:ea typeface="Calibri" pitchFamily="34" charset="-122"/>
                <a:cs typeface="Calibri" pitchFamily="34" charset="-120"/>
              </a:rPr>
              <a:t>The conversation has done its job. Now AI designs the solution — for the real problem, not the labelled one.</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EFE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A7A9E"/>
          </a:solidFill>
          <a:ln w="12700">
            <a:solidFill>
              <a:srgbClr val="1A7A9E"/>
            </a:solidFill>
            <a:prstDash val="solid"/>
          </a:ln>
        </p:spPr>
      </p:sp>
      <p:sp>
        <p:nvSpPr>
          <p:cNvPr id="3" name="Text 1"/>
          <p:cNvSpPr/>
          <p:nvPr/>
        </p:nvSpPr>
        <p:spPr>
          <a:xfrm>
            <a:off x="347472" y="530352"/>
            <a:ext cx="8412480" cy="594360"/>
          </a:xfrm>
          <a:prstGeom prst="rect">
            <a:avLst/>
          </a:prstGeom>
          <a:noFill/>
          <a:ln/>
        </p:spPr>
        <p:txBody>
          <a:bodyPr wrap="square" rtlCol="0" anchor="ctr"/>
          <a:lstStyle/>
          <a:p>
            <a:pPr marL="0" indent="0">
              <a:buNone/>
            </a:pPr>
            <a:r>
              <a:rPr lang="en-US" sz="2600" b="1" dirty="0">
                <a:solidFill>
                  <a:srgbClr val="0D1B2A"/>
                </a:solidFill>
                <a:latin typeface="Arial Black" pitchFamily="34" charset="0"/>
                <a:ea typeface="Arial Black" pitchFamily="34" charset="-122"/>
                <a:cs typeface="Arial Black" pitchFamily="34" charset="-120"/>
              </a:rPr>
              <a:t>WHAT AI PRODUCED</a:t>
            </a:r>
            <a:endParaRPr lang="en-US" sz="2600" dirty="0"/>
          </a:p>
        </p:txBody>
      </p:sp>
      <p:sp>
        <p:nvSpPr>
          <p:cNvPr id="4" name="Text 2"/>
          <p:cNvSpPr/>
          <p:nvPr/>
        </p:nvSpPr>
        <p:spPr>
          <a:xfrm>
            <a:off x="347472" y="1097280"/>
            <a:ext cx="8412480" cy="320040"/>
          </a:xfrm>
          <a:prstGeom prst="rect">
            <a:avLst/>
          </a:prstGeom>
          <a:noFill/>
          <a:ln/>
        </p:spPr>
        <p:txBody>
          <a:bodyPr wrap="square" rtlCol="0" anchor="ctr"/>
          <a:lstStyle/>
          <a:p>
            <a:pPr marL="0" indent="0">
              <a:buNone/>
            </a:pPr>
            <a:r>
              <a:rPr lang="en-US" sz="1200" i="1" dirty="0">
                <a:solidFill>
                  <a:srgbClr val="6B7280"/>
                </a:solidFill>
              </a:rPr>
              <a:t>Not what Sarah asked for — what she actually needed.</a:t>
            </a:r>
            <a:endParaRPr lang="en-US" sz="1200" dirty="0"/>
          </a:p>
        </p:txBody>
      </p:sp>
      <p:sp>
        <p:nvSpPr>
          <p:cNvPr id="5" name="Shape 3"/>
          <p:cNvSpPr/>
          <p:nvPr/>
        </p:nvSpPr>
        <p:spPr>
          <a:xfrm>
            <a:off x="347472" y="1536192"/>
            <a:ext cx="2724912" cy="3383280"/>
          </a:xfrm>
          <a:prstGeom prst="rect">
            <a:avLst/>
          </a:prstGeom>
          <a:solidFill>
            <a:srgbClr val="FFFFFF"/>
          </a:solidFill>
          <a:ln/>
          <a:effectLst>
            <a:outerShdw blurRad="76200" dist="25400" dir="8100000" algn="bl" rotWithShape="0">
              <a:srgbClr val="000000">
                <a:alpha val="15000"/>
              </a:srgbClr>
            </a:outerShdw>
          </a:effectLst>
        </p:spPr>
      </p:sp>
      <p:sp>
        <p:nvSpPr>
          <p:cNvPr id="6" name="Shape 4"/>
          <p:cNvSpPr/>
          <p:nvPr/>
        </p:nvSpPr>
        <p:spPr>
          <a:xfrm>
            <a:off x="347472" y="1536192"/>
            <a:ext cx="2724912" cy="438912"/>
          </a:xfrm>
          <a:prstGeom prst="rect">
            <a:avLst/>
          </a:prstGeom>
          <a:solidFill>
            <a:srgbClr val="C0392B"/>
          </a:solidFill>
          <a:ln/>
        </p:spPr>
      </p:sp>
      <p:sp>
        <p:nvSpPr>
          <p:cNvPr id="7" name="Text 5"/>
          <p:cNvSpPr/>
          <p:nvPr/>
        </p:nvSpPr>
        <p:spPr>
          <a:xfrm>
            <a:off x="438912" y="1536192"/>
            <a:ext cx="2542032" cy="438912"/>
          </a:xfrm>
          <a:prstGeom prst="rect">
            <a:avLst/>
          </a:prstGeom>
          <a:noFill/>
          <a:ln/>
        </p:spPr>
        <p:txBody>
          <a:bodyPr wrap="square"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SHE ASKED FOR</a:t>
            </a:r>
            <a:endParaRPr lang="en-US" sz="1050" dirty="0"/>
          </a:p>
        </p:txBody>
      </p:sp>
      <p:sp>
        <p:nvSpPr>
          <p:cNvPr id="8" name="Text 6"/>
          <p:cNvSpPr/>
          <p:nvPr/>
        </p:nvSpPr>
        <p:spPr>
          <a:xfrm>
            <a:off x="457200" y="2048256"/>
            <a:ext cx="2505456" cy="2743200"/>
          </a:xfrm>
          <a:prstGeom prst="rect">
            <a:avLst/>
          </a:prstGeom>
          <a:noFill/>
          <a:ln/>
        </p:spPr>
        <p:txBody>
          <a:bodyPr wrap="square" rtlCol="0" anchor="t"/>
          <a:lstStyle/>
          <a:p>
            <a:pPr marL="0" indent="0">
              <a:buNone/>
            </a:pPr>
            <a:r>
              <a:rPr lang="en-US" sz="1150" dirty="0">
                <a:solidFill>
                  <a:srgbClr val="0D1B2A"/>
                </a:solidFill>
                <a:latin typeface="Calibri" pitchFamily="34" charset="0"/>
                <a:ea typeface="Calibri" pitchFamily="34" charset="-122"/>
                <a:cs typeface="Calibri" pitchFamily="34" charset="-120"/>
              </a:rPr>
              <a:t>A better checklist.</a:t>
            </a:r>
            <a:endParaRPr lang="en-US" sz="1150" dirty="0"/>
          </a:p>
          <a:p>
            <a:pPr marL="0" indent="0">
              <a:buNone/>
            </a:pPr>
            <a:r>
              <a:rPr lang="en-US" sz="1150" dirty="0">
                <a:solidFill>
                  <a:srgbClr val="0D1B2A"/>
                </a:solidFill>
                <a:latin typeface="Calibri" pitchFamily="34" charset="0"/>
                <a:ea typeface="Calibri" pitchFamily="34" charset="-122"/>
                <a:cs typeface="Calibri" pitchFamily="34" charset="-120"/>
              </a:rPr>
              <a:t>Something to replace the spreadsheet that kept breaking down.</a:t>
            </a:r>
            <a:endParaRPr lang="en-US" sz="1150" dirty="0"/>
          </a:p>
        </p:txBody>
      </p:sp>
      <p:sp>
        <p:nvSpPr>
          <p:cNvPr id="9" name="Shape 7"/>
          <p:cNvSpPr/>
          <p:nvPr/>
        </p:nvSpPr>
        <p:spPr>
          <a:xfrm>
            <a:off x="3209544" y="1536192"/>
            <a:ext cx="2724912" cy="3383280"/>
          </a:xfrm>
          <a:prstGeom prst="rect">
            <a:avLst/>
          </a:prstGeom>
          <a:solidFill>
            <a:srgbClr val="FFFFFF"/>
          </a:solidFill>
          <a:ln/>
          <a:effectLst>
            <a:outerShdw blurRad="76200" dist="25400" dir="8100000" algn="bl" rotWithShape="0">
              <a:srgbClr val="000000">
                <a:alpha val="15000"/>
              </a:srgbClr>
            </a:outerShdw>
          </a:effectLst>
        </p:spPr>
      </p:sp>
      <p:sp>
        <p:nvSpPr>
          <p:cNvPr id="10" name="Shape 8"/>
          <p:cNvSpPr/>
          <p:nvPr/>
        </p:nvSpPr>
        <p:spPr>
          <a:xfrm>
            <a:off x="3209544" y="1536192"/>
            <a:ext cx="2724912" cy="438912"/>
          </a:xfrm>
          <a:prstGeom prst="rect">
            <a:avLst/>
          </a:prstGeom>
          <a:solidFill>
            <a:srgbClr val="D4641A"/>
          </a:solidFill>
          <a:ln/>
        </p:spPr>
      </p:sp>
      <p:sp>
        <p:nvSpPr>
          <p:cNvPr id="11" name="Text 9"/>
          <p:cNvSpPr/>
          <p:nvPr/>
        </p:nvSpPr>
        <p:spPr>
          <a:xfrm>
            <a:off x="3300984" y="1536192"/>
            <a:ext cx="2542032" cy="438912"/>
          </a:xfrm>
          <a:prstGeom prst="rect">
            <a:avLst/>
          </a:prstGeom>
          <a:noFill/>
          <a:ln/>
        </p:spPr>
        <p:txBody>
          <a:bodyPr wrap="square"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SHE NEEDED</a:t>
            </a:r>
            <a:endParaRPr lang="en-US" sz="1050" dirty="0"/>
          </a:p>
        </p:txBody>
      </p:sp>
      <p:sp>
        <p:nvSpPr>
          <p:cNvPr id="12" name="Text 10"/>
          <p:cNvSpPr/>
          <p:nvPr/>
        </p:nvSpPr>
        <p:spPr>
          <a:xfrm>
            <a:off x="3319272" y="2048256"/>
            <a:ext cx="2505456" cy="2743200"/>
          </a:xfrm>
          <a:prstGeom prst="rect">
            <a:avLst/>
          </a:prstGeom>
          <a:noFill/>
          <a:ln/>
        </p:spPr>
        <p:txBody>
          <a:bodyPr wrap="square" rtlCol="0" anchor="t"/>
          <a:lstStyle/>
          <a:p>
            <a:pPr marL="0" indent="0">
              <a:buNone/>
            </a:pPr>
            <a:r>
              <a:rPr lang="en-US" sz="1150" dirty="0">
                <a:solidFill>
                  <a:srgbClr val="0D1B2A"/>
                </a:solidFill>
                <a:latin typeface="Calibri" pitchFamily="34" charset="0"/>
                <a:ea typeface="Calibri" pitchFamily="34" charset="-122"/>
                <a:cs typeface="Calibri" pitchFamily="34" charset="-120"/>
              </a:rPr>
              <a:t>A system that doesn't depend on anyone remembering.</a:t>
            </a:r>
            <a:endParaRPr lang="en-US" sz="1150" dirty="0"/>
          </a:p>
          <a:p>
            <a:pPr marL="0" indent="0">
              <a:buNone/>
            </a:pPr>
            <a:r>
              <a:rPr lang="en-US" sz="1150" dirty="0">
                <a:solidFill>
                  <a:srgbClr val="0D1B2A"/>
                </a:solidFill>
                <a:latin typeface="Calibri" pitchFamily="34" charset="0"/>
                <a:ea typeface="Calibri" pitchFamily="34" charset="-122"/>
                <a:cs typeface="Calibri" pitchFamily="34" charset="-120"/>
              </a:rPr>
              <a:t>Compliance visible automatically at an existing trigger point.</a:t>
            </a:r>
            <a:endParaRPr lang="en-US" sz="1150" dirty="0"/>
          </a:p>
        </p:txBody>
      </p:sp>
      <p:sp>
        <p:nvSpPr>
          <p:cNvPr id="13" name="Shape 11"/>
          <p:cNvSpPr/>
          <p:nvPr/>
        </p:nvSpPr>
        <p:spPr>
          <a:xfrm>
            <a:off x="6071616" y="1536192"/>
            <a:ext cx="2724912" cy="3383280"/>
          </a:xfrm>
          <a:prstGeom prst="rect">
            <a:avLst/>
          </a:prstGeom>
          <a:solidFill>
            <a:srgbClr val="FFFFFF"/>
          </a:solidFill>
          <a:ln/>
          <a:effectLst>
            <a:outerShdw blurRad="76200" dist="25400" dir="8100000" algn="bl" rotWithShape="0">
              <a:srgbClr val="000000">
                <a:alpha val="15000"/>
              </a:srgbClr>
            </a:outerShdw>
          </a:effectLst>
        </p:spPr>
      </p:sp>
      <p:sp>
        <p:nvSpPr>
          <p:cNvPr id="14" name="Shape 12"/>
          <p:cNvSpPr/>
          <p:nvPr/>
        </p:nvSpPr>
        <p:spPr>
          <a:xfrm>
            <a:off x="6071616" y="1536192"/>
            <a:ext cx="2724912" cy="438912"/>
          </a:xfrm>
          <a:prstGeom prst="rect">
            <a:avLst/>
          </a:prstGeom>
          <a:solidFill>
            <a:srgbClr val="1A7A5E"/>
          </a:solidFill>
          <a:ln/>
        </p:spPr>
      </p:sp>
      <p:sp>
        <p:nvSpPr>
          <p:cNvPr id="15" name="Text 13"/>
          <p:cNvSpPr/>
          <p:nvPr/>
        </p:nvSpPr>
        <p:spPr>
          <a:xfrm>
            <a:off x="6163056" y="1536192"/>
            <a:ext cx="2542032" cy="438912"/>
          </a:xfrm>
          <a:prstGeom prst="rect">
            <a:avLst/>
          </a:prstGeom>
          <a:noFill/>
          <a:ln/>
        </p:spPr>
        <p:txBody>
          <a:bodyPr wrap="square"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SHE GOT</a:t>
            </a:r>
            <a:endParaRPr lang="en-US" sz="1050" dirty="0"/>
          </a:p>
        </p:txBody>
      </p:sp>
      <p:sp>
        <p:nvSpPr>
          <p:cNvPr id="16" name="Text 14"/>
          <p:cNvSpPr/>
          <p:nvPr/>
        </p:nvSpPr>
        <p:spPr>
          <a:xfrm>
            <a:off x="6181344" y="2048256"/>
            <a:ext cx="2505456" cy="2743200"/>
          </a:xfrm>
          <a:prstGeom prst="rect">
            <a:avLst/>
          </a:prstGeom>
          <a:noFill/>
          <a:ln/>
        </p:spPr>
        <p:txBody>
          <a:bodyPr wrap="square" rtlCol="0" anchor="t"/>
          <a:lstStyle/>
          <a:p>
            <a:pPr marL="0" indent="0">
              <a:buNone/>
            </a:pPr>
            <a:r>
              <a:rPr lang="en-US" sz="1150" dirty="0">
                <a:solidFill>
                  <a:srgbClr val="0D1B2A"/>
                </a:solidFill>
                <a:latin typeface="Calibri" pitchFamily="34" charset="0"/>
                <a:ea typeface="Calibri" pitchFamily="34" charset="-122"/>
                <a:cs typeface="Calibri" pitchFamily="34" charset="-120"/>
              </a:rPr>
              <a:t>Compliance status embedded into site sign-in — checked automatically on arrival, not by memory. No new process. No new maintenance burden. It runs on what already exists.</a:t>
            </a:r>
            <a:endParaRPr lang="en-US" sz="1150" dirty="0"/>
          </a:p>
        </p:txBody>
      </p:sp>
      <p:sp>
        <p:nvSpPr>
          <p:cNvPr id="17" name="Shape 15"/>
          <p:cNvSpPr/>
          <p:nvPr/>
        </p:nvSpPr>
        <p:spPr>
          <a:xfrm>
            <a:off x="347472" y="4983480"/>
            <a:ext cx="8412480" cy="164592"/>
          </a:xfrm>
          <a:prstGeom prst="rect">
            <a:avLst/>
          </a:prstGeom>
          <a:solidFill>
            <a:srgbClr val="F0FDF4"/>
          </a:solidFill>
          <a:ln/>
        </p:spPr>
      </p:sp>
      <p:sp>
        <p:nvSpPr>
          <p:cNvPr id="18" name="Text 16"/>
          <p:cNvSpPr/>
          <p:nvPr/>
        </p:nvSpPr>
        <p:spPr>
          <a:xfrm>
            <a:off x="502920" y="4983480"/>
            <a:ext cx="8229600" cy="164592"/>
          </a:xfrm>
          <a:prstGeom prst="rect">
            <a:avLst/>
          </a:prstGeom>
          <a:noFill/>
          <a:ln/>
        </p:spPr>
        <p:txBody>
          <a:bodyPr wrap="square" rtlCol="0" anchor="ctr"/>
          <a:lstStyle/>
          <a:p>
            <a:pPr marL="0" indent="0">
              <a:buNone/>
            </a:pPr>
            <a:r>
              <a:rPr lang="en-US" sz="900" i="1" dirty="0">
                <a:solidFill>
                  <a:srgbClr val="2C5F2D"/>
                </a:solidFill>
                <a:latin typeface="Calibri" pitchFamily="34" charset="0"/>
                <a:ea typeface="Calibri" pitchFamily="34" charset="-122"/>
                <a:cs typeface="Calibri" pitchFamily="34" charset="-120"/>
              </a:rPr>
              <a:t>The C³ method — Clarity, Curiosity, Challenge — is what made the gap between columns 1 and 3 possible.</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7B4F9E"/>
          </a:solidFill>
          <a:ln w="12700">
            <a:solidFill>
              <a:srgbClr val="7B4F9E"/>
            </a:solidFill>
            <a:prstDash val="solid"/>
          </a:ln>
        </p:spPr>
      </p:sp>
      <p:sp>
        <p:nvSpPr>
          <p:cNvPr id="3" name="Text 1"/>
          <p:cNvSpPr/>
          <p:nvPr/>
        </p:nvSpPr>
        <p:spPr>
          <a:xfrm>
            <a:off x="347472" y="274320"/>
            <a:ext cx="8412480" cy="530352"/>
          </a:xfrm>
          <a:prstGeom prst="rect">
            <a:avLst/>
          </a:prstGeom>
          <a:noFill/>
          <a:ln/>
        </p:spPr>
        <p:txBody>
          <a:bodyPr wrap="square"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NOW MAKE THE PLAN.</a:t>
            </a:r>
            <a:endParaRPr lang="en-US" sz="2800" dirty="0"/>
          </a:p>
        </p:txBody>
      </p:sp>
      <p:sp>
        <p:nvSpPr>
          <p:cNvPr id="4" name="Text 2"/>
          <p:cNvSpPr/>
          <p:nvPr/>
        </p:nvSpPr>
        <p:spPr>
          <a:xfrm>
            <a:off x="347472" y="804672"/>
            <a:ext cx="8412480" cy="274320"/>
          </a:xfrm>
          <a:prstGeom prst="rect">
            <a:avLst/>
          </a:prstGeom>
          <a:noFill/>
          <a:ln/>
        </p:spPr>
        <p:txBody>
          <a:bodyPr wrap="square" rtlCol="0" anchor="ctr"/>
          <a:lstStyle/>
          <a:p>
            <a:pPr marL="0" indent="0">
              <a:buNone/>
            </a:pPr>
            <a:r>
              <a:rPr lang="en-US" sz="1200" i="1" dirty="0">
                <a:solidFill>
                  <a:srgbClr val="AECBDC"/>
                </a:solidFill>
                <a:latin typeface="Calibri" pitchFamily="34" charset="0"/>
                <a:ea typeface="Calibri" pitchFamily="34" charset="-122"/>
                <a:cs typeface="Calibri" pitchFamily="34" charset="-120"/>
              </a:rPr>
              <a:t>C³ ends with an agreed solution. This prompt turns it into steps you can actually execute.</a:t>
            </a:r>
            <a:endParaRPr lang="en-US" sz="1200" dirty="0"/>
          </a:p>
        </p:txBody>
      </p:sp>
      <p:sp>
        <p:nvSpPr>
          <p:cNvPr id="5" name="Shape 3"/>
          <p:cNvSpPr/>
          <p:nvPr/>
        </p:nvSpPr>
        <p:spPr>
          <a:xfrm>
            <a:off x="347472" y="1143000"/>
            <a:ext cx="8412480" cy="3401568"/>
          </a:xfrm>
          <a:prstGeom prst="rect">
            <a:avLst/>
          </a:prstGeom>
          <a:solidFill>
            <a:srgbClr val="1E2D3D"/>
          </a:solidFill>
          <a:ln w="19050">
            <a:solidFill>
              <a:srgbClr val="7B4F9E"/>
            </a:solidFill>
            <a:prstDash val="solid"/>
          </a:ln>
        </p:spPr>
      </p:sp>
      <p:sp>
        <p:nvSpPr>
          <p:cNvPr id="6" name="Shape 4"/>
          <p:cNvSpPr/>
          <p:nvPr/>
        </p:nvSpPr>
        <p:spPr>
          <a:xfrm>
            <a:off x="347472" y="1143000"/>
            <a:ext cx="8412480" cy="347472"/>
          </a:xfrm>
          <a:prstGeom prst="rect">
            <a:avLst/>
          </a:prstGeom>
          <a:solidFill>
            <a:srgbClr val="7B4F9E"/>
          </a:solidFill>
          <a:ln/>
        </p:spPr>
      </p:sp>
      <p:sp>
        <p:nvSpPr>
          <p:cNvPr id="7" name="Text 5"/>
          <p:cNvSpPr/>
          <p:nvPr/>
        </p:nvSpPr>
        <p:spPr>
          <a:xfrm>
            <a:off x="502920" y="1143000"/>
            <a:ext cx="8229600" cy="347472"/>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PLAN PROMPT  --  send this once the solution is agreed</a:t>
            </a:r>
            <a:endParaRPr lang="en-US" sz="950" dirty="0"/>
          </a:p>
        </p:txBody>
      </p:sp>
      <p:sp>
        <p:nvSpPr>
          <p:cNvPr id="8" name="Text 6"/>
          <p:cNvSpPr/>
          <p:nvPr/>
        </p:nvSpPr>
        <p:spPr>
          <a:xfrm>
            <a:off x="566928" y="1554480"/>
            <a:ext cx="8092440" cy="2907792"/>
          </a:xfrm>
          <a:prstGeom prst="rect">
            <a:avLst/>
          </a:prstGeom>
          <a:noFill/>
          <a:ln/>
        </p:spPr>
        <p:txBody>
          <a:bodyPr wrap="square" rtlCol="0" anchor="t"/>
          <a:lstStyle/>
          <a:p>
            <a:pPr marL="0" indent="0">
              <a:buNone/>
            </a:pPr>
            <a:r>
              <a:rPr lang="en-US" sz="1050" b="1" dirty="0">
                <a:solidFill>
                  <a:srgbClr val="FFFFFF"/>
                </a:solidFill>
                <a:latin typeface="Courier New" pitchFamily="34" charset="0"/>
                <a:ea typeface="Courier New" pitchFamily="34" charset="-122"/>
                <a:cs typeface="Courier New" pitchFamily="34" charset="-120"/>
              </a:rPr>
              <a:t>Good. We've agreed on the solution.
</a:t>
            </a:r>
            <a:r>
              <a:rPr lang="en-US" sz="1050" dirty="0">
                <a:solidFill>
                  <a:srgbClr val="CBD5E0"/>
                </a:solidFill>
                <a:latin typeface="Courier New" pitchFamily="34" charset="0"/>
                <a:ea typeface="Courier New" pitchFamily="34" charset="-122"/>
                <a:cs typeface="Courier New" pitchFamily="34" charset="-120"/>
              </a:rPr>
              <a:t>Now help me build a step-by-step implementation plan.
Give me:
</a:t>
            </a:r>
            <a:r>
              <a:rPr lang="en-US" sz="1050" b="1" dirty="0">
                <a:solidFill>
                  <a:srgbClr val="7B9FBF"/>
                </a:solidFill>
                <a:latin typeface="Courier New" pitchFamily="34" charset="0"/>
                <a:ea typeface="Courier New" pitchFamily="34" charset="-122"/>
                <a:cs typeface="Courier New" pitchFamily="34" charset="-120"/>
              </a:rPr>
              <a:t>1. </a:t>
            </a:r>
            <a:r>
              <a:rPr lang="en-US" sz="1050" dirty="0">
                <a:solidFill>
                  <a:srgbClr val="AECBDC"/>
                </a:solidFill>
                <a:latin typeface="Courier New" pitchFamily="34" charset="0"/>
                <a:ea typeface="Courier New" pitchFamily="34" charset="-122"/>
                <a:cs typeface="Courier New" pitchFamily="34" charset="-120"/>
              </a:rPr>
              <a:t>The agreed solution in one sentence.
</a:t>
            </a:r>
            <a:r>
              <a:rPr lang="en-US" sz="1050" b="1" dirty="0">
                <a:solidFill>
                  <a:srgbClr val="7B9FBF"/>
                </a:solidFill>
                <a:latin typeface="Courier New" pitchFamily="34" charset="0"/>
                <a:ea typeface="Courier New" pitchFamily="34" charset="-122"/>
                <a:cs typeface="Courier New" pitchFamily="34" charset="-120"/>
              </a:rPr>
              <a:t>2. </a:t>
            </a:r>
            <a:r>
              <a:rPr lang="en-US" sz="1050" dirty="0">
                <a:solidFill>
                  <a:srgbClr val="AECBDC"/>
                </a:solidFill>
                <a:latin typeface="Courier New" pitchFamily="34" charset="0"/>
                <a:ea typeface="Courier New" pitchFamily="34" charset="-122"/>
                <a:cs typeface="Courier New" pitchFamily="34" charset="-120"/>
              </a:rPr>
              <a:t>The steps to implement it — in order, with who does what.
</a:t>
            </a:r>
            <a:r>
              <a:rPr lang="en-US" sz="1050" b="1" dirty="0">
                <a:solidFill>
                  <a:srgbClr val="7B9FBF"/>
                </a:solidFill>
                <a:latin typeface="Courier New" pitchFamily="34" charset="0"/>
                <a:ea typeface="Courier New" pitchFamily="34" charset="-122"/>
                <a:cs typeface="Courier New" pitchFamily="34" charset="-120"/>
              </a:rPr>
              <a:t>3. </a:t>
            </a:r>
            <a:r>
              <a:rPr lang="en-US" sz="1050" dirty="0">
                <a:solidFill>
                  <a:srgbClr val="AECBDC"/>
                </a:solidFill>
                <a:latin typeface="Courier New" pitchFamily="34" charset="0"/>
                <a:ea typeface="Courier New" pitchFamily="34" charset="-122"/>
                <a:cs typeface="Courier New" pitchFamily="34" charset="-120"/>
              </a:rPr>
              <a:t>What done looks like — specific and measurable in 30 days.
</a:t>
            </a:r>
            <a:r>
              <a:rPr lang="en-US" sz="1050" b="1" dirty="0">
                <a:solidFill>
                  <a:srgbClr val="7B9FBF"/>
                </a:solidFill>
                <a:latin typeface="Courier New" pitchFamily="34" charset="0"/>
                <a:ea typeface="Courier New" pitchFamily="34" charset="-122"/>
                <a:cs typeface="Courier New" pitchFamily="34" charset="-120"/>
              </a:rPr>
              <a:t>4. </a:t>
            </a:r>
            <a:r>
              <a:rPr lang="en-US" sz="1050" dirty="0">
                <a:solidFill>
                  <a:srgbClr val="AECBDC"/>
                </a:solidFill>
                <a:latin typeface="Courier New" pitchFamily="34" charset="0"/>
                <a:ea typeface="Courier New" pitchFamily="34" charset="-122"/>
                <a:cs typeface="Courier New" pitchFamily="34" charset="-120"/>
              </a:rPr>
              <a:t>The first action I can take this week.
</a:t>
            </a:r>
            <a:r>
              <a:rPr lang="en-US" sz="1050" b="1" dirty="0">
                <a:solidFill>
                  <a:srgbClr val="FFFFFF"/>
                </a:solidFill>
                <a:latin typeface="Courier New" pitchFamily="34" charset="0"/>
                <a:ea typeface="Courier New" pitchFamily="34" charset="-122"/>
                <a:cs typeface="Courier New" pitchFamily="34" charset="-120"/>
              </a:rPr>
              <a:t>Keep it practical. I need to be able to hand this to someone on Monday.</a:t>
            </a:r>
            <a:endParaRPr lang="en-US" sz="1050" dirty="0"/>
          </a:p>
        </p:txBody>
      </p:sp>
      <p:sp>
        <p:nvSpPr>
          <p:cNvPr id="9" name="Shape 7"/>
          <p:cNvSpPr/>
          <p:nvPr/>
        </p:nvSpPr>
        <p:spPr>
          <a:xfrm>
            <a:off x="347472" y="4608576"/>
            <a:ext cx="8412480" cy="530352"/>
          </a:xfrm>
          <a:prstGeom prst="rect">
            <a:avLst/>
          </a:prstGeom>
          <a:solidFill>
            <a:srgbClr val="1A0F2E"/>
          </a:solidFill>
          <a:ln/>
        </p:spPr>
      </p:sp>
      <p:sp>
        <p:nvSpPr>
          <p:cNvPr id="10" name="Shape 8"/>
          <p:cNvSpPr/>
          <p:nvPr/>
        </p:nvSpPr>
        <p:spPr>
          <a:xfrm>
            <a:off x="347472" y="4608576"/>
            <a:ext cx="54864" cy="530352"/>
          </a:xfrm>
          <a:prstGeom prst="rect">
            <a:avLst/>
          </a:prstGeom>
          <a:solidFill>
            <a:srgbClr val="7B4F9E"/>
          </a:solidFill>
          <a:ln/>
        </p:spPr>
      </p:sp>
      <p:sp>
        <p:nvSpPr>
          <p:cNvPr id="11" name="Text 9"/>
          <p:cNvSpPr/>
          <p:nvPr/>
        </p:nvSpPr>
        <p:spPr>
          <a:xfrm>
            <a:off x="530352" y="4608576"/>
            <a:ext cx="8229600" cy="530352"/>
          </a:xfrm>
          <a:prstGeom prst="rect">
            <a:avLst/>
          </a:prstGeom>
          <a:noFill/>
          <a:ln/>
        </p:spPr>
        <p:txBody>
          <a:bodyPr wrap="square" rtlCol="0" anchor="ctr"/>
          <a:lstStyle/>
          <a:p>
            <a:pPr marL="0" indent="0">
              <a:buNone/>
            </a:pPr>
            <a:r>
              <a:rPr lang="en-US" sz="1100" i="1" dirty="0">
                <a:solidFill>
                  <a:srgbClr val="AECBDC"/>
                </a:solidFill>
                <a:latin typeface="Calibri" pitchFamily="34" charset="0"/>
                <a:ea typeface="Calibri" pitchFamily="34" charset="-122"/>
                <a:cs typeface="Calibri" pitchFamily="34" charset="-120"/>
              </a:rPr>
              <a:t>AI has all the context from the conversation. It does the work — you just confirm it's right.</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A7A5E"/>
          </a:solidFill>
          <a:ln w="12700">
            <a:solidFill>
              <a:srgbClr val="1A7A5E"/>
            </a:solidFill>
            <a:prstDash val="solid"/>
          </a:ln>
        </p:spPr>
      </p:sp>
      <p:sp>
        <p:nvSpPr>
          <p:cNvPr id="3" name="Text 1"/>
          <p:cNvSpPr/>
          <p:nvPr/>
        </p:nvSpPr>
        <p:spPr>
          <a:xfrm>
            <a:off x="347472" y="256032"/>
            <a:ext cx="8412480" cy="502920"/>
          </a:xfrm>
          <a:prstGeom prst="rect">
            <a:avLst/>
          </a:prstGeom>
          <a:noFill/>
          <a:ln/>
        </p:spPr>
        <p:txBody>
          <a:bodyPr wrap="square"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PHASE 3: GO DEEPER.</a:t>
            </a:r>
            <a:endParaRPr lang="en-US" sz="2800" dirty="0"/>
          </a:p>
        </p:txBody>
      </p:sp>
      <p:sp>
        <p:nvSpPr>
          <p:cNvPr id="4" name="Text 2"/>
          <p:cNvSpPr/>
          <p:nvPr/>
        </p:nvSpPr>
        <p:spPr>
          <a:xfrm>
            <a:off x="347472" y="758952"/>
            <a:ext cx="8412480" cy="274320"/>
          </a:xfrm>
          <a:prstGeom prst="rect">
            <a:avLst/>
          </a:prstGeom>
          <a:noFill/>
          <a:ln/>
        </p:spPr>
        <p:txBody>
          <a:bodyPr wrap="square" rtlCol="0" anchor="ctr"/>
          <a:lstStyle/>
          <a:p>
            <a:pPr marL="0" indent="0">
              <a:buNone/>
            </a:pPr>
            <a:r>
              <a:rPr lang="en-US" sz="1100" i="1" dirty="0">
                <a:solidFill>
                  <a:srgbClr val="AECBDC"/>
                </a:solidFill>
                <a:latin typeface="Calibri" pitchFamily="34" charset="0"/>
                <a:ea typeface="Calibri" pitchFamily="34" charset="-122"/>
                <a:cs typeface="Calibri" pitchFamily="34" charset="-120"/>
              </a:rPr>
              <a:t>Six steps. The framework that turns a conversation into a result — and compounds every time you use it.</a:t>
            </a:r>
            <a:endParaRPr lang="en-US" sz="1100" dirty="0"/>
          </a:p>
        </p:txBody>
      </p:sp>
      <p:sp>
        <p:nvSpPr>
          <p:cNvPr id="5" name="Shape 3"/>
          <p:cNvSpPr/>
          <p:nvPr/>
        </p:nvSpPr>
        <p:spPr>
          <a:xfrm>
            <a:off x="347472" y="1115568"/>
            <a:ext cx="1353312" cy="3977640"/>
          </a:xfrm>
          <a:prstGeom prst="rect">
            <a:avLst/>
          </a:prstGeom>
          <a:solidFill>
            <a:srgbClr val="1E2D3D"/>
          </a:solidFill>
          <a:ln/>
        </p:spPr>
      </p:sp>
      <p:sp>
        <p:nvSpPr>
          <p:cNvPr id="6" name="Shape 4"/>
          <p:cNvSpPr/>
          <p:nvPr/>
        </p:nvSpPr>
        <p:spPr>
          <a:xfrm>
            <a:off x="347472" y="1115568"/>
            <a:ext cx="1353312" cy="420624"/>
          </a:xfrm>
          <a:prstGeom prst="rect">
            <a:avLst/>
          </a:prstGeom>
          <a:solidFill>
            <a:srgbClr val="D4641A"/>
          </a:solidFill>
          <a:ln/>
        </p:spPr>
      </p:sp>
      <p:sp>
        <p:nvSpPr>
          <p:cNvPr id="7" name="Text 5"/>
          <p:cNvSpPr/>
          <p:nvPr/>
        </p:nvSpPr>
        <p:spPr>
          <a:xfrm>
            <a:off x="420624" y="1133856"/>
            <a:ext cx="1261872" cy="365760"/>
          </a:xfrm>
          <a:prstGeom prst="rect">
            <a:avLst/>
          </a:prstGeom>
          <a:noFill/>
          <a:ln/>
        </p:spPr>
        <p:txBody>
          <a:bodyPr wrap="square" rtlCol="0" anchor="ctr"/>
          <a:lstStyle/>
          <a:p>
            <a:pPr marL="0" indent="0">
              <a:buNone/>
            </a:pPr>
            <a:r>
              <a:rPr lang="en-US" sz="1500" b="1" dirty="0">
                <a:solidFill>
                  <a:srgbClr val="FFFFFF"/>
                </a:solidFill>
                <a:latin typeface="Arial Black" pitchFamily="34" charset="0"/>
                <a:ea typeface="Arial Black" pitchFamily="34" charset="-122"/>
                <a:cs typeface="Arial Black" pitchFamily="34" charset="-120"/>
              </a:rPr>
              <a:t>D</a:t>
            </a:r>
            <a:r>
              <a:rPr lang="en-US" sz="900" dirty="0">
                <a:solidFill>
                  <a:srgbClr val="CBD5E0"/>
                </a:solidFill>
                <a:latin typeface="Arial Black" pitchFamily="34" charset="0"/>
                <a:ea typeface="Arial Black" pitchFamily="34" charset="-122"/>
                <a:cs typeface="Arial Black" pitchFamily="34" charset="-120"/>
              </a:rPr>
              <a:t>ISCOVER</a:t>
            </a:r>
            <a:endParaRPr lang="en-US" sz="1500" dirty="0"/>
          </a:p>
        </p:txBody>
      </p:sp>
      <p:sp>
        <p:nvSpPr>
          <p:cNvPr id="8" name="Text 6"/>
          <p:cNvSpPr/>
          <p:nvPr/>
        </p:nvSpPr>
        <p:spPr>
          <a:xfrm>
            <a:off x="420624" y="1572768"/>
            <a:ext cx="1261872" cy="256032"/>
          </a:xfrm>
          <a:prstGeom prst="rect">
            <a:avLst/>
          </a:prstGeom>
          <a:noFill/>
          <a:ln/>
        </p:spPr>
        <p:txBody>
          <a:bodyPr wrap="square" rtlCol="0" anchor="ctr"/>
          <a:lstStyle/>
          <a:p>
            <a:pPr marL="0" indent="0">
              <a:buNone/>
            </a:pPr>
            <a:r>
              <a:rPr lang="en-US" sz="750" b="1" dirty="0">
                <a:solidFill>
                  <a:schemeClr val="bg1"/>
                </a:solidFill>
                <a:latin typeface="Calibri" pitchFamily="34" charset="0"/>
                <a:ea typeface="Calibri" pitchFamily="34" charset="-122"/>
                <a:cs typeface="Calibri" pitchFamily="34" charset="-120"/>
              </a:rPr>
              <a:t>Find the real problem</a:t>
            </a:r>
            <a:endParaRPr lang="en-US" sz="750" dirty="0">
              <a:solidFill>
                <a:schemeClr val="bg1"/>
              </a:solidFill>
            </a:endParaRPr>
          </a:p>
        </p:txBody>
      </p:sp>
      <p:sp>
        <p:nvSpPr>
          <p:cNvPr id="9" name="Text 7"/>
          <p:cNvSpPr/>
          <p:nvPr/>
        </p:nvSpPr>
        <p:spPr>
          <a:xfrm>
            <a:off x="420624" y="1847088"/>
            <a:ext cx="1261872" cy="1188720"/>
          </a:xfrm>
          <a:prstGeom prst="rect">
            <a:avLst/>
          </a:prstGeom>
          <a:noFill/>
          <a:ln/>
        </p:spPr>
        <p:txBody>
          <a:bodyPr wrap="square" rtlCol="0" anchor="ctr"/>
          <a:lstStyle/>
          <a:p>
            <a:pPr marL="0" indent="0">
              <a:buNone/>
            </a:pPr>
            <a:r>
              <a:rPr lang="en-US" sz="850" dirty="0">
                <a:solidFill>
                  <a:schemeClr val="bg1"/>
                </a:solidFill>
                <a:latin typeface="Calibri" pitchFamily="34" charset="0"/>
                <a:ea typeface="Calibri" pitchFamily="34" charset="-122"/>
                <a:cs typeface="Calibri" pitchFamily="34" charset="-120"/>
              </a:rPr>
              <a:t>5-Layer Model.</a:t>
            </a:r>
            <a:endParaRPr lang="en-US" sz="850" dirty="0">
              <a:solidFill>
                <a:schemeClr val="bg1"/>
              </a:solidFill>
            </a:endParaRPr>
          </a:p>
          <a:p>
            <a:pPr marL="0" indent="0">
              <a:buNone/>
            </a:pPr>
            <a:r>
              <a:rPr lang="en-US" sz="850" dirty="0">
                <a:solidFill>
                  <a:schemeClr val="bg1"/>
                </a:solidFill>
                <a:latin typeface="Calibri" pitchFamily="34" charset="0"/>
                <a:ea typeface="Calibri" pitchFamily="34" charset="-122"/>
                <a:cs typeface="Calibri" pitchFamily="34" charset="-120"/>
              </a:rPr>
              <a:t>Surface what's</a:t>
            </a:r>
            <a:endParaRPr lang="en-US" sz="850" dirty="0">
              <a:solidFill>
                <a:schemeClr val="bg1"/>
              </a:solidFill>
            </a:endParaRPr>
          </a:p>
          <a:p>
            <a:pPr marL="0" indent="0">
              <a:buNone/>
            </a:pPr>
            <a:r>
              <a:rPr lang="en-US" sz="850" dirty="0">
                <a:solidFill>
                  <a:schemeClr val="bg1"/>
                </a:solidFill>
                <a:latin typeface="Calibri" pitchFamily="34" charset="0"/>
                <a:ea typeface="Calibri" pitchFamily="34" charset="-122"/>
                <a:cs typeface="Calibri" pitchFamily="34" charset="-120"/>
              </a:rPr>
              <a:t>actually going on.</a:t>
            </a:r>
            <a:endParaRPr lang="en-US" sz="850" dirty="0">
              <a:solidFill>
                <a:schemeClr val="bg1"/>
              </a:solidFill>
            </a:endParaRPr>
          </a:p>
        </p:txBody>
      </p:sp>
      <p:sp>
        <p:nvSpPr>
          <p:cNvPr id="10" name="Shape 8"/>
          <p:cNvSpPr/>
          <p:nvPr/>
        </p:nvSpPr>
        <p:spPr>
          <a:xfrm>
            <a:off x="393192" y="3072384"/>
            <a:ext cx="1261872" cy="1938528"/>
          </a:xfrm>
          <a:prstGeom prst="rect">
            <a:avLst/>
          </a:prstGeom>
          <a:solidFill>
            <a:srgbClr val="0D1F0D"/>
          </a:solidFill>
          <a:ln w="6350">
            <a:solidFill>
              <a:srgbClr val="D4641A"/>
            </a:solidFill>
            <a:prstDash val="solid"/>
          </a:ln>
        </p:spPr>
      </p:sp>
      <p:sp>
        <p:nvSpPr>
          <p:cNvPr id="11" name="Text 9"/>
          <p:cNvSpPr/>
          <p:nvPr/>
        </p:nvSpPr>
        <p:spPr>
          <a:xfrm>
            <a:off x="438912" y="3108960"/>
            <a:ext cx="731520" cy="182880"/>
          </a:xfrm>
          <a:prstGeom prst="rect">
            <a:avLst/>
          </a:prstGeom>
          <a:noFill/>
          <a:ln/>
        </p:spPr>
        <p:txBody>
          <a:bodyPr wrap="square" rtlCol="0" anchor="ctr"/>
          <a:lstStyle/>
          <a:p>
            <a:pPr marL="0" indent="0">
              <a:buNone/>
            </a:pPr>
            <a:r>
              <a:rPr lang="en-US" sz="600" b="1" dirty="0">
                <a:solidFill>
                  <a:srgbClr val="D4641A"/>
                </a:solidFill>
                <a:latin typeface="Calibri" pitchFamily="34" charset="0"/>
                <a:ea typeface="Calibri" pitchFamily="34" charset="-122"/>
                <a:cs typeface="Calibri" pitchFamily="34" charset="-120"/>
              </a:rPr>
              <a:t>SARAH</a:t>
            </a:r>
            <a:endParaRPr lang="en-US" sz="600" dirty="0"/>
          </a:p>
        </p:txBody>
      </p:sp>
      <p:sp>
        <p:nvSpPr>
          <p:cNvPr id="12" name="Text 10"/>
          <p:cNvSpPr/>
          <p:nvPr/>
        </p:nvSpPr>
        <p:spPr>
          <a:xfrm>
            <a:off x="438912" y="3291840"/>
            <a:ext cx="1188720" cy="1645920"/>
          </a:xfrm>
          <a:prstGeom prst="rect">
            <a:avLst/>
          </a:prstGeom>
          <a:noFill/>
          <a:ln/>
        </p:spPr>
        <p:txBody>
          <a:bodyPr wrap="square" rtlCol="0" anchor="t"/>
          <a:lstStyle/>
          <a:p>
            <a:pPr marL="0" indent="0">
              <a:buNone/>
            </a:pPr>
            <a:r>
              <a:rPr lang="en-US" sz="800" i="1" dirty="0">
                <a:solidFill>
                  <a:schemeClr val="bg1"/>
                </a:solidFill>
                <a:latin typeface="Calibri" pitchFamily="34" charset="0"/>
                <a:ea typeface="Calibri" pitchFamily="34" charset="-122"/>
                <a:cs typeface="Calibri" pitchFamily="34" charset="-120"/>
              </a:rPr>
              <a:t>Problem isn't the spreadsheet — it's ownership.</a:t>
            </a:r>
            <a:endParaRPr lang="en-US" sz="800" dirty="0">
              <a:solidFill>
                <a:schemeClr val="bg1"/>
              </a:solidFill>
            </a:endParaRPr>
          </a:p>
        </p:txBody>
      </p:sp>
      <p:sp>
        <p:nvSpPr>
          <p:cNvPr id="13" name="Shape 11"/>
          <p:cNvSpPr/>
          <p:nvPr/>
        </p:nvSpPr>
        <p:spPr>
          <a:xfrm>
            <a:off x="1792224" y="1115568"/>
            <a:ext cx="1353312" cy="3977640"/>
          </a:xfrm>
          <a:prstGeom prst="rect">
            <a:avLst/>
          </a:prstGeom>
          <a:solidFill>
            <a:srgbClr val="1E2D3D"/>
          </a:solidFill>
          <a:ln/>
        </p:spPr>
      </p:sp>
      <p:sp>
        <p:nvSpPr>
          <p:cNvPr id="14" name="Shape 12"/>
          <p:cNvSpPr/>
          <p:nvPr/>
        </p:nvSpPr>
        <p:spPr>
          <a:xfrm>
            <a:off x="1792224" y="1115568"/>
            <a:ext cx="1353312" cy="420624"/>
          </a:xfrm>
          <a:prstGeom prst="rect">
            <a:avLst/>
          </a:prstGeom>
          <a:solidFill>
            <a:srgbClr val="1A7A9E"/>
          </a:solidFill>
          <a:ln/>
        </p:spPr>
      </p:sp>
      <p:sp>
        <p:nvSpPr>
          <p:cNvPr id="15" name="Text 13"/>
          <p:cNvSpPr/>
          <p:nvPr/>
        </p:nvSpPr>
        <p:spPr>
          <a:xfrm>
            <a:off x="1865376" y="1133856"/>
            <a:ext cx="1261872" cy="365760"/>
          </a:xfrm>
          <a:prstGeom prst="rect">
            <a:avLst/>
          </a:prstGeom>
          <a:noFill/>
          <a:ln/>
        </p:spPr>
        <p:txBody>
          <a:bodyPr wrap="square" rtlCol="0" anchor="ctr"/>
          <a:lstStyle/>
          <a:p>
            <a:pPr marL="0" indent="0">
              <a:buNone/>
            </a:pPr>
            <a:r>
              <a:rPr lang="en-US" sz="1500" b="1" dirty="0">
                <a:solidFill>
                  <a:srgbClr val="FFFFFF"/>
                </a:solidFill>
                <a:latin typeface="Arial Black" pitchFamily="34" charset="0"/>
                <a:ea typeface="Arial Black" pitchFamily="34" charset="-122"/>
                <a:cs typeface="Arial Black" pitchFamily="34" charset="-120"/>
              </a:rPr>
              <a:t>E</a:t>
            </a:r>
            <a:r>
              <a:rPr lang="en-US" sz="900" dirty="0">
                <a:solidFill>
                  <a:srgbClr val="CBD5E0"/>
                </a:solidFill>
                <a:latin typeface="Arial Black" pitchFamily="34" charset="0"/>
                <a:ea typeface="Arial Black" pitchFamily="34" charset="-122"/>
                <a:cs typeface="Arial Black" pitchFamily="34" charset="-120"/>
              </a:rPr>
              <a:t>XPLORE</a:t>
            </a:r>
            <a:endParaRPr lang="en-US" sz="1500" dirty="0"/>
          </a:p>
        </p:txBody>
      </p:sp>
      <p:sp>
        <p:nvSpPr>
          <p:cNvPr id="16" name="Text 14"/>
          <p:cNvSpPr/>
          <p:nvPr/>
        </p:nvSpPr>
        <p:spPr>
          <a:xfrm>
            <a:off x="1865376" y="1572768"/>
            <a:ext cx="1261872" cy="256032"/>
          </a:xfrm>
          <a:prstGeom prst="rect">
            <a:avLst/>
          </a:prstGeom>
          <a:noFill/>
          <a:ln/>
        </p:spPr>
        <p:txBody>
          <a:bodyPr wrap="square" rtlCol="0" anchor="ctr"/>
          <a:lstStyle/>
          <a:p>
            <a:pPr marL="0" indent="0">
              <a:buNone/>
            </a:pPr>
            <a:r>
              <a:rPr lang="en-US" sz="750" b="1" dirty="0">
                <a:solidFill>
                  <a:schemeClr val="bg1"/>
                </a:solidFill>
                <a:latin typeface="Calibri" pitchFamily="34" charset="0"/>
                <a:ea typeface="Calibri" pitchFamily="34" charset="-122"/>
                <a:cs typeface="Calibri" pitchFamily="34" charset="-120"/>
              </a:rPr>
              <a:t>Work with AI</a:t>
            </a:r>
            <a:endParaRPr lang="en-US" sz="750" dirty="0">
              <a:solidFill>
                <a:schemeClr val="bg1"/>
              </a:solidFill>
            </a:endParaRPr>
          </a:p>
        </p:txBody>
      </p:sp>
      <p:sp>
        <p:nvSpPr>
          <p:cNvPr id="17" name="Text 15"/>
          <p:cNvSpPr/>
          <p:nvPr/>
        </p:nvSpPr>
        <p:spPr>
          <a:xfrm>
            <a:off x="1865376" y="1847088"/>
            <a:ext cx="1261872" cy="1188720"/>
          </a:xfrm>
          <a:prstGeom prst="rect">
            <a:avLst/>
          </a:prstGeom>
          <a:noFill/>
          <a:ln/>
        </p:spPr>
        <p:txBody>
          <a:bodyPr wrap="square" rtlCol="0" anchor="ctr"/>
          <a:lstStyle/>
          <a:p>
            <a:pPr marL="0" indent="0">
              <a:buNone/>
            </a:pPr>
            <a:r>
              <a:rPr lang="en-US" sz="850" dirty="0">
                <a:solidFill>
                  <a:schemeClr val="bg1"/>
                </a:solidFill>
                <a:latin typeface="Calibri" pitchFamily="34" charset="0"/>
                <a:ea typeface="Calibri" pitchFamily="34" charset="-122"/>
                <a:cs typeface="Calibri" pitchFamily="34" charset="-120"/>
              </a:rPr>
              <a:t>C¹ + C².</a:t>
            </a:r>
            <a:endParaRPr lang="en-US" sz="850" dirty="0">
              <a:solidFill>
                <a:schemeClr val="bg1"/>
              </a:solidFill>
            </a:endParaRPr>
          </a:p>
          <a:p>
            <a:pPr marL="0" indent="0">
              <a:buNone/>
            </a:pPr>
            <a:r>
              <a:rPr lang="en-US" sz="850" dirty="0">
                <a:solidFill>
                  <a:schemeClr val="bg1"/>
                </a:solidFill>
                <a:latin typeface="Calibri" pitchFamily="34" charset="0"/>
                <a:ea typeface="Calibri" pitchFamily="34" charset="-122"/>
                <a:cs typeface="Calibri" pitchFamily="34" charset="-120"/>
              </a:rPr>
              <a:t>Load context.</a:t>
            </a:r>
            <a:endParaRPr lang="en-US" sz="850" dirty="0">
              <a:solidFill>
                <a:schemeClr val="bg1"/>
              </a:solidFill>
            </a:endParaRPr>
          </a:p>
          <a:p>
            <a:pPr marL="0" indent="0">
              <a:buNone/>
            </a:pPr>
            <a:r>
              <a:rPr lang="en-US" sz="850" dirty="0">
                <a:solidFill>
                  <a:schemeClr val="bg1"/>
                </a:solidFill>
                <a:latin typeface="Calibri" pitchFamily="34" charset="0"/>
                <a:ea typeface="Calibri" pitchFamily="34" charset="-122"/>
                <a:cs typeface="Calibri" pitchFamily="34" charset="-120"/>
              </a:rPr>
              <a:t>Let AI question.</a:t>
            </a:r>
            <a:endParaRPr lang="en-US" sz="850" dirty="0">
              <a:solidFill>
                <a:schemeClr val="bg1"/>
              </a:solidFill>
            </a:endParaRPr>
          </a:p>
        </p:txBody>
      </p:sp>
      <p:sp>
        <p:nvSpPr>
          <p:cNvPr id="18" name="Shape 16"/>
          <p:cNvSpPr/>
          <p:nvPr/>
        </p:nvSpPr>
        <p:spPr>
          <a:xfrm>
            <a:off x="1837944" y="3072384"/>
            <a:ext cx="1261872" cy="1938528"/>
          </a:xfrm>
          <a:prstGeom prst="rect">
            <a:avLst/>
          </a:prstGeom>
          <a:solidFill>
            <a:srgbClr val="0D1F0D"/>
          </a:solidFill>
          <a:ln w="6350">
            <a:solidFill>
              <a:srgbClr val="1A7A9E"/>
            </a:solidFill>
            <a:prstDash val="solid"/>
          </a:ln>
        </p:spPr>
      </p:sp>
      <p:sp>
        <p:nvSpPr>
          <p:cNvPr id="19" name="Text 17"/>
          <p:cNvSpPr/>
          <p:nvPr/>
        </p:nvSpPr>
        <p:spPr>
          <a:xfrm>
            <a:off x="1883664" y="3108960"/>
            <a:ext cx="731520" cy="182880"/>
          </a:xfrm>
          <a:prstGeom prst="rect">
            <a:avLst/>
          </a:prstGeom>
          <a:noFill/>
          <a:ln/>
        </p:spPr>
        <p:txBody>
          <a:bodyPr wrap="square" rtlCol="0" anchor="ctr"/>
          <a:lstStyle/>
          <a:p>
            <a:pPr marL="0" indent="0">
              <a:buNone/>
            </a:pPr>
            <a:r>
              <a:rPr lang="en-US" sz="600" b="1" dirty="0">
                <a:solidFill>
                  <a:srgbClr val="1A7A9E"/>
                </a:solidFill>
                <a:latin typeface="Calibri" pitchFamily="34" charset="0"/>
                <a:ea typeface="Calibri" pitchFamily="34" charset="-122"/>
                <a:cs typeface="Calibri" pitchFamily="34" charset="-120"/>
              </a:rPr>
              <a:t>SARAH</a:t>
            </a:r>
            <a:endParaRPr lang="en-US" sz="600" dirty="0"/>
          </a:p>
        </p:txBody>
      </p:sp>
      <p:sp>
        <p:nvSpPr>
          <p:cNvPr id="20" name="Text 18"/>
          <p:cNvSpPr/>
          <p:nvPr/>
        </p:nvSpPr>
        <p:spPr>
          <a:xfrm>
            <a:off x="1883664" y="3291840"/>
            <a:ext cx="1188720" cy="1645920"/>
          </a:xfrm>
          <a:prstGeom prst="rect">
            <a:avLst/>
          </a:prstGeom>
          <a:noFill/>
          <a:ln/>
        </p:spPr>
        <p:txBody>
          <a:bodyPr wrap="square" rtlCol="0" anchor="t"/>
          <a:lstStyle/>
          <a:p>
            <a:pPr marL="0" indent="0">
              <a:buNone/>
            </a:pPr>
            <a:r>
              <a:rPr lang="en-US" sz="800" i="1" dirty="0">
                <a:solidFill>
                  <a:schemeClr val="bg1"/>
                </a:solidFill>
                <a:latin typeface="Calibri" pitchFamily="34" charset="0"/>
                <a:ea typeface="Calibri" pitchFamily="34" charset="-122"/>
                <a:cs typeface="Calibri" pitchFamily="34" charset="-120"/>
              </a:rPr>
              <a:t>AI asked 2 questions. Surfaced near-misses Sarah hadn't counted.</a:t>
            </a:r>
            <a:endParaRPr lang="en-US" sz="800" dirty="0">
              <a:solidFill>
                <a:schemeClr val="bg1"/>
              </a:solidFill>
            </a:endParaRPr>
          </a:p>
        </p:txBody>
      </p:sp>
      <p:sp>
        <p:nvSpPr>
          <p:cNvPr id="21" name="Shape 19"/>
          <p:cNvSpPr/>
          <p:nvPr/>
        </p:nvSpPr>
        <p:spPr>
          <a:xfrm>
            <a:off x="3236976" y="1115568"/>
            <a:ext cx="1353312" cy="3977640"/>
          </a:xfrm>
          <a:prstGeom prst="rect">
            <a:avLst/>
          </a:prstGeom>
          <a:solidFill>
            <a:srgbClr val="1E2D3D"/>
          </a:solidFill>
          <a:ln/>
        </p:spPr>
      </p:sp>
      <p:sp>
        <p:nvSpPr>
          <p:cNvPr id="22" name="Shape 20"/>
          <p:cNvSpPr/>
          <p:nvPr/>
        </p:nvSpPr>
        <p:spPr>
          <a:xfrm>
            <a:off x="3236976" y="1115568"/>
            <a:ext cx="1353312" cy="420624"/>
          </a:xfrm>
          <a:prstGeom prst="rect">
            <a:avLst/>
          </a:prstGeom>
          <a:solidFill>
            <a:srgbClr val="2C5F2D"/>
          </a:solidFill>
          <a:ln/>
        </p:spPr>
      </p:sp>
      <p:sp>
        <p:nvSpPr>
          <p:cNvPr id="23" name="Text 21"/>
          <p:cNvSpPr/>
          <p:nvPr/>
        </p:nvSpPr>
        <p:spPr>
          <a:xfrm>
            <a:off x="3310128" y="1133856"/>
            <a:ext cx="1261872" cy="365760"/>
          </a:xfrm>
          <a:prstGeom prst="rect">
            <a:avLst/>
          </a:prstGeom>
          <a:noFill/>
          <a:ln/>
        </p:spPr>
        <p:txBody>
          <a:bodyPr wrap="square" rtlCol="0" anchor="ctr"/>
          <a:lstStyle/>
          <a:p>
            <a:pPr marL="0" indent="0">
              <a:buNone/>
            </a:pPr>
            <a:r>
              <a:rPr lang="en-US" sz="1500" b="1" dirty="0">
                <a:solidFill>
                  <a:srgbClr val="FFFFFF"/>
                </a:solidFill>
                <a:latin typeface="Arial Black" pitchFamily="34" charset="0"/>
                <a:ea typeface="Arial Black" pitchFamily="34" charset="-122"/>
                <a:cs typeface="Arial Black" pitchFamily="34" charset="-120"/>
              </a:rPr>
              <a:t>E</a:t>
            </a:r>
            <a:r>
              <a:rPr lang="en-US" sz="900" dirty="0">
                <a:solidFill>
                  <a:srgbClr val="CBD5E0"/>
                </a:solidFill>
                <a:latin typeface="Arial Black" pitchFamily="34" charset="0"/>
                <a:ea typeface="Arial Black" pitchFamily="34" charset="-122"/>
                <a:cs typeface="Arial Black" pitchFamily="34" charset="-120"/>
              </a:rPr>
              <a:t>VALUATE</a:t>
            </a:r>
            <a:endParaRPr lang="en-US" sz="1500" dirty="0"/>
          </a:p>
        </p:txBody>
      </p:sp>
      <p:sp>
        <p:nvSpPr>
          <p:cNvPr id="24" name="Text 22"/>
          <p:cNvSpPr/>
          <p:nvPr/>
        </p:nvSpPr>
        <p:spPr>
          <a:xfrm>
            <a:off x="3310128" y="1572768"/>
            <a:ext cx="1261872" cy="256032"/>
          </a:xfrm>
          <a:prstGeom prst="rect">
            <a:avLst/>
          </a:prstGeom>
          <a:noFill/>
          <a:ln/>
        </p:spPr>
        <p:txBody>
          <a:bodyPr wrap="square" rtlCol="0" anchor="ctr"/>
          <a:lstStyle/>
          <a:p>
            <a:pPr marL="0" indent="0">
              <a:buNone/>
            </a:pPr>
            <a:r>
              <a:rPr lang="en-US" sz="750" b="1" dirty="0">
                <a:solidFill>
                  <a:schemeClr val="bg1"/>
                </a:solidFill>
                <a:latin typeface="Calibri" pitchFamily="34" charset="0"/>
                <a:ea typeface="Calibri" pitchFamily="34" charset="-122"/>
                <a:cs typeface="Calibri" pitchFamily="34" charset="-120"/>
              </a:rPr>
              <a:t>Challenge the output</a:t>
            </a:r>
            <a:endParaRPr lang="en-US" sz="750" dirty="0">
              <a:solidFill>
                <a:schemeClr val="bg1"/>
              </a:solidFill>
            </a:endParaRPr>
          </a:p>
        </p:txBody>
      </p:sp>
      <p:sp>
        <p:nvSpPr>
          <p:cNvPr id="25" name="Text 23"/>
          <p:cNvSpPr/>
          <p:nvPr/>
        </p:nvSpPr>
        <p:spPr>
          <a:xfrm>
            <a:off x="3310128" y="1847088"/>
            <a:ext cx="1261872" cy="1188720"/>
          </a:xfrm>
          <a:prstGeom prst="rect">
            <a:avLst/>
          </a:prstGeom>
          <a:noFill/>
          <a:ln/>
        </p:spPr>
        <p:txBody>
          <a:bodyPr wrap="square" rtlCol="0" anchor="ctr"/>
          <a:lstStyle/>
          <a:p>
            <a:pPr marL="0" indent="0">
              <a:buNone/>
            </a:pPr>
            <a:r>
              <a:rPr lang="en-US" sz="850" dirty="0">
                <a:solidFill>
                  <a:schemeClr val="bg1"/>
                </a:solidFill>
                <a:latin typeface="Calibri" pitchFamily="34" charset="0"/>
                <a:ea typeface="Calibri" pitchFamily="34" charset="-122"/>
                <a:cs typeface="Calibri" pitchFamily="34" charset="-120"/>
              </a:rPr>
              <a:t>C³.</a:t>
            </a:r>
            <a:endParaRPr lang="en-US" sz="850" dirty="0">
              <a:solidFill>
                <a:schemeClr val="bg1"/>
              </a:solidFill>
            </a:endParaRPr>
          </a:p>
          <a:p>
            <a:pPr marL="0" indent="0">
              <a:buNone/>
            </a:pPr>
            <a:r>
              <a:rPr lang="en-US" sz="850" dirty="0">
                <a:solidFill>
                  <a:schemeClr val="bg1"/>
                </a:solidFill>
                <a:latin typeface="Calibri" pitchFamily="34" charset="0"/>
                <a:ea typeface="Calibri" pitchFamily="34" charset="-122"/>
                <a:cs typeface="Calibri" pitchFamily="34" charset="-120"/>
              </a:rPr>
              <a:t>Push back.</a:t>
            </a:r>
            <a:endParaRPr lang="en-US" sz="850" dirty="0">
              <a:solidFill>
                <a:schemeClr val="bg1"/>
              </a:solidFill>
            </a:endParaRPr>
          </a:p>
          <a:p>
            <a:pPr marL="0" indent="0">
              <a:buNone/>
            </a:pPr>
            <a:r>
              <a:rPr lang="en-US" sz="850" dirty="0">
                <a:solidFill>
                  <a:schemeClr val="bg1"/>
                </a:solidFill>
                <a:latin typeface="Calibri" pitchFamily="34" charset="0"/>
                <a:ea typeface="Calibri" pitchFamily="34" charset="-122"/>
                <a:cs typeface="Calibri" pitchFamily="34" charset="-120"/>
              </a:rPr>
              <a:t>Agree the solution.</a:t>
            </a:r>
            <a:endParaRPr lang="en-US" sz="850" dirty="0">
              <a:solidFill>
                <a:schemeClr val="bg1"/>
              </a:solidFill>
            </a:endParaRPr>
          </a:p>
        </p:txBody>
      </p:sp>
      <p:sp>
        <p:nvSpPr>
          <p:cNvPr id="26" name="Shape 24"/>
          <p:cNvSpPr/>
          <p:nvPr/>
        </p:nvSpPr>
        <p:spPr>
          <a:xfrm>
            <a:off x="3282696" y="3072384"/>
            <a:ext cx="1261872" cy="1938528"/>
          </a:xfrm>
          <a:prstGeom prst="rect">
            <a:avLst/>
          </a:prstGeom>
          <a:solidFill>
            <a:srgbClr val="0D1F0D"/>
          </a:solidFill>
          <a:ln w="6350">
            <a:solidFill>
              <a:srgbClr val="2C5F2D"/>
            </a:solidFill>
            <a:prstDash val="solid"/>
          </a:ln>
        </p:spPr>
      </p:sp>
      <p:sp>
        <p:nvSpPr>
          <p:cNvPr id="27" name="Text 25"/>
          <p:cNvSpPr/>
          <p:nvPr/>
        </p:nvSpPr>
        <p:spPr>
          <a:xfrm>
            <a:off x="3328416" y="3108960"/>
            <a:ext cx="731520" cy="182880"/>
          </a:xfrm>
          <a:prstGeom prst="rect">
            <a:avLst/>
          </a:prstGeom>
          <a:noFill/>
          <a:ln/>
        </p:spPr>
        <p:txBody>
          <a:bodyPr wrap="square" rtlCol="0" anchor="ctr"/>
          <a:lstStyle/>
          <a:p>
            <a:pPr marL="0" indent="0">
              <a:buNone/>
            </a:pPr>
            <a:r>
              <a:rPr lang="en-US" sz="600" b="1" dirty="0">
                <a:solidFill>
                  <a:srgbClr val="2C5F2D"/>
                </a:solidFill>
                <a:latin typeface="Calibri" pitchFamily="34" charset="0"/>
                <a:ea typeface="Calibri" pitchFamily="34" charset="-122"/>
                <a:cs typeface="Calibri" pitchFamily="34" charset="-120"/>
              </a:rPr>
              <a:t>SARAH</a:t>
            </a:r>
            <a:endParaRPr lang="en-US" sz="600" dirty="0"/>
          </a:p>
        </p:txBody>
      </p:sp>
      <p:sp>
        <p:nvSpPr>
          <p:cNvPr id="28" name="Text 26"/>
          <p:cNvSpPr/>
          <p:nvPr/>
        </p:nvSpPr>
        <p:spPr>
          <a:xfrm>
            <a:off x="3328416" y="3291840"/>
            <a:ext cx="1188720" cy="1645920"/>
          </a:xfrm>
          <a:prstGeom prst="rect">
            <a:avLst/>
          </a:prstGeom>
          <a:noFill/>
          <a:ln/>
        </p:spPr>
        <p:txBody>
          <a:bodyPr wrap="square" rtlCol="0" anchor="t"/>
          <a:lstStyle/>
          <a:p>
            <a:pPr marL="0" indent="0">
              <a:buNone/>
            </a:pPr>
            <a:r>
              <a:rPr lang="en-US" sz="800" i="1" dirty="0">
                <a:solidFill>
                  <a:schemeClr val="bg1"/>
                </a:solidFill>
                <a:latin typeface="Calibri" pitchFamily="34" charset="0"/>
                <a:ea typeface="Calibri" pitchFamily="34" charset="-122"/>
                <a:cs typeface="Calibri" pitchFamily="34" charset="-120"/>
              </a:rPr>
              <a:t>Sarah pushed back on the Google Sheet. AI changed direction.</a:t>
            </a:r>
            <a:endParaRPr lang="en-US" sz="800" dirty="0">
              <a:solidFill>
                <a:schemeClr val="bg1"/>
              </a:solidFill>
            </a:endParaRPr>
          </a:p>
        </p:txBody>
      </p:sp>
      <p:sp>
        <p:nvSpPr>
          <p:cNvPr id="29" name="Shape 27"/>
          <p:cNvSpPr/>
          <p:nvPr/>
        </p:nvSpPr>
        <p:spPr>
          <a:xfrm>
            <a:off x="4681728" y="1115568"/>
            <a:ext cx="1353312" cy="3977640"/>
          </a:xfrm>
          <a:prstGeom prst="rect">
            <a:avLst/>
          </a:prstGeom>
          <a:solidFill>
            <a:srgbClr val="1E2D3D"/>
          </a:solidFill>
          <a:ln/>
        </p:spPr>
      </p:sp>
      <p:sp>
        <p:nvSpPr>
          <p:cNvPr id="30" name="Shape 28"/>
          <p:cNvSpPr/>
          <p:nvPr/>
        </p:nvSpPr>
        <p:spPr>
          <a:xfrm>
            <a:off x="4681728" y="1115568"/>
            <a:ext cx="1353312" cy="420624"/>
          </a:xfrm>
          <a:prstGeom prst="rect">
            <a:avLst/>
          </a:prstGeom>
          <a:solidFill>
            <a:srgbClr val="7B4F9E"/>
          </a:solidFill>
          <a:ln/>
        </p:spPr>
      </p:sp>
      <p:sp>
        <p:nvSpPr>
          <p:cNvPr id="31" name="Text 29"/>
          <p:cNvSpPr/>
          <p:nvPr/>
        </p:nvSpPr>
        <p:spPr>
          <a:xfrm>
            <a:off x="4754880" y="1133856"/>
            <a:ext cx="1261872" cy="365760"/>
          </a:xfrm>
          <a:prstGeom prst="rect">
            <a:avLst/>
          </a:prstGeom>
          <a:noFill/>
          <a:ln/>
        </p:spPr>
        <p:txBody>
          <a:bodyPr wrap="square" rtlCol="0" anchor="ctr"/>
          <a:lstStyle/>
          <a:p>
            <a:pPr marL="0" indent="0">
              <a:buNone/>
            </a:pPr>
            <a:r>
              <a:rPr lang="en-US" sz="1500" b="1" dirty="0">
                <a:solidFill>
                  <a:srgbClr val="FFFFFF"/>
                </a:solidFill>
                <a:latin typeface="Arial Black" pitchFamily="34" charset="0"/>
                <a:ea typeface="Arial Black" pitchFamily="34" charset="-122"/>
                <a:cs typeface="Arial Black" pitchFamily="34" charset="-120"/>
              </a:rPr>
              <a:t>P</a:t>
            </a:r>
            <a:r>
              <a:rPr lang="en-US" sz="900" dirty="0">
                <a:solidFill>
                  <a:srgbClr val="CBD5E0"/>
                </a:solidFill>
                <a:latin typeface="Arial Black" pitchFamily="34" charset="0"/>
                <a:ea typeface="Arial Black" pitchFamily="34" charset="-122"/>
                <a:cs typeface="Arial Black" pitchFamily="34" charset="-120"/>
              </a:rPr>
              <a:t>LAN</a:t>
            </a:r>
            <a:endParaRPr lang="en-US" sz="1500" dirty="0"/>
          </a:p>
        </p:txBody>
      </p:sp>
      <p:sp>
        <p:nvSpPr>
          <p:cNvPr id="32" name="Text 30"/>
          <p:cNvSpPr/>
          <p:nvPr/>
        </p:nvSpPr>
        <p:spPr>
          <a:xfrm>
            <a:off x="4754880" y="1572768"/>
            <a:ext cx="1261872" cy="256032"/>
          </a:xfrm>
          <a:prstGeom prst="rect">
            <a:avLst/>
          </a:prstGeom>
          <a:noFill/>
          <a:ln/>
        </p:spPr>
        <p:txBody>
          <a:bodyPr wrap="square" rtlCol="0" anchor="ctr"/>
          <a:lstStyle/>
          <a:p>
            <a:pPr marL="0" indent="0">
              <a:buNone/>
            </a:pPr>
            <a:r>
              <a:rPr lang="en-US" sz="750" b="1" dirty="0">
                <a:solidFill>
                  <a:schemeClr val="bg1"/>
                </a:solidFill>
                <a:latin typeface="Calibri" pitchFamily="34" charset="0"/>
                <a:ea typeface="Calibri" pitchFamily="34" charset="-122"/>
                <a:cs typeface="Calibri" pitchFamily="34" charset="-120"/>
              </a:rPr>
              <a:t>Implementation steps</a:t>
            </a:r>
            <a:endParaRPr lang="en-US" sz="750" dirty="0">
              <a:solidFill>
                <a:schemeClr val="bg1"/>
              </a:solidFill>
            </a:endParaRPr>
          </a:p>
        </p:txBody>
      </p:sp>
      <p:sp>
        <p:nvSpPr>
          <p:cNvPr id="33" name="Text 31"/>
          <p:cNvSpPr/>
          <p:nvPr/>
        </p:nvSpPr>
        <p:spPr>
          <a:xfrm>
            <a:off x="4754880" y="1847088"/>
            <a:ext cx="1261872" cy="1188720"/>
          </a:xfrm>
          <a:prstGeom prst="rect">
            <a:avLst/>
          </a:prstGeom>
          <a:noFill/>
          <a:ln/>
        </p:spPr>
        <p:txBody>
          <a:bodyPr wrap="square" rtlCol="0" anchor="ctr"/>
          <a:lstStyle/>
          <a:p>
            <a:pPr marL="0" indent="0">
              <a:buNone/>
            </a:pPr>
            <a:r>
              <a:rPr lang="en-US" sz="850" dirty="0">
                <a:solidFill>
                  <a:schemeClr val="bg1"/>
                </a:solidFill>
                <a:latin typeface="Calibri" pitchFamily="34" charset="0"/>
                <a:ea typeface="Calibri" pitchFamily="34" charset="-122"/>
                <a:cs typeface="Calibri" pitchFamily="34" charset="-120"/>
              </a:rPr>
              <a:t>Plan prompt.</a:t>
            </a:r>
            <a:endParaRPr lang="en-US" sz="850" dirty="0">
              <a:solidFill>
                <a:schemeClr val="bg1"/>
              </a:solidFill>
            </a:endParaRPr>
          </a:p>
          <a:p>
            <a:pPr marL="0" indent="0">
              <a:buNone/>
            </a:pPr>
            <a:r>
              <a:rPr lang="en-US" sz="850" dirty="0">
                <a:solidFill>
                  <a:schemeClr val="bg1"/>
                </a:solidFill>
                <a:latin typeface="Calibri" pitchFamily="34" charset="0"/>
                <a:ea typeface="Calibri" pitchFamily="34" charset="-122"/>
                <a:cs typeface="Calibri" pitchFamily="34" charset="-120"/>
              </a:rPr>
              <a:t>AI generates</a:t>
            </a:r>
            <a:endParaRPr lang="en-US" sz="850" dirty="0">
              <a:solidFill>
                <a:schemeClr val="bg1"/>
              </a:solidFill>
            </a:endParaRPr>
          </a:p>
          <a:p>
            <a:pPr marL="0" indent="0">
              <a:buNone/>
            </a:pPr>
            <a:r>
              <a:rPr lang="en-US" sz="850" dirty="0">
                <a:solidFill>
                  <a:schemeClr val="bg1"/>
                </a:solidFill>
                <a:latin typeface="Calibri" pitchFamily="34" charset="0"/>
                <a:ea typeface="Calibri" pitchFamily="34" charset="-122"/>
                <a:cs typeface="Calibri" pitchFamily="34" charset="-120"/>
              </a:rPr>
              <a:t>steps from solution.</a:t>
            </a:r>
            <a:endParaRPr lang="en-US" sz="850" dirty="0">
              <a:solidFill>
                <a:schemeClr val="bg1"/>
              </a:solidFill>
            </a:endParaRPr>
          </a:p>
        </p:txBody>
      </p:sp>
      <p:sp>
        <p:nvSpPr>
          <p:cNvPr id="34" name="Shape 32"/>
          <p:cNvSpPr/>
          <p:nvPr/>
        </p:nvSpPr>
        <p:spPr>
          <a:xfrm>
            <a:off x="4727448" y="3072384"/>
            <a:ext cx="1261872" cy="1938528"/>
          </a:xfrm>
          <a:prstGeom prst="rect">
            <a:avLst/>
          </a:prstGeom>
          <a:solidFill>
            <a:srgbClr val="0D1F0D"/>
          </a:solidFill>
          <a:ln w="6350">
            <a:solidFill>
              <a:srgbClr val="7B4F9E"/>
            </a:solidFill>
            <a:prstDash val="solid"/>
          </a:ln>
        </p:spPr>
      </p:sp>
      <p:sp>
        <p:nvSpPr>
          <p:cNvPr id="35" name="Text 33"/>
          <p:cNvSpPr/>
          <p:nvPr/>
        </p:nvSpPr>
        <p:spPr>
          <a:xfrm>
            <a:off x="4773168" y="3108960"/>
            <a:ext cx="731520" cy="182880"/>
          </a:xfrm>
          <a:prstGeom prst="rect">
            <a:avLst/>
          </a:prstGeom>
          <a:noFill/>
          <a:ln/>
        </p:spPr>
        <p:txBody>
          <a:bodyPr wrap="square" rtlCol="0" anchor="ctr"/>
          <a:lstStyle/>
          <a:p>
            <a:pPr marL="0" indent="0">
              <a:buNone/>
            </a:pPr>
            <a:r>
              <a:rPr lang="en-US" sz="600" b="1" dirty="0">
                <a:solidFill>
                  <a:srgbClr val="7B4F9E"/>
                </a:solidFill>
                <a:latin typeface="Calibri" pitchFamily="34" charset="0"/>
                <a:ea typeface="Calibri" pitchFamily="34" charset="-122"/>
                <a:cs typeface="Calibri" pitchFamily="34" charset="-120"/>
              </a:rPr>
              <a:t>SARAH</a:t>
            </a:r>
            <a:endParaRPr lang="en-US" sz="600" dirty="0"/>
          </a:p>
        </p:txBody>
      </p:sp>
      <p:sp>
        <p:nvSpPr>
          <p:cNvPr id="36" name="Text 34"/>
          <p:cNvSpPr/>
          <p:nvPr/>
        </p:nvSpPr>
        <p:spPr>
          <a:xfrm>
            <a:off x="4773168" y="3291840"/>
            <a:ext cx="1188720" cy="1645920"/>
          </a:xfrm>
          <a:prstGeom prst="rect">
            <a:avLst/>
          </a:prstGeom>
          <a:noFill/>
          <a:ln/>
        </p:spPr>
        <p:txBody>
          <a:bodyPr wrap="square" rtlCol="0" anchor="t"/>
          <a:lstStyle/>
          <a:p>
            <a:pPr marL="0" indent="0">
              <a:buNone/>
            </a:pPr>
            <a:r>
              <a:rPr lang="en-US" sz="800" i="1" dirty="0">
                <a:solidFill>
                  <a:schemeClr val="bg1"/>
                </a:solidFill>
                <a:latin typeface="Calibri" pitchFamily="34" charset="0"/>
                <a:ea typeface="Calibri" pitchFamily="34" charset="-122"/>
                <a:cs typeface="Calibri" pitchFamily="34" charset="-120"/>
              </a:rPr>
              <a:t>AI produced a step-by-step. Sarah confirmed it on Friday.</a:t>
            </a:r>
            <a:endParaRPr lang="en-US" sz="800" dirty="0">
              <a:solidFill>
                <a:schemeClr val="bg1"/>
              </a:solidFill>
            </a:endParaRPr>
          </a:p>
        </p:txBody>
      </p:sp>
      <p:sp>
        <p:nvSpPr>
          <p:cNvPr id="37" name="Shape 35"/>
          <p:cNvSpPr/>
          <p:nvPr/>
        </p:nvSpPr>
        <p:spPr>
          <a:xfrm>
            <a:off x="6126480" y="1115568"/>
            <a:ext cx="1353312" cy="3977640"/>
          </a:xfrm>
          <a:prstGeom prst="rect">
            <a:avLst/>
          </a:prstGeom>
          <a:solidFill>
            <a:srgbClr val="1E2D3D"/>
          </a:solidFill>
          <a:ln/>
        </p:spPr>
      </p:sp>
      <p:sp>
        <p:nvSpPr>
          <p:cNvPr id="38" name="Shape 36"/>
          <p:cNvSpPr/>
          <p:nvPr/>
        </p:nvSpPr>
        <p:spPr>
          <a:xfrm>
            <a:off x="6126480" y="1115568"/>
            <a:ext cx="1353312" cy="420624"/>
          </a:xfrm>
          <a:prstGeom prst="rect">
            <a:avLst/>
          </a:prstGeom>
          <a:solidFill>
            <a:srgbClr val="1A6B8A"/>
          </a:solidFill>
          <a:ln/>
        </p:spPr>
      </p:sp>
      <p:sp>
        <p:nvSpPr>
          <p:cNvPr id="39" name="Text 37"/>
          <p:cNvSpPr/>
          <p:nvPr/>
        </p:nvSpPr>
        <p:spPr>
          <a:xfrm>
            <a:off x="6199632" y="1133856"/>
            <a:ext cx="1261872" cy="365760"/>
          </a:xfrm>
          <a:prstGeom prst="rect">
            <a:avLst/>
          </a:prstGeom>
          <a:noFill/>
          <a:ln/>
        </p:spPr>
        <p:txBody>
          <a:bodyPr wrap="square" rtlCol="0" anchor="ctr"/>
          <a:lstStyle/>
          <a:p>
            <a:pPr marL="0" indent="0">
              <a:buNone/>
            </a:pPr>
            <a:r>
              <a:rPr lang="en-US" sz="1500" b="1" dirty="0">
                <a:solidFill>
                  <a:srgbClr val="FFFFFF"/>
                </a:solidFill>
                <a:latin typeface="Arial Black" pitchFamily="34" charset="0"/>
                <a:ea typeface="Arial Black" pitchFamily="34" charset="-122"/>
                <a:cs typeface="Arial Black" pitchFamily="34" charset="-120"/>
              </a:rPr>
              <a:t>E</a:t>
            </a:r>
            <a:r>
              <a:rPr lang="en-US" sz="900" dirty="0">
                <a:solidFill>
                  <a:srgbClr val="CBD5E0"/>
                </a:solidFill>
                <a:latin typeface="Arial Black" pitchFamily="34" charset="0"/>
                <a:ea typeface="Arial Black" pitchFamily="34" charset="-122"/>
                <a:cs typeface="Arial Black" pitchFamily="34" charset="-120"/>
              </a:rPr>
              <a:t>XECUTE</a:t>
            </a:r>
            <a:endParaRPr lang="en-US" sz="1500" dirty="0"/>
          </a:p>
        </p:txBody>
      </p:sp>
      <p:sp>
        <p:nvSpPr>
          <p:cNvPr id="40" name="Text 38"/>
          <p:cNvSpPr/>
          <p:nvPr/>
        </p:nvSpPr>
        <p:spPr>
          <a:xfrm>
            <a:off x="6199632" y="1572768"/>
            <a:ext cx="1261872" cy="256032"/>
          </a:xfrm>
          <a:prstGeom prst="rect">
            <a:avLst/>
          </a:prstGeom>
          <a:noFill/>
          <a:ln/>
        </p:spPr>
        <p:txBody>
          <a:bodyPr wrap="square" rtlCol="0" anchor="ctr"/>
          <a:lstStyle/>
          <a:p>
            <a:pPr marL="0" indent="0">
              <a:buNone/>
            </a:pPr>
            <a:r>
              <a:rPr lang="en-US" sz="750" b="1" dirty="0">
                <a:solidFill>
                  <a:schemeClr val="bg1"/>
                </a:solidFill>
                <a:latin typeface="Calibri" pitchFamily="34" charset="0"/>
                <a:ea typeface="Calibri" pitchFamily="34" charset="-122"/>
                <a:cs typeface="Calibri" pitchFamily="34" charset="-120"/>
              </a:rPr>
              <a:t>Build it</a:t>
            </a:r>
            <a:endParaRPr lang="en-US" sz="750" dirty="0">
              <a:solidFill>
                <a:schemeClr val="bg1"/>
              </a:solidFill>
            </a:endParaRPr>
          </a:p>
        </p:txBody>
      </p:sp>
      <p:sp>
        <p:nvSpPr>
          <p:cNvPr id="41" name="Text 39"/>
          <p:cNvSpPr/>
          <p:nvPr/>
        </p:nvSpPr>
        <p:spPr>
          <a:xfrm>
            <a:off x="6199632" y="1847088"/>
            <a:ext cx="1261872" cy="1188720"/>
          </a:xfrm>
          <a:prstGeom prst="rect">
            <a:avLst/>
          </a:prstGeom>
          <a:noFill/>
          <a:ln/>
        </p:spPr>
        <p:txBody>
          <a:bodyPr wrap="square" rtlCol="0" anchor="ctr"/>
          <a:lstStyle/>
          <a:p>
            <a:pPr marL="0" indent="0">
              <a:buNone/>
            </a:pPr>
            <a:r>
              <a:rPr lang="en-US" sz="850" dirty="0">
                <a:solidFill>
                  <a:schemeClr val="bg1"/>
                </a:solidFill>
                <a:latin typeface="Calibri" pitchFamily="34" charset="0"/>
                <a:ea typeface="Calibri" pitchFamily="34" charset="-122"/>
                <a:cs typeface="Calibri" pitchFamily="34" charset="-120"/>
              </a:rPr>
              <a:t>One more session.</a:t>
            </a:r>
            <a:endParaRPr lang="en-US" sz="850" dirty="0">
              <a:solidFill>
                <a:schemeClr val="bg1"/>
              </a:solidFill>
            </a:endParaRPr>
          </a:p>
          <a:p>
            <a:pPr marL="0" indent="0">
              <a:buNone/>
            </a:pPr>
            <a:r>
              <a:rPr lang="en-US" sz="850" dirty="0">
                <a:solidFill>
                  <a:schemeClr val="bg1"/>
                </a:solidFill>
                <a:latin typeface="Calibri" pitchFamily="34" charset="0"/>
                <a:ea typeface="Calibri" pitchFamily="34" charset="-122"/>
                <a:cs typeface="Calibri" pitchFamily="34" charset="-120"/>
              </a:rPr>
              <a:t>Built Thursday.</a:t>
            </a:r>
            <a:endParaRPr lang="en-US" sz="850" dirty="0">
              <a:solidFill>
                <a:schemeClr val="bg1"/>
              </a:solidFill>
            </a:endParaRPr>
          </a:p>
          <a:p>
            <a:pPr marL="0" indent="0">
              <a:buNone/>
            </a:pPr>
            <a:r>
              <a:rPr lang="en-US" sz="850" dirty="0">
                <a:solidFill>
                  <a:schemeClr val="bg1"/>
                </a:solidFill>
                <a:latin typeface="Calibri" pitchFamily="34" charset="0"/>
                <a:ea typeface="Calibri" pitchFamily="34" charset="-122"/>
                <a:cs typeface="Calibri" pitchFamily="34" charset="-120"/>
              </a:rPr>
              <a:t>Running Monday.</a:t>
            </a:r>
            <a:endParaRPr lang="en-US" sz="850" dirty="0">
              <a:solidFill>
                <a:schemeClr val="bg1"/>
              </a:solidFill>
            </a:endParaRPr>
          </a:p>
        </p:txBody>
      </p:sp>
      <p:sp>
        <p:nvSpPr>
          <p:cNvPr id="42" name="Shape 40"/>
          <p:cNvSpPr/>
          <p:nvPr/>
        </p:nvSpPr>
        <p:spPr>
          <a:xfrm>
            <a:off x="6172200" y="3072384"/>
            <a:ext cx="1261872" cy="1938528"/>
          </a:xfrm>
          <a:prstGeom prst="rect">
            <a:avLst/>
          </a:prstGeom>
          <a:solidFill>
            <a:srgbClr val="0D1F0D"/>
          </a:solidFill>
          <a:ln w="6350">
            <a:solidFill>
              <a:srgbClr val="1A6B8A"/>
            </a:solidFill>
            <a:prstDash val="solid"/>
          </a:ln>
        </p:spPr>
      </p:sp>
      <p:sp>
        <p:nvSpPr>
          <p:cNvPr id="43" name="Text 41"/>
          <p:cNvSpPr/>
          <p:nvPr/>
        </p:nvSpPr>
        <p:spPr>
          <a:xfrm>
            <a:off x="6217920" y="3108960"/>
            <a:ext cx="731520" cy="182880"/>
          </a:xfrm>
          <a:prstGeom prst="rect">
            <a:avLst/>
          </a:prstGeom>
          <a:noFill/>
          <a:ln/>
        </p:spPr>
        <p:txBody>
          <a:bodyPr wrap="square" rtlCol="0" anchor="ctr"/>
          <a:lstStyle/>
          <a:p>
            <a:pPr marL="0" indent="0">
              <a:buNone/>
            </a:pPr>
            <a:r>
              <a:rPr lang="en-US" sz="600" b="1" dirty="0">
                <a:solidFill>
                  <a:srgbClr val="1A6B8A"/>
                </a:solidFill>
                <a:latin typeface="Calibri" pitchFamily="34" charset="0"/>
                <a:ea typeface="Calibri" pitchFamily="34" charset="-122"/>
                <a:cs typeface="Calibri" pitchFamily="34" charset="-120"/>
              </a:rPr>
              <a:t>SARAH</a:t>
            </a:r>
            <a:endParaRPr lang="en-US" sz="600" dirty="0"/>
          </a:p>
        </p:txBody>
      </p:sp>
      <p:sp>
        <p:nvSpPr>
          <p:cNvPr id="44" name="Text 42"/>
          <p:cNvSpPr/>
          <p:nvPr/>
        </p:nvSpPr>
        <p:spPr>
          <a:xfrm>
            <a:off x="6217920" y="3291840"/>
            <a:ext cx="1188720" cy="1645920"/>
          </a:xfrm>
          <a:prstGeom prst="rect">
            <a:avLst/>
          </a:prstGeom>
          <a:noFill/>
          <a:ln/>
        </p:spPr>
        <p:txBody>
          <a:bodyPr wrap="square" rtlCol="0" anchor="t"/>
          <a:lstStyle/>
          <a:p>
            <a:pPr marL="0" indent="0">
              <a:buNone/>
            </a:pPr>
            <a:r>
              <a:rPr lang="en-US" sz="800" i="1" dirty="0">
                <a:solidFill>
                  <a:schemeClr val="bg1"/>
                </a:solidFill>
                <a:latin typeface="Calibri" pitchFamily="34" charset="0"/>
                <a:ea typeface="Calibri" pitchFamily="34" charset="-122"/>
                <a:cs typeface="Calibri" pitchFamily="34" charset="-120"/>
              </a:rPr>
              <a:t>Compliance embedded in site sign-in. Zero manual checks.</a:t>
            </a:r>
            <a:endParaRPr lang="en-US" sz="800" dirty="0">
              <a:solidFill>
                <a:schemeClr val="bg1"/>
              </a:solidFill>
            </a:endParaRPr>
          </a:p>
        </p:txBody>
      </p:sp>
      <p:sp>
        <p:nvSpPr>
          <p:cNvPr id="45" name="Shape 43"/>
          <p:cNvSpPr/>
          <p:nvPr/>
        </p:nvSpPr>
        <p:spPr>
          <a:xfrm>
            <a:off x="7571232" y="1115568"/>
            <a:ext cx="1353312" cy="3977640"/>
          </a:xfrm>
          <a:prstGeom prst="rect">
            <a:avLst/>
          </a:prstGeom>
          <a:solidFill>
            <a:srgbClr val="1E2D3D"/>
          </a:solidFill>
          <a:ln/>
        </p:spPr>
      </p:sp>
      <p:sp>
        <p:nvSpPr>
          <p:cNvPr id="46" name="Shape 44"/>
          <p:cNvSpPr/>
          <p:nvPr/>
        </p:nvSpPr>
        <p:spPr>
          <a:xfrm>
            <a:off x="7571232" y="1115568"/>
            <a:ext cx="1353312" cy="420624"/>
          </a:xfrm>
          <a:prstGeom prst="rect">
            <a:avLst/>
          </a:prstGeom>
          <a:solidFill>
            <a:srgbClr val="8B6914"/>
          </a:solidFill>
          <a:ln/>
        </p:spPr>
      </p:sp>
      <p:sp>
        <p:nvSpPr>
          <p:cNvPr id="47" name="Text 45"/>
          <p:cNvSpPr/>
          <p:nvPr/>
        </p:nvSpPr>
        <p:spPr>
          <a:xfrm>
            <a:off x="7644384" y="1133856"/>
            <a:ext cx="1261872" cy="365760"/>
          </a:xfrm>
          <a:prstGeom prst="rect">
            <a:avLst/>
          </a:prstGeom>
          <a:noFill/>
          <a:ln/>
        </p:spPr>
        <p:txBody>
          <a:bodyPr wrap="square" rtlCol="0" anchor="ctr"/>
          <a:lstStyle/>
          <a:p>
            <a:pPr marL="0" indent="0">
              <a:buNone/>
            </a:pPr>
            <a:r>
              <a:rPr lang="en-US" sz="1500" b="1" dirty="0">
                <a:solidFill>
                  <a:srgbClr val="FFFFFF"/>
                </a:solidFill>
                <a:latin typeface="Arial Black" pitchFamily="34" charset="0"/>
                <a:ea typeface="Arial Black" pitchFamily="34" charset="-122"/>
                <a:cs typeface="Arial Black" pitchFamily="34" charset="-120"/>
              </a:rPr>
              <a:t>R</a:t>
            </a:r>
            <a:r>
              <a:rPr lang="en-US" sz="900" dirty="0">
                <a:solidFill>
                  <a:srgbClr val="CBD5E0"/>
                </a:solidFill>
                <a:latin typeface="Arial Black" pitchFamily="34" charset="0"/>
                <a:ea typeface="Arial Black" pitchFamily="34" charset="-122"/>
                <a:cs typeface="Arial Black" pitchFamily="34" charset="-120"/>
              </a:rPr>
              <a:t>EFINE</a:t>
            </a:r>
            <a:endParaRPr lang="en-US" sz="1500" dirty="0"/>
          </a:p>
        </p:txBody>
      </p:sp>
      <p:sp>
        <p:nvSpPr>
          <p:cNvPr id="48" name="Text 46"/>
          <p:cNvSpPr/>
          <p:nvPr/>
        </p:nvSpPr>
        <p:spPr>
          <a:xfrm>
            <a:off x="7644384" y="1572768"/>
            <a:ext cx="1261872" cy="256032"/>
          </a:xfrm>
          <a:prstGeom prst="rect">
            <a:avLst/>
          </a:prstGeom>
          <a:noFill/>
          <a:ln/>
        </p:spPr>
        <p:txBody>
          <a:bodyPr wrap="square" rtlCol="0" anchor="ctr"/>
          <a:lstStyle/>
          <a:p>
            <a:pPr marL="0" indent="0">
              <a:buNone/>
            </a:pPr>
            <a:r>
              <a:rPr lang="en-US" sz="750" b="1" dirty="0">
                <a:solidFill>
                  <a:schemeClr val="bg1"/>
                </a:solidFill>
                <a:latin typeface="Calibri" pitchFamily="34" charset="0"/>
                <a:ea typeface="Calibri" pitchFamily="34" charset="-122"/>
                <a:cs typeface="Calibri" pitchFamily="34" charset="-120"/>
              </a:rPr>
              <a:t>Improve and repeat</a:t>
            </a:r>
            <a:endParaRPr lang="en-US" sz="750" dirty="0">
              <a:solidFill>
                <a:schemeClr val="bg1"/>
              </a:solidFill>
            </a:endParaRPr>
          </a:p>
        </p:txBody>
      </p:sp>
      <p:sp>
        <p:nvSpPr>
          <p:cNvPr id="49" name="Text 47"/>
          <p:cNvSpPr/>
          <p:nvPr/>
        </p:nvSpPr>
        <p:spPr>
          <a:xfrm>
            <a:off x="7644384" y="1847088"/>
            <a:ext cx="1261872" cy="1188720"/>
          </a:xfrm>
          <a:prstGeom prst="rect">
            <a:avLst/>
          </a:prstGeom>
          <a:noFill/>
          <a:ln/>
        </p:spPr>
        <p:txBody>
          <a:bodyPr wrap="square" rtlCol="0" anchor="ctr"/>
          <a:lstStyle/>
          <a:p>
            <a:pPr marL="0" indent="0">
              <a:buNone/>
            </a:pPr>
            <a:r>
              <a:rPr lang="en-US" sz="850" dirty="0">
                <a:solidFill>
                  <a:schemeClr val="bg1"/>
                </a:solidFill>
                <a:latin typeface="Calibri" pitchFamily="34" charset="0"/>
                <a:ea typeface="Calibri" pitchFamily="34" charset="-122"/>
                <a:cs typeface="Calibri" pitchFamily="34" charset="-120"/>
              </a:rPr>
              <a:t>What worked?</a:t>
            </a:r>
            <a:endParaRPr lang="en-US" sz="850" dirty="0">
              <a:solidFill>
                <a:schemeClr val="bg1"/>
              </a:solidFill>
            </a:endParaRPr>
          </a:p>
          <a:p>
            <a:pPr marL="0" indent="0">
              <a:buNone/>
            </a:pPr>
            <a:r>
              <a:rPr lang="en-US" sz="850" dirty="0">
                <a:solidFill>
                  <a:schemeClr val="bg1"/>
                </a:solidFill>
                <a:latin typeface="Calibri" pitchFamily="34" charset="0"/>
                <a:ea typeface="Calibri" pitchFamily="34" charset="-122"/>
                <a:cs typeface="Calibri" pitchFamily="34" charset="-120"/>
              </a:rPr>
              <a:t>What to improve?</a:t>
            </a:r>
            <a:endParaRPr lang="en-US" sz="850" dirty="0">
              <a:solidFill>
                <a:schemeClr val="bg1"/>
              </a:solidFill>
            </a:endParaRPr>
          </a:p>
          <a:p>
            <a:pPr marL="0" indent="0">
              <a:buNone/>
            </a:pPr>
            <a:r>
              <a:rPr lang="en-US" sz="850" dirty="0">
                <a:solidFill>
                  <a:schemeClr val="bg1"/>
                </a:solidFill>
                <a:latin typeface="Calibri" pitchFamily="34" charset="0"/>
                <a:ea typeface="Calibri" pitchFamily="34" charset="-122"/>
                <a:cs typeface="Calibri" pitchFamily="34" charset="-120"/>
              </a:rPr>
              <a:t>Go again.</a:t>
            </a:r>
            <a:endParaRPr lang="en-US" sz="850" dirty="0">
              <a:solidFill>
                <a:schemeClr val="bg1"/>
              </a:solidFill>
            </a:endParaRPr>
          </a:p>
        </p:txBody>
      </p:sp>
      <p:sp>
        <p:nvSpPr>
          <p:cNvPr id="50" name="Shape 48"/>
          <p:cNvSpPr/>
          <p:nvPr/>
        </p:nvSpPr>
        <p:spPr>
          <a:xfrm>
            <a:off x="7616952" y="3072384"/>
            <a:ext cx="1261872" cy="1938528"/>
          </a:xfrm>
          <a:prstGeom prst="rect">
            <a:avLst/>
          </a:prstGeom>
          <a:solidFill>
            <a:srgbClr val="0D1F0D"/>
          </a:solidFill>
          <a:ln w="6350">
            <a:solidFill>
              <a:srgbClr val="8B6914"/>
            </a:solidFill>
            <a:prstDash val="solid"/>
          </a:ln>
        </p:spPr>
      </p:sp>
      <p:sp>
        <p:nvSpPr>
          <p:cNvPr id="51" name="Text 49"/>
          <p:cNvSpPr/>
          <p:nvPr/>
        </p:nvSpPr>
        <p:spPr>
          <a:xfrm>
            <a:off x="7662672" y="3108960"/>
            <a:ext cx="731520" cy="182880"/>
          </a:xfrm>
          <a:prstGeom prst="rect">
            <a:avLst/>
          </a:prstGeom>
          <a:noFill/>
          <a:ln/>
        </p:spPr>
        <p:txBody>
          <a:bodyPr wrap="square" rtlCol="0" anchor="ctr"/>
          <a:lstStyle/>
          <a:p>
            <a:pPr marL="0" indent="0">
              <a:buNone/>
            </a:pPr>
            <a:r>
              <a:rPr lang="en-US" sz="600" b="1" dirty="0">
                <a:solidFill>
                  <a:srgbClr val="8B6914"/>
                </a:solidFill>
                <a:latin typeface="Calibri" pitchFamily="34" charset="0"/>
                <a:ea typeface="Calibri" pitchFamily="34" charset="-122"/>
                <a:cs typeface="Calibri" pitchFamily="34" charset="-120"/>
              </a:rPr>
              <a:t>SARAH</a:t>
            </a:r>
            <a:endParaRPr lang="en-US" sz="600" dirty="0"/>
          </a:p>
        </p:txBody>
      </p:sp>
      <p:sp>
        <p:nvSpPr>
          <p:cNvPr id="52" name="Text 50"/>
          <p:cNvSpPr/>
          <p:nvPr/>
        </p:nvSpPr>
        <p:spPr>
          <a:xfrm>
            <a:off x="7662672" y="3291840"/>
            <a:ext cx="1188720" cy="1645920"/>
          </a:xfrm>
          <a:prstGeom prst="rect">
            <a:avLst/>
          </a:prstGeom>
          <a:noFill/>
          <a:ln/>
        </p:spPr>
        <p:txBody>
          <a:bodyPr wrap="square" rtlCol="0" anchor="t"/>
          <a:lstStyle/>
          <a:p>
            <a:pPr marL="0" indent="0">
              <a:buNone/>
            </a:pPr>
            <a:r>
              <a:rPr lang="en-US" sz="800" i="1" dirty="0">
                <a:solidFill>
                  <a:schemeClr val="bg1"/>
                </a:solidFill>
                <a:latin typeface="Calibri" pitchFamily="34" charset="0"/>
                <a:ea typeface="Calibri" pitchFamily="34" charset="-122"/>
                <a:cs typeface="Calibri" pitchFamily="34" charset="-120"/>
              </a:rPr>
              <a:t>Month 1: AI Project. Month 3: live web tool.</a:t>
            </a:r>
            <a:endParaRPr lang="en-US" sz="800" dirty="0">
              <a:solidFill>
                <a:schemeClr val="bg1"/>
              </a:solidFill>
            </a:endParaRPr>
          </a:p>
        </p:txBody>
      </p:sp>
      <p:sp>
        <p:nvSpPr>
          <p:cNvPr id="53" name="Text 51"/>
          <p:cNvSpPr/>
          <p:nvPr/>
        </p:nvSpPr>
        <p:spPr>
          <a:xfrm>
            <a:off x="347472" y="5120640"/>
            <a:ext cx="8412480" cy="256032"/>
          </a:xfrm>
          <a:prstGeom prst="rect">
            <a:avLst/>
          </a:prstGeom>
          <a:noFill/>
          <a:ln/>
        </p:spPr>
        <p:txBody>
          <a:bodyPr wrap="square" rtlCol="0" anchor="ctr"/>
          <a:lstStyle/>
          <a:p>
            <a:pPr marL="0" indent="0" algn="ctr">
              <a:buNone/>
            </a:pPr>
            <a:r>
              <a:rPr lang="en-US" sz="1100" b="1" i="1" dirty="0">
                <a:solidFill>
                  <a:srgbClr val="1A7A9E"/>
                </a:solidFill>
                <a:latin typeface="Calibri" pitchFamily="34" charset="0"/>
                <a:ea typeface="Calibri" pitchFamily="34" charset="-122"/>
                <a:cs typeface="Calibri" pitchFamily="34" charset="-120"/>
              </a:rPr>
              <a:t>When you go DEEPER with AI — the results are 10x.</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2EFE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7B4F9E"/>
          </a:solidFill>
          <a:ln w="12700">
            <a:solidFill>
              <a:srgbClr val="7B4F9E"/>
            </a:solidFill>
            <a:prstDash val="solid"/>
          </a:ln>
        </p:spPr>
      </p:sp>
      <p:sp>
        <p:nvSpPr>
          <p:cNvPr id="3" name="Text 1"/>
          <p:cNvSpPr/>
          <p:nvPr/>
        </p:nvSpPr>
        <p:spPr>
          <a:xfrm>
            <a:off x="347472" y="274320"/>
            <a:ext cx="8412480" cy="502920"/>
          </a:xfrm>
          <a:prstGeom prst="rect">
            <a:avLst/>
          </a:prstGeom>
          <a:noFill/>
          <a:ln/>
        </p:spPr>
        <p:txBody>
          <a:bodyPr wrap="square" rtlCol="0" anchor="ctr"/>
          <a:lstStyle/>
          <a:p>
            <a:pPr marL="0" indent="0">
              <a:buNone/>
            </a:pPr>
            <a:r>
              <a:rPr lang="en-US" sz="2400" b="1" dirty="0">
                <a:solidFill>
                  <a:srgbClr val="0D1B2A"/>
                </a:solidFill>
                <a:latin typeface="Arial Black" pitchFamily="34" charset="0"/>
                <a:ea typeface="Arial Black" pitchFamily="34" charset="-122"/>
                <a:cs typeface="Arial Black" pitchFamily="34" charset="-120"/>
              </a:rPr>
              <a:t>SARAH SENDS THE PLAN PROMPT.</a:t>
            </a:r>
            <a:endParaRPr lang="en-US" sz="2400" dirty="0"/>
          </a:p>
        </p:txBody>
      </p:sp>
      <p:sp>
        <p:nvSpPr>
          <p:cNvPr id="4" name="Text 2"/>
          <p:cNvSpPr/>
          <p:nvPr/>
        </p:nvSpPr>
        <p:spPr>
          <a:xfrm>
            <a:off x="347472" y="777240"/>
            <a:ext cx="8412480" cy="274320"/>
          </a:xfrm>
          <a:prstGeom prst="rect">
            <a:avLst/>
          </a:prstGeom>
          <a:noFill/>
          <a:ln/>
        </p:spPr>
        <p:txBody>
          <a:bodyPr wrap="square" rtlCol="0" anchor="ctr"/>
          <a:lstStyle/>
          <a:p>
            <a:pPr marL="0" indent="0">
              <a:buNone/>
            </a:pPr>
            <a:r>
              <a:rPr lang="en-US" sz="1100" i="1" dirty="0">
                <a:solidFill>
                  <a:srgbClr val="7B4F9E"/>
                </a:solidFill>
                <a:latin typeface="Calibri" pitchFamily="34" charset="0"/>
                <a:ea typeface="Calibri" pitchFamily="34" charset="-122"/>
                <a:cs typeface="Calibri" pitchFamily="34" charset="-120"/>
              </a:rPr>
              <a:t>AI generates the implementation plan from the conversation. Sarah doesn't have to remember anything.</a:t>
            </a:r>
            <a:endParaRPr lang="en-US" sz="1100" dirty="0"/>
          </a:p>
        </p:txBody>
      </p:sp>
      <p:sp>
        <p:nvSpPr>
          <p:cNvPr id="5" name="Shape 3"/>
          <p:cNvSpPr/>
          <p:nvPr/>
        </p:nvSpPr>
        <p:spPr>
          <a:xfrm>
            <a:off x="347472" y="1115568"/>
            <a:ext cx="8412480" cy="3730752"/>
          </a:xfrm>
          <a:prstGeom prst="rect">
            <a:avLst/>
          </a:prstGeom>
          <a:solidFill>
            <a:srgbClr val="F8F9FA"/>
          </a:solidFill>
          <a:ln w="12700">
            <a:solidFill>
              <a:srgbClr val="E5E7EB"/>
            </a:solidFill>
            <a:prstDash val="solid"/>
          </a:ln>
          <a:effectLst>
            <a:outerShdw blurRad="76200" dist="25400" dir="8100000" algn="bl" rotWithShape="0">
              <a:srgbClr val="000000">
                <a:alpha val="15000"/>
              </a:srgbClr>
            </a:outerShdw>
          </a:effectLst>
        </p:spPr>
      </p:sp>
      <p:sp>
        <p:nvSpPr>
          <p:cNvPr id="6" name="Shape 4"/>
          <p:cNvSpPr/>
          <p:nvPr/>
        </p:nvSpPr>
        <p:spPr>
          <a:xfrm>
            <a:off x="347472" y="1115568"/>
            <a:ext cx="8412480" cy="347472"/>
          </a:xfrm>
          <a:prstGeom prst="rect">
            <a:avLst/>
          </a:prstGeom>
          <a:solidFill>
            <a:srgbClr val="E5E7EB"/>
          </a:solidFill>
          <a:ln/>
        </p:spPr>
      </p:sp>
      <p:sp>
        <p:nvSpPr>
          <p:cNvPr id="7" name="Text 5"/>
          <p:cNvSpPr/>
          <p:nvPr/>
        </p:nvSpPr>
        <p:spPr>
          <a:xfrm>
            <a:off x="502920" y="1115568"/>
            <a:ext cx="914400" cy="347472"/>
          </a:xfrm>
          <a:prstGeom prst="rect">
            <a:avLst/>
          </a:prstGeom>
          <a:noFill/>
          <a:ln/>
        </p:spPr>
        <p:txBody>
          <a:bodyPr wrap="square" rtlCol="0" anchor="ctr"/>
          <a:lstStyle/>
          <a:p>
            <a:pPr marL="0" indent="0">
              <a:buNone/>
            </a:pPr>
            <a:r>
              <a:rPr lang="en-US" sz="900" dirty="0">
                <a:solidFill>
                  <a:srgbClr val="9CA3AF"/>
                </a:solidFill>
              </a:rPr>
              <a:t>● ● ●</a:t>
            </a:r>
            <a:endParaRPr lang="en-US" sz="900" dirty="0"/>
          </a:p>
        </p:txBody>
      </p:sp>
      <p:sp>
        <p:nvSpPr>
          <p:cNvPr id="8" name="Text 6"/>
          <p:cNvSpPr/>
          <p:nvPr/>
        </p:nvSpPr>
        <p:spPr>
          <a:xfrm>
            <a:off x="4114800" y="1115568"/>
            <a:ext cx="914400" cy="347472"/>
          </a:xfrm>
          <a:prstGeom prst="rect">
            <a:avLst/>
          </a:prstGeom>
          <a:noFill/>
          <a:ln/>
        </p:spPr>
        <p:txBody>
          <a:bodyPr wrap="square" rtlCol="0" anchor="ctr"/>
          <a:lstStyle/>
          <a:p>
            <a:pPr marL="0" indent="0" algn="ctr">
              <a:buNone/>
            </a:pPr>
            <a:r>
              <a:rPr lang="en-US" sz="1100" b="1" dirty="0">
                <a:solidFill>
                  <a:srgbClr val="0D1B2A"/>
                </a:solidFill>
              </a:rPr>
              <a:t>AI</a:t>
            </a:r>
            <a:endParaRPr lang="en-US" sz="1100" dirty="0"/>
          </a:p>
        </p:txBody>
      </p:sp>
      <p:sp>
        <p:nvSpPr>
          <p:cNvPr id="9" name="Text 7"/>
          <p:cNvSpPr/>
          <p:nvPr/>
        </p:nvSpPr>
        <p:spPr>
          <a:xfrm>
            <a:off x="502920" y="1536192"/>
            <a:ext cx="8138160" cy="3218688"/>
          </a:xfrm>
          <a:prstGeom prst="rect">
            <a:avLst/>
          </a:prstGeom>
          <a:noFill/>
          <a:ln/>
        </p:spPr>
        <p:txBody>
          <a:bodyPr wrap="square" rtlCol="0" anchor="t"/>
          <a:lstStyle/>
          <a:p>
            <a:pPr marL="0" indent="0">
              <a:buNone/>
            </a:pPr>
            <a:r>
              <a:rPr lang="en-US" sz="980" b="1" dirty="0">
                <a:solidFill>
                  <a:srgbClr val="0D1B2A"/>
                </a:solidFill>
                <a:latin typeface="Calibri" pitchFamily="34" charset="0"/>
                <a:ea typeface="Calibri" pitchFamily="34" charset="-122"/>
                <a:cs typeface="Calibri" pitchFamily="34" charset="-120"/>
              </a:rPr>
              <a:t>Based on everything we've discussed, here's your implementation plan:
</a:t>
            </a:r>
            <a:r>
              <a:rPr lang="en-US" sz="980" b="1" dirty="0">
                <a:solidFill>
                  <a:srgbClr val="7B4F9E"/>
                </a:solidFill>
                <a:latin typeface="Calibri" pitchFamily="34" charset="0"/>
                <a:ea typeface="Calibri" pitchFamily="34" charset="-122"/>
                <a:cs typeface="Calibri" pitchFamily="34" charset="-120"/>
              </a:rPr>
              <a:t>Solution: </a:t>
            </a:r>
            <a:r>
              <a:rPr lang="en-US" sz="980" dirty="0">
                <a:solidFill>
                  <a:srgbClr val="0D1B2A"/>
                </a:solidFill>
                <a:latin typeface="Calibri" pitchFamily="34" charset="0"/>
                <a:ea typeface="Calibri" pitchFamily="34" charset="-122"/>
                <a:cs typeface="Calibri" pitchFamily="34" charset="-120"/>
              </a:rPr>
              <a:t>Compliance status embedded into site sign-in — automatic, no manual follow-up.
</a:t>
            </a:r>
            <a:r>
              <a:rPr lang="en-US" sz="980" b="1" dirty="0">
                <a:solidFill>
                  <a:srgbClr val="0D1B2A"/>
                </a:solidFill>
                <a:latin typeface="Calibri" pitchFamily="34" charset="0"/>
                <a:ea typeface="Calibri" pitchFamily="34" charset="-122"/>
                <a:cs typeface="Calibri" pitchFamily="34" charset="-120"/>
              </a:rPr>
              <a:t>Steps:
</a:t>
            </a:r>
            <a:r>
              <a:rPr lang="en-US" sz="980" b="1" dirty="0">
                <a:solidFill>
                  <a:srgbClr val="7B4F9E"/>
                </a:solidFill>
                <a:latin typeface="Calibri" pitchFamily="34" charset="0"/>
                <a:ea typeface="Calibri" pitchFamily="34" charset="-122"/>
                <a:cs typeface="Calibri" pitchFamily="34" charset="-120"/>
              </a:rPr>
              <a:t>1. </a:t>
            </a:r>
            <a:r>
              <a:rPr lang="en-US" sz="980" dirty="0">
                <a:solidFill>
                  <a:srgbClr val="0D1B2A"/>
                </a:solidFill>
                <a:latin typeface="Calibri" pitchFamily="34" charset="0"/>
                <a:ea typeface="Calibri" pitchFamily="34" charset="-122"/>
                <a:cs typeface="Calibri" pitchFamily="34" charset="-120"/>
              </a:rPr>
              <a:t>Map existing sign-in workflow with IT — identify the trigger point.  </a:t>
            </a:r>
            <a:r>
              <a:rPr lang="en-US" sz="980" i="1" dirty="0">
                <a:solidFill>
                  <a:srgbClr val="6B7280"/>
                </a:solidFill>
                <a:latin typeface="Calibri" pitchFamily="34" charset="0"/>
                <a:ea typeface="Calibri" pitchFamily="34" charset="-122"/>
                <a:cs typeface="Calibri" pitchFamily="34" charset="-120"/>
              </a:rPr>
              <a:t>Owner: Sarah + IT lead. Week 1.
</a:t>
            </a:r>
            <a:r>
              <a:rPr lang="en-US" sz="980" b="1" dirty="0">
                <a:solidFill>
                  <a:srgbClr val="7B4F9E"/>
                </a:solidFill>
                <a:latin typeface="Calibri" pitchFamily="34" charset="0"/>
                <a:ea typeface="Calibri" pitchFamily="34" charset="-122"/>
                <a:cs typeface="Calibri" pitchFamily="34" charset="-120"/>
              </a:rPr>
              <a:t>2. </a:t>
            </a:r>
            <a:r>
              <a:rPr lang="en-US" sz="980" dirty="0">
                <a:solidFill>
                  <a:srgbClr val="0D1B2A"/>
                </a:solidFill>
                <a:latin typeface="Calibri" pitchFamily="34" charset="0"/>
                <a:ea typeface="Calibri" pitchFamily="34" charset="-122"/>
                <a:cs typeface="Calibri" pitchFamily="34" charset="-120"/>
              </a:rPr>
              <a:t>Connect certificate database to sign-in system.  </a:t>
            </a:r>
            <a:r>
              <a:rPr lang="en-US" sz="980" i="1" dirty="0">
                <a:solidFill>
                  <a:srgbClr val="6B7280"/>
                </a:solidFill>
                <a:latin typeface="Calibri" pitchFamily="34" charset="0"/>
                <a:ea typeface="Calibri" pitchFamily="34" charset="-122"/>
                <a:cs typeface="Calibri" pitchFamily="34" charset="-120"/>
              </a:rPr>
              <a:t>Owner: IT. Weeks 2-3.
</a:t>
            </a:r>
            <a:r>
              <a:rPr lang="en-US" sz="980" b="1" dirty="0">
                <a:solidFill>
                  <a:srgbClr val="7B4F9E"/>
                </a:solidFill>
                <a:latin typeface="Calibri" pitchFamily="34" charset="0"/>
                <a:ea typeface="Calibri" pitchFamily="34" charset="-122"/>
                <a:cs typeface="Calibri" pitchFamily="34" charset="-120"/>
              </a:rPr>
              <a:t>3. </a:t>
            </a:r>
            <a:r>
              <a:rPr lang="en-US" sz="980" dirty="0">
                <a:solidFill>
                  <a:srgbClr val="0D1B2A"/>
                </a:solidFill>
                <a:latin typeface="Calibri" pitchFamily="34" charset="0"/>
                <a:ea typeface="Calibri" pitchFamily="34" charset="-122"/>
                <a:cs typeface="Calibri" pitchFamily="34" charset="-120"/>
              </a:rPr>
              <a:t>Test with 3 subcontractors before full rollout.  </a:t>
            </a:r>
            <a:r>
              <a:rPr lang="en-US" sz="980" i="1" dirty="0">
                <a:solidFill>
                  <a:srgbClr val="6B7280"/>
                </a:solidFill>
                <a:latin typeface="Calibri" pitchFamily="34" charset="0"/>
                <a:ea typeface="Calibri" pitchFamily="34" charset="-122"/>
                <a:cs typeface="Calibri" pitchFamily="34" charset="-120"/>
              </a:rPr>
              <a:t>Owner: Sarah. Week 4.
</a:t>
            </a:r>
            <a:r>
              <a:rPr lang="en-US" sz="980" b="1" dirty="0">
                <a:solidFill>
                  <a:srgbClr val="7B4F9E"/>
                </a:solidFill>
                <a:latin typeface="Calibri" pitchFamily="34" charset="0"/>
                <a:ea typeface="Calibri" pitchFamily="34" charset="-122"/>
                <a:cs typeface="Calibri" pitchFamily="34" charset="-120"/>
              </a:rPr>
              <a:t>Done when: </a:t>
            </a:r>
            <a:r>
              <a:rPr lang="en-US" sz="980" dirty="0">
                <a:solidFill>
                  <a:srgbClr val="0D1B2A"/>
                </a:solidFill>
                <a:latin typeface="Calibri" pitchFamily="34" charset="0"/>
                <a:ea typeface="Calibri" pitchFamily="34" charset="-122"/>
                <a:cs typeface="Calibri" pitchFamily="34" charset="-120"/>
              </a:rPr>
              <a:t>Zero manual certificate checks on Monday mornings. System flags expiries automatically.
</a:t>
            </a:r>
            <a:r>
              <a:rPr lang="en-US" sz="980" b="1" dirty="0">
                <a:solidFill>
                  <a:srgbClr val="7B4F9E"/>
                </a:solidFill>
                <a:latin typeface="Calibri" pitchFamily="34" charset="0"/>
                <a:ea typeface="Calibri" pitchFamily="34" charset="-122"/>
                <a:cs typeface="Calibri" pitchFamily="34" charset="-120"/>
              </a:rPr>
              <a:t>First action this week: </a:t>
            </a:r>
            <a:r>
              <a:rPr lang="en-US" sz="980" dirty="0">
                <a:solidFill>
                  <a:srgbClr val="0D1B2A"/>
                </a:solidFill>
                <a:latin typeface="Calibri" pitchFamily="34" charset="0"/>
                <a:ea typeface="Calibri" pitchFamily="34" charset="-122"/>
                <a:cs typeface="Calibri" pitchFamily="34" charset="-120"/>
              </a:rPr>
              <a:t>Book 30 minutes with IT lead. Show them this plan.</a:t>
            </a:r>
            <a:endParaRPr lang="en-US" sz="980" dirty="0"/>
          </a:p>
        </p:txBody>
      </p:sp>
      <p:sp>
        <p:nvSpPr>
          <p:cNvPr id="10" name="Shape 8"/>
          <p:cNvSpPr/>
          <p:nvPr/>
        </p:nvSpPr>
        <p:spPr>
          <a:xfrm>
            <a:off x="347472" y="4901184"/>
            <a:ext cx="8412480" cy="292608"/>
          </a:xfrm>
          <a:prstGeom prst="rect">
            <a:avLst/>
          </a:prstGeom>
          <a:solidFill>
            <a:srgbClr val="F0EAF8"/>
          </a:solidFill>
          <a:ln/>
        </p:spPr>
      </p:sp>
      <p:sp>
        <p:nvSpPr>
          <p:cNvPr id="11" name="Text 9"/>
          <p:cNvSpPr/>
          <p:nvPr/>
        </p:nvSpPr>
        <p:spPr>
          <a:xfrm>
            <a:off x="502920" y="4901184"/>
            <a:ext cx="8229600" cy="292608"/>
          </a:xfrm>
          <a:prstGeom prst="rect">
            <a:avLst/>
          </a:prstGeom>
          <a:noFill/>
          <a:ln/>
        </p:spPr>
        <p:txBody>
          <a:bodyPr wrap="square" rtlCol="0" anchor="ctr"/>
          <a:lstStyle/>
          <a:p>
            <a:pPr marL="0" indent="0">
              <a:buNone/>
            </a:pPr>
            <a:r>
              <a:rPr lang="en-US" sz="1000" b="1" i="1" dirty="0">
                <a:solidFill>
                  <a:srgbClr val="7B4F9E"/>
                </a:solidFill>
                <a:latin typeface="Calibri" pitchFamily="34" charset="0"/>
                <a:ea typeface="Calibri" pitchFamily="34" charset="-122"/>
                <a:cs typeface="Calibri" pitchFamily="34" charset="-120"/>
              </a:rPr>
              <a:t>Sarah didn't write this. AI did — from the conversation. She just said: "Yes. Book the meeting."</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2EFE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7B4F9E"/>
          </a:solidFill>
          <a:ln w="12700">
            <a:solidFill>
              <a:srgbClr val="7B4F9E"/>
            </a:solidFill>
            <a:prstDash val="solid"/>
          </a:ln>
        </p:spPr>
      </p:sp>
      <p:sp>
        <p:nvSpPr>
          <p:cNvPr id="3" name="Text 1"/>
          <p:cNvSpPr/>
          <p:nvPr/>
        </p:nvSpPr>
        <p:spPr>
          <a:xfrm>
            <a:off x="347472" y="274320"/>
            <a:ext cx="8412480" cy="502920"/>
          </a:xfrm>
          <a:prstGeom prst="rect">
            <a:avLst/>
          </a:prstGeom>
          <a:noFill/>
          <a:ln/>
        </p:spPr>
        <p:txBody>
          <a:bodyPr wrap="square" rtlCol="0" anchor="ctr"/>
          <a:lstStyle/>
          <a:p>
            <a:pPr marL="0" indent="0">
              <a:buNone/>
            </a:pPr>
            <a:r>
              <a:rPr lang="en-US" sz="2400" b="1" dirty="0">
                <a:solidFill>
                  <a:srgbClr val="0D1B2A"/>
                </a:solidFill>
                <a:latin typeface="Arial Black" pitchFamily="34" charset="0"/>
                <a:ea typeface="Arial Black" pitchFamily="34" charset="-122"/>
                <a:cs typeface="Arial Black" pitchFamily="34" charset="-120"/>
              </a:rPr>
              <a:t>SARAH'S IMPLEMENTATION PLAN.</a:t>
            </a:r>
            <a:endParaRPr lang="en-US" sz="2400" dirty="0"/>
          </a:p>
        </p:txBody>
      </p:sp>
      <p:sp>
        <p:nvSpPr>
          <p:cNvPr id="4" name="Text 2"/>
          <p:cNvSpPr/>
          <p:nvPr/>
        </p:nvSpPr>
        <p:spPr>
          <a:xfrm>
            <a:off x="347472" y="777240"/>
            <a:ext cx="8412480" cy="256032"/>
          </a:xfrm>
          <a:prstGeom prst="rect">
            <a:avLst/>
          </a:prstGeom>
          <a:noFill/>
          <a:ln/>
        </p:spPr>
        <p:txBody>
          <a:bodyPr wrap="square" rtlCol="0" anchor="ctr"/>
          <a:lstStyle/>
          <a:p>
            <a:pPr marL="0" indent="0">
              <a:buNone/>
            </a:pPr>
            <a:r>
              <a:rPr lang="en-US" sz="1100" i="1" dirty="0">
                <a:solidFill>
                  <a:srgbClr val="7B4F9E"/>
                </a:solidFill>
                <a:latin typeface="Calibri" pitchFamily="34" charset="0"/>
                <a:ea typeface="Calibri" pitchFamily="34" charset="-122"/>
                <a:cs typeface="Calibri" pitchFamily="34" charset="-120"/>
              </a:rPr>
              <a:t>Generated by AI from the conversation. Confirmed by Sarah in two minutes.</a:t>
            </a:r>
            <a:endParaRPr lang="en-US" sz="1100" dirty="0"/>
          </a:p>
        </p:txBody>
      </p:sp>
      <p:sp>
        <p:nvSpPr>
          <p:cNvPr id="5" name="Shape 3"/>
          <p:cNvSpPr/>
          <p:nvPr/>
        </p:nvSpPr>
        <p:spPr>
          <a:xfrm>
            <a:off x="347472" y="1143000"/>
            <a:ext cx="4059936" cy="1901952"/>
          </a:xfrm>
          <a:prstGeom prst="rect">
            <a:avLst/>
          </a:prstGeom>
          <a:solidFill>
            <a:srgbClr val="FFFFFF"/>
          </a:solidFill>
          <a:ln w="12700">
            <a:solidFill>
              <a:srgbClr val="E5E7EB"/>
            </a:solidFill>
            <a:prstDash val="solid"/>
          </a:ln>
          <a:effectLst>
            <a:outerShdw blurRad="76200" dist="25400" dir="8100000" algn="bl" rotWithShape="0">
              <a:srgbClr val="000000">
                <a:alpha val="15000"/>
              </a:srgbClr>
            </a:outerShdw>
          </a:effectLst>
        </p:spPr>
      </p:sp>
      <p:sp>
        <p:nvSpPr>
          <p:cNvPr id="6" name="Shape 4"/>
          <p:cNvSpPr/>
          <p:nvPr/>
        </p:nvSpPr>
        <p:spPr>
          <a:xfrm>
            <a:off x="347472" y="1143000"/>
            <a:ext cx="4059936" cy="384048"/>
          </a:xfrm>
          <a:prstGeom prst="rect">
            <a:avLst/>
          </a:prstGeom>
          <a:solidFill>
            <a:srgbClr val="7B4F9E"/>
          </a:solidFill>
          <a:ln/>
        </p:spPr>
      </p:sp>
      <p:sp>
        <p:nvSpPr>
          <p:cNvPr id="8" name="Text 6"/>
          <p:cNvSpPr/>
          <p:nvPr/>
        </p:nvSpPr>
        <p:spPr>
          <a:xfrm>
            <a:off x="457200" y="1216152"/>
            <a:ext cx="256032" cy="256032"/>
          </a:xfrm>
          <a:prstGeom prst="rect">
            <a:avLst/>
          </a:prstGeom>
          <a:noFill/>
          <a:ln/>
        </p:spPr>
        <p:txBody>
          <a:bodyPr wrap="square" rtlCol="0" anchor="ctr"/>
          <a:lstStyle/>
          <a:p>
            <a:pPr marL="0" indent="0" algn="ctr">
              <a:buNone/>
            </a:pPr>
            <a:r>
              <a:rPr lang="en-US" sz="1000" b="1" dirty="0">
                <a:solidFill>
                  <a:srgbClr val="7B4F9E"/>
                </a:solidFill>
              </a:rPr>
              <a:t>1</a:t>
            </a:r>
            <a:endParaRPr lang="en-US" sz="1000" dirty="0"/>
          </a:p>
        </p:txBody>
      </p:sp>
      <p:sp>
        <p:nvSpPr>
          <p:cNvPr id="9" name="Text 7"/>
          <p:cNvSpPr/>
          <p:nvPr/>
        </p:nvSpPr>
        <p:spPr>
          <a:xfrm>
            <a:off x="786384" y="1216152"/>
            <a:ext cx="3511296" cy="256032"/>
          </a:xfrm>
          <a:prstGeom prst="rect">
            <a:avLst/>
          </a:prstGeom>
          <a:noFill/>
          <a:ln/>
        </p:spPr>
        <p:txBody>
          <a:bodyPr wrap="square"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THE SOLUTION</a:t>
            </a:r>
            <a:endParaRPr lang="en-US" sz="1050" dirty="0"/>
          </a:p>
        </p:txBody>
      </p:sp>
      <p:sp>
        <p:nvSpPr>
          <p:cNvPr id="10" name="Text 8"/>
          <p:cNvSpPr/>
          <p:nvPr/>
        </p:nvSpPr>
        <p:spPr>
          <a:xfrm>
            <a:off x="457200" y="1600200"/>
            <a:ext cx="3858768" cy="201168"/>
          </a:xfrm>
          <a:prstGeom prst="rect">
            <a:avLst/>
          </a:prstGeom>
          <a:noFill/>
          <a:ln/>
        </p:spPr>
        <p:txBody>
          <a:bodyPr wrap="square" rtlCol="0" anchor="ctr"/>
          <a:lstStyle/>
          <a:p>
            <a:pPr marL="0" indent="0">
              <a:buNone/>
            </a:pPr>
            <a:r>
              <a:rPr lang="en-US" sz="800" i="1" dirty="0">
                <a:solidFill>
                  <a:srgbClr val="7B4F9E"/>
                </a:solidFill>
                <a:latin typeface="Calibri" pitchFamily="34" charset="0"/>
                <a:ea typeface="Calibri" pitchFamily="34" charset="-122"/>
                <a:cs typeface="Calibri" pitchFamily="34" charset="-120"/>
              </a:rPr>
              <a:t>Agreed solution — in one sentence</a:t>
            </a:r>
            <a:endParaRPr lang="en-US" sz="800" dirty="0"/>
          </a:p>
        </p:txBody>
      </p:sp>
      <p:sp>
        <p:nvSpPr>
          <p:cNvPr id="11" name="Text 9"/>
          <p:cNvSpPr/>
          <p:nvPr/>
        </p:nvSpPr>
        <p:spPr>
          <a:xfrm>
            <a:off x="457200" y="1801368"/>
            <a:ext cx="3858768" cy="1152144"/>
          </a:xfrm>
          <a:prstGeom prst="rect">
            <a:avLst/>
          </a:prstGeom>
          <a:noFill/>
          <a:ln/>
        </p:spPr>
        <p:txBody>
          <a:bodyPr wrap="square" rtlCol="0" anchor="t"/>
          <a:lstStyle/>
          <a:p>
            <a:pPr marL="0" indent="0">
              <a:buNone/>
            </a:pPr>
            <a:r>
              <a:rPr lang="en-US" sz="980" dirty="0">
                <a:solidFill>
                  <a:srgbClr val="0D1B2A"/>
                </a:solidFill>
                <a:latin typeface="Calibri" pitchFamily="34" charset="0"/>
                <a:ea typeface="Calibri" pitchFamily="34" charset="-122"/>
                <a:cs typeface="Calibri" pitchFamily="34" charset="-120"/>
              </a:rPr>
              <a:t>Compliance status checked automatically at site sign-in. If a certificate is expired or missing — the worker cannot complete sign-in. No manual checking required.</a:t>
            </a:r>
            <a:endParaRPr lang="en-US" sz="980" dirty="0"/>
          </a:p>
        </p:txBody>
      </p:sp>
      <p:sp>
        <p:nvSpPr>
          <p:cNvPr id="12" name="Shape 10"/>
          <p:cNvSpPr/>
          <p:nvPr/>
        </p:nvSpPr>
        <p:spPr>
          <a:xfrm>
            <a:off x="4544568" y="1143000"/>
            <a:ext cx="4059936" cy="1901952"/>
          </a:xfrm>
          <a:prstGeom prst="rect">
            <a:avLst/>
          </a:prstGeom>
          <a:solidFill>
            <a:srgbClr val="FFFFFF"/>
          </a:solidFill>
          <a:ln w="12700">
            <a:solidFill>
              <a:srgbClr val="E5E7EB"/>
            </a:solidFill>
            <a:prstDash val="solid"/>
          </a:ln>
          <a:effectLst>
            <a:outerShdw blurRad="76200" dist="25400" dir="8100000" algn="bl" rotWithShape="0">
              <a:srgbClr val="000000">
                <a:alpha val="15000"/>
              </a:srgbClr>
            </a:outerShdw>
          </a:effectLst>
        </p:spPr>
      </p:sp>
      <p:sp>
        <p:nvSpPr>
          <p:cNvPr id="13" name="Shape 11"/>
          <p:cNvSpPr/>
          <p:nvPr/>
        </p:nvSpPr>
        <p:spPr>
          <a:xfrm>
            <a:off x="4544568" y="1143000"/>
            <a:ext cx="4059936" cy="384048"/>
          </a:xfrm>
          <a:prstGeom prst="rect">
            <a:avLst/>
          </a:prstGeom>
          <a:solidFill>
            <a:srgbClr val="1A7A9E"/>
          </a:solidFill>
          <a:ln/>
        </p:spPr>
      </p:sp>
      <p:sp>
        <p:nvSpPr>
          <p:cNvPr id="15" name="Text 13"/>
          <p:cNvSpPr/>
          <p:nvPr/>
        </p:nvSpPr>
        <p:spPr>
          <a:xfrm>
            <a:off x="4654296" y="1216152"/>
            <a:ext cx="256032" cy="256032"/>
          </a:xfrm>
          <a:prstGeom prst="rect">
            <a:avLst/>
          </a:prstGeom>
          <a:noFill/>
          <a:ln/>
        </p:spPr>
        <p:txBody>
          <a:bodyPr wrap="square" rtlCol="0" anchor="ctr"/>
          <a:lstStyle/>
          <a:p>
            <a:pPr marL="0" indent="0" algn="ctr">
              <a:buNone/>
            </a:pPr>
            <a:r>
              <a:rPr lang="en-US" sz="1000" b="1" dirty="0">
                <a:solidFill>
                  <a:srgbClr val="1A7A9E"/>
                </a:solidFill>
              </a:rPr>
              <a:t>2</a:t>
            </a:r>
            <a:endParaRPr lang="en-US" sz="1000" dirty="0"/>
          </a:p>
        </p:txBody>
      </p:sp>
      <p:sp>
        <p:nvSpPr>
          <p:cNvPr id="16" name="Text 14"/>
          <p:cNvSpPr/>
          <p:nvPr/>
        </p:nvSpPr>
        <p:spPr>
          <a:xfrm>
            <a:off x="4983480" y="1216152"/>
            <a:ext cx="3511296" cy="256032"/>
          </a:xfrm>
          <a:prstGeom prst="rect">
            <a:avLst/>
          </a:prstGeom>
          <a:noFill/>
          <a:ln/>
        </p:spPr>
        <p:txBody>
          <a:bodyPr wrap="square"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THE STEPS</a:t>
            </a:r>
            <a:endParaRPr lang="en-US" sz="1050" dirty="0"/>
          </a:p>
        </p:txBody>
      </p:sp>
      <p:sp>
        <p:nvSpPr>
          <p:cNvPr id="17" name="Text 15"/>
          <p:cNvSpPr/>
          <p:nvPr/>
        </p:nvSpPr>
        <p:spPr>
          <a:xfrm>
            <a:off x="4654296" y="1600200"/>
            <a:ext cx="3858768" cy="201168"/>
          </a:xfrm>
          <a:prstGeom prst="rect">
            <a:avLst/>
          </a:prstGeom>
          <a:noFill/>
          <a:ln/>
        </p:spPr>
        <p:txBody>
          <a:bodyPr wrap="square" rtlCol="0" anchor="ctr"/>
          <a:lstStyle/>
          <a:p>
            <a:pPr marL="0" indent="0">
              <a:buNone/>
            </a:pPr>
            <a:r>
              <a:rPr lang="en-US" sz="800" i="1" dirty="0">
                <a:solidFill>
                  <a:srgbClr val="1A7A9E"/>
                </a:solidFill>
                <a:latin typeface="Calibri" pitchFamily="34" charset="0"/>
                <a:ea typeface="Calibri" pitchFamily="34" charset="-122"/>
                <a:cs typeface="Calibri" pitchFamily="34" charset="-120"/>
              </a:rPr>
              <a:t>In order — with owners and timelines</a:t>
            </a:r>
            <a:endParaRPr lang="en-US" sz="800" dirty="0"/>
          </a:p>
        </p:txBody>
      </p:sp>
      <p:sp>
        <p:nvSpPr>
          <p:cNvPr id="18" name="Text 16"/>
          <p:cNvSpPr/>
          <p:nvPr/>
        </p:nvSpPr>
        <p:spPr>
          <a:xfrm>
            <a:off x="4654296" y="1801368"/>
            <a:ext cx="3858768" cy="1152144"/>
          </a:xfrm>
          <a:prstGeom prst="rect">
            <a:avLst/>
          </a:prstGeom>
          <a:noFill/>
          <a:ln/>
        </p:spPr>
        <p:txBody>
          <a:bodyPr wrap="square" rtlCol="0" anchor="t"/>
          <a:lstStyle/>
          <a:p>
            <a:pPr marL="0" indent="0">
              <a:buNone/>
            </a:pPr>
            <a:r>
              <a:rPr lang="en-US" sz="980" dirty="0">
                <a:solidFill>
                  <a:srgbClr val="0D1B2A"/>
                </a:solidFill>
                <a:latin typeface="Calibri" pitchFamily="34" charset="0"/>
                <a:ea typeface="Calibri" pitchFamily="34" charset="-122"/>
                <a:cs typeface="Calibri" pitchFamily="34" charset="-120"/>
              </a:rPr>
              <a:t>Step 1: Map existing sign-in workflow with IT. Identify the trigger point.  Owner: Sarah + IT lead. Week 1.</a:t>
            </a:r>
            <a:endParaRPr lang="en-US" sz="980" dirty="0"/>
          </a:p>
          <a:p>
            <a:pPr marL="0" indent="0">
              <a:buNone/>
            </a:pPr>
            <a:r>
              <a:rPr lang="en-US" sz="980" dirty="0">
                <a:solidFill>
                  <a:srgbClr val="0D1B2A"/>
                </a:solidFill>
                <a:latin typeface="Calibri" pitchFamily="34" charset="0"/>
                <a:ea typeface="Calibri" pitchFamily="34" charset="-122"/>
                <a:cs typeface="Calibri" pitchFamily="34" charset="-120"/>
              </a:rPr>
              <a:t>Step 2: Connect certificate database to sign-in system.  Owner: IT. Weeks 2–3.</a:t>
            </a:r>
            <a:endParaRPr lang="en-US" sz="980" dirty="0"/>
          </a:p>
          <a:p>
            <a:pPr marL="0" indent="0">
              <a:buNone/>
            </a:pPr>
            <a:r>
              <a:rPr lang="en-US" sz="980" dirty="0">
                <a:solidFill>
                  <a:srgbClr val="0D1B2A"/>
                </a:solidFill>
                <a:latin typeface="Calibri" pitchFamily="34" charset="0"/>
                <a:ea typeface="Calibri" pitchFamily="34" charset="-122"/>
                <a:cs typeface="Calibri" pitchFamily="34" charset="-120"/>
              </a:rPr>
              <a:t>Step 3: Pilot with 3 subcontractors before full rollout.  Owner: Sarah. Week 4.</a:t>
            </a:r>
            <a:endParaRPr lang="en-US" sz="980" dirty="0"/>
          </a:p>
        </p:txBody>
      </p:sp>
      <p:sp>
        <p:nvSpPr>
          <p:cNvPr id="19" name="Shape 17"/>
          <p:cNvSpPr/>
          <p:nvPr/>
        </p:nvSpPr>
        <p:spPr>
          <a:xfrm>
            <a:off x="347472" y="3172968"/>
            <a:ext cx="4059936" cy="1901952"/>
          </a:xfrm>
          <a:prstGeom prst="rect">
            <a:avLst/>
          </a:prstGeom>
          <a:solidFill>
            <a:srgbClr val="FFFFFF"/>
          </a:solidFill>
          <a:ln w="12700">
            <a:solidFill>
              <a:srgbClr val="E5E7EB"/>
            </a:solidFill>
            <a:prstDash val="solid"/>
          </a:ln>
          <a:effectLst>
            <a:outerShdw blurRad="76200" dist="25400" dir="8100000" algn="bl" rotWithShape="0">
              <a:srgbClr val="000000">
                <a:alpha val="15000"/>
              </a:srgbClr>
            </a:outerShdw>
          </a:effectLst>
        </p:spPr>
      </p:sp>
      <p:sp>
        <p:nvSpPr>
          <p:cNvPr id="20" name="Shape 18"/>
          <p:cNvSpPr/>
          <p:nvPr/>
        </p:nvSpPr>
        <p:spPr>
          <a:xfrm>
            <a:off x="347472" y="3172968"/>
            <a:ext cx="4059936" cy="384048"/>
          </a:xfrm>
          <a:prstGeom prst="rect">
            <a:avLst/>
          </a:prstGeom>
          <a:solidFill>
            <a:srgbClr val="D4641A"/>
          </a:solidFill>
          <a:ln/>
        </p:spPr>
      </p:sp>
      <p:sp>
        <p:nvSpPr>
          <p:cNvPr id="22" name="Text 20"/>
          <p:cNvSpPr/>
          <p:nvPr/>
        </p:nvSpPr>
        <p:spPr>
          <a:xfrm>
            <a:off x="457200" y="3246120"/>
            <a:ext cx="256032" cy="256032"/>
          </a:xfrm>
          <a:prstGeom prst="rect">
            <a:avLst/>
          </a:prstGeom>
          <a:noFill/>
          <a:ln/>
        </p:spPr>
        <p:txBody>
          <a:bodyPr wrap="square" rtlCol="0" anchor="ctr"/>
          <a:lstStyle/>
          <a:p>
            <a:pPr marL="0" indent="0" algn="ctr">
              <a:buNone/>
            </a:pPr>
            <a:r>
              <a:rPr lang="en-US" sz="1000" b="1" dirty="0">
                <a:solidFill>
                  <a:srgbClr val="D4641A"/>
                </a:solidFill>
              </a:rPr>
              <a:t>3</a:t>
            </a:r>
            <a:endParaRPr lang="en-US" sz="1000" dirty="0"/>
          </a:p>
        </p:txBody>
      </p:sp>
      <p:sp>
        <p:nvSpPr>
          <p:cNvPr id="23" name="Text 21"/>
          <p:cNvSpPr/>
          <p:nvPr/>
        </p:nvSpPr>
        <p:spPr>
          <a:xfrm>
            <a:off x="786384" y="3246120"/>
            <a:ext cx="3511296" cy="256032"/>
          </a:xfrm>
          <a:prstGeom prst="rect">
            <a:avLst/>
          </a:prstGeom>
          <a:noFill/>
          <a:ln/>
        </p:spPr>
        <p:txBody>
          <a:bodyPr wrap="square"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DONE WHEN</a:t>
            </a:r>
            <a:endParaRPr lang="en-US" sz="1050" dirty="0"/>
          </a:p>
        </p:txBody>
      </p:sp>
      <p:sp>
        <p:nvSpPr>
          <p:cNvPr id="24" name="Text 22"/>
          <p:cNvSpPr/>
          <p:nvPr/>
        </p:nvSpPr>
        <p:spPr>
          <a:xfrm>
            <a:off x="457200" y="3630168"/>
            <a:ext cx="3858768" cy="201168"/>
          </a:xfrm>
          <a:prstGeom prst="rect">
            <a:avLst/>
          </a:prstGeom>
          <a:noFill/>
          <a:ln/>
        </p:spPr>
        <p:txBody>
          <a:bodyPr wrap="square" rtlCol="0" anchor="ctr"/>
          <a:lstStyle/>
          <a:p>
            <a:pPr marL="0" indent="0">
              <a:buNone/>
            </a:pPr>
            <a:r>
              <a:rPr lang="en-US" sz="800" i="1" dirty="0">
                <a:solidFill>
                  <a:srgbClr val="D4641A"/>
                </a:solidFill>
                <a:latin typeface="Calibri" pitchFamily="34" charset="0"/>
                <a:ea typeface="Calibri" pitchFamily="34" charset="-122"/>
                <a:cs typeface="Calibri" pitchFamily="34" charset="-120"/>
              </a:rPr>
              <a:t>Specific and measurable — she can check this on a Monday</a:t>
            </a:r>
            <a:endParaRPr lang="en-US" sz="800" dirty="0"/>
          </a:p>
        </p:txBody>
      </p:sp>
      <p:sp>
        <p:nvSpPr>
          <p:cNvPr id="25" name="Text 23"/>
          <p:cNvSpPr/>
          <p:nvPr/>
        </p:nvSpPr>
        <p:spPr>
          <a:xfrm>
            <a:off x="457200" y="3831336"/>
            <a:ext cx="3858768" cy="1152144"/>
          </a:xfrm>
          <a:prstGeom prst="rect">
            <a:avLst/>
          </a:prstGeom>
          <a:noFill/>
          <a:ln/>
        </p:spPr>
        <p:txBody>
          <a:bodyPr wrap="square" rtlCol="0" anchor="t"/>
          <a:lstStyle/>
          <a:p>
            <a:pPr marL="0" indent="0">
              <a:buNone/>
            </a:pPr>
            <a:r>
              <a:rPr lang="en-US" sz="980" dirty="0">
                <a:solidFill>
                  <a:srgbClr val="0D1B2A"/>
                </a:solidFill>
                <a:latin typeface="Calibri" pitchFamily="34" charset="0"/>
                <a:ea typeface="Calibri" pitchFamily="34" charset="-122"/>
                <a:cs typeface="Calibri" pitchFamily="34" charset="-120"/>
              </a:rPr>
              <a:t>Zero manual certificate checks on Monday mornings. System flags expiries automatically. Zero near-misses on site.</a:t>
            </a:r>
            <a:endParaRPr lang="en-US" sz="980" dirty="0"/>
          </a:p>
        </p:txBody>
      </p:sp>
      <p:sp>
        <p:nvSpPr>
          <p:cNvPr id="26" name="Shape 24"/>
          <p:cNvSpPr/>
          <p:nvPr/>
        </p:nvSpPr>
        <p:spPr>
          <a:xfrm>
            <a:off x="4544568" y="3172968"/>
            <a:ext cx="4059936" cy="1901952"/>
          </a:xfrm>
          <a:prstGeom prst="rect">
            <a:avLst/>
          </a:prstGeom>
          <a:solidFill>
            <a:srgbClr val="FFFFFF"/>
          </a:solidFill>
          <a:ln w="12700">
            <a:solidFill>
              <a:srgbClr val="E5E7EB"/>
            </a:solidFill>
            <a:prstDash val="solid"/>
          </a:ln>
          <a:effectLst>
            <a:outerShdw blurRad="76200" dist="25400" dir="8100000" algn="bl" rotWithShape="0">
              <a:srgbClr val="000000">
                <a:alpha val="15000"/>
              </a:srgbClr>
            </a:outerShdw>
          </a:effectLst>
        </p:spPr>
      </p:sp>
      <p:sp>
        <p:nvSpPr>
          <p:cNvPr id="27" name="Shape 25"/>
          <p:cNvSpPr/>
          <p:nvPr/>
        </p:nvSpPr>
        <p:spPr>
          <a:xfrm>
            <a:off x="4544568" y="3172968"/>
            <a:ext cx="4059936" cy="384048"/>
          </a:xfrm>
          <a:prstGeom prst="rect">
            <a:avLst/>
          </a:prstGeom>
          <a:solidFill>
            <a:srgbClr val="1A7A5E"/>
          </a:solidFill>
          <a:ln/>
        </p:spPr>
      </p:sp>
      <p:sp>
        <p:nvSpPr>
          <p:cNvPr id="29" name="Text 27"/>
          <p:cNvSpPr/>
          <p:nvPr/>
        </p:nvSpPr>
        <p:spPr>
          <a:xfrm>
            <a:off x="4654296" y="3246120"/>
            <a:ext cx="256032" cy="256032"/>
          </a:xfrm>
          <a:prstGeom prst="rect">
            <a:avLst/>
          </a:prstGeom>
          <a:noFill/>
          <a:ln/>
        </p:spPr>
        <p:txBody>
          <a:bodyPr wrap="square" rtlCol="0" anchor="ctr"/>
          <a:lstStyle/>
          <a:p>
            <a:pPr marL="0" indent="0" algn="ctr">
              <a:buNone/>
            </a:pPr>
            <a:r>
              <a:rPr lang="en-US" sz="1000" b="1" dirty="0">
                <a:solidFill>
                  <a:srgbClr val="1A7A5E"/>
                </a:solidFill>
              </a:rPr>
              <a:t>4</a:t>
            </a:r>
            <a:endParaRPr lang="en-US" sz="1000" dirty="0"/>
          </a:p>
        </p:txBody>
      </p:sp>
      <p:sp>
        <p:nvSpPr>
          <p:cNvPr id="30" name="Text 28"/>
          <p:cNvSpPr/>
          <p:nvPr/>
        </p:nvSpPr>
        <p:spPr>
          <a:xfrm>
            <a:off x="4983480" y="3246120"/>
            <a:ext cx="3511296" cy="256032"/>
          </a:xfrm>
          <a:prstGeom prst="rect">
            <a:avLst/>
          </a:prstGeom>
          <a:noFill/>
          <a:ln/>
        </p:spPr>
        <p:txBody>
          <a:bodyPr wrap="square"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FIRST ACTION THIS WEEK</a:t>
            </a:r>
            <a:endParaRPr lang="en-US" sz="1050" dirty="0"/>
          </a:p>
        </p:txBody>
      </p:sp>
      <p:sp>
        <p:nvSpPr>
          <p:cNvPr id="31" name="Text 29"/>
          <p:cNvSpPr/>
          <p:nvPr/>
        </p:nvSpPr>
        <p:spPr>
          <a:xfrm>
            <a:off x="4654296" y="3630168"/>
            <a:ext cx="3858768" cy="201168"/>
          </a:xfrm>
          <a:prstGeom prst="rect">
            <a:avLst/>
          </a:prstGeom>
          <a:noFill/>
          <a:ln/>
        </p:spPr>
        <p:txBody>
          <a:bodyPr wrap="square" rtlCol="0" anchor="ctr"/>
          <a:lstStyle/>
          <a:p>
            <a:pPr marL="0" indent="0">
              <a:buNone/>
            </a:pPr>
            <a:r>
              <a:rPr lang="en-US" sz="800" i="1" dirty="0">
                <a:solidFill>
                  <a:srgbClr val="1A7A5E"/>
                </a:solidFill>
                <a:latin typeface="Calibri" pitchFamily="34" charset="0"/>
                <a:ea typeface="Calibri" pitchFamily="34" charset="-122"/>
                <a:cs typeface="Calibri" pitchFamily="34" charset="-120"/>
              </a:rPr>
              <a:t>One action — this week — not 'look into it'</a:t>
            </a:r>
            <a:endParaRPr lang="en-US" sz="800" dirty="0"/>
          </a:p>
        </p:txBody>
      </p:sp>
      <p:sp>
        <p:nvSpPr>
          <p:cNvPr id="32" name="Text 30"/>
          <p:cNvSpPr/>
          <p:nvPr/>
        </p:nvSpPr>
        <p:spPr>
          <a:xfrm>
            <a:off x="4654296" y="3831336"/>
            <a:ext cx="3858768" cy="1152144"/>
          </a:xfrm>
          <a:prstGeom prst="rect">
            <a:avLst/>
          </a:prstGeom>
          <a:noFill/>
          <a:ln/>
        </p:spPr>
        <p:txBody>
          <a:bodyPr wrap="square" rtlCol="0" anchor="t"/>
          <a:lstStyle/>
          <a:p>
            <a:pPr marL="0" indent="0">
              <a:buNone/>
            </a:pPr>
            <a:r>
              <a:rPr lang="en-US" sz="980" dirty="0">
                <a:solidFill>
                  <a:srgbClr val="0D1B2A"/>
                </a:solidFill>
                <a:latin typeface="Calibri" pitchFamily="34" charset="0"/>
                <a:ea typeface="Calibri" pitchFamily="34" charset="-122"/>
                <a:cs typeface="Calibri" pitchFamily="34" charset="-120"/>
              </a:rPr>
              <a:t>Book 30 minutes with IT lead. Share this plan. Get a start date.</a:t>
            </a:r>
            <a:endParaRPr lang="en-US" sz="980" dirty="0"/>
          </a:p>
        </p:txBody>
      </p:sp>
      <p:sp>
        <p:nvSpPr>
          <p:cNvPr id="33" name="Shape 31"/>
          <p:cNvSpPr/>
          <p:nvPr/>
        </p:nvSpPr>
        <p:spPr>
          <a:xfrm>
            <a:off x="347472" y="4956048"/>
            <a:ext cx="8412480" cy="274320"/>
          </a:xfrm>
          <a:prstGeom prst="rect">
            <a:avLst/>
          </a:prstGeom>
          <a:solidFill>
            <a:srgbClr val="F0EAF8"/>
          </a:solidFill>
          <a:ln/>
        </p:spPr>
      </p:sp>
      <p:sp>
        <p:nvSpPr>
          <p:cNvPr id="34" name="Text 32"/>
          <p:cNvSpPr/>
          <p:nvPr/>
        </p:nvSpPr>
        <p:spPr>
          <a:xfrm>
            <a:off x="502920" y="4956048"/>
            <a:ext cx="8229600" cy="274320"/>
          </a:xfrm>
          <a:prstGeom prst="rect">
            <a:avLst/>
          </a:prstGeom>
          <a:noFill/>
          <a:ln/>
        </p:spPr>
        <p:txBody>
          <a:bodyPr wrap="square" rtlCol="0" anchor="ctr"/>
          <a:lstStyle/>
          <a:p>
            <a:pPr marL="0" indent="0">
              <a:buNone/>
            </a:pPr>
            <a:r>
              <a:rPr lang="en-US" sz="1000" dirty="0">
                <a:solidFill>
                  <a:srgbClr val="7B4F9E"/>
                </a:solidFill>
                <a:latin typeface="Calibri" pitchFamily="34" charset="0"/>
                <a:ea typeface="Calibri" pitchFamily="34" charset="-122"/>
                <a:cs typeface="Calibri" pitchFamily="34" charset="-120"/>
              </a:rPr>
              <a:t>This is what the P in DEEPER produces. </a:t>
            </a:r>
            <a:r>
              <a:rPr lang="en-US" sz="1000" b="1" dirty="0">
                <a:solidFill>
                  <a:srgbClr val="0D1B2A"/>
                </a:solidFill>
                <a:latin typeface="Calibri" pitchFamily="34" charset="0"/>
                <a:ea typeface="Calibri" pitchFamily="34" charset="-122"/>
                <a:cs typeface="Calibri" pitchFamily="34" charset="-120"/>
              </a:rPr>
              <a:t>A plan you can hand to someone on Monday.</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A7A9E"/>
          </a:solidFill>
          <a:ln w="12700">
            <a:solidFill>
              <a:srgbClr val="1A7A9E"/>
            </a:solidFill>
            <a:prstDash val="solid"/>
          </a:ln>
        </p:spPr>
      </p:sp>
      <p:sp>
        <p:nvSpPr>
          <p:cNvPr id="3" name="Text 1"/>
          <p:cNvSpPr/>
          <p:nvPr/>
        </p:nvSpPr>
        <p:spPr>
          <a:xfrm>
            <a:off x="347472" y="274320"/>
            <a:ext cx="8412480" cy="502920"/>
          </a:xfrm>
          <a:prstGeom prst="rect">
            <a:avLst/>
          </a:prstGeom>
          <a:noFill/>
          <a:ln/>
        </p:spPr>
        <p:txBody>
          <a:bodyPr wrap="square"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EXECUTE. THEN REFINE.</a:t>
            </a:r>
            <a:endParaRPr lang="en-US" sz="2800" dirty="0"/>
          </a:p>
        </p:txBody>
      </p:sp>
      <p:sp>
        <p:nvSpPr>
          <p:cNvPr id="4" name="Text 2"/>
          <p:cNvSpPr/>
          <p:nvPr/>
        </p:nvSpPr>
        <p:spPr>
          <a:xfrm>
            <a:off x="347472" y="777240"/>
            <a:ext cx="8412480" cy="274320"/>
          </a:xfrm>
          <a:prstGeom prst="rect">
            <a:avLst/>
          </a:prstGeom>
          <a:noFill/>
          <a:ln/>
        </p:spPr>
        <p:txBody>
          <a:bodyPr wrap="square" rtlCol="0" anchor="ctr"/>
          <a:lstStyle/>
          <a:p>
            <a:pPr marL="0" indent="0">
              <a:buNone/>
            </a:pPr>
            <a:r>
              <a:rPr lang="en-US" sz="1200" i="1" dirty="0">
                <a:solidFill>
                  <a:srgbClr val="AECBDC"/>
                </a:solidFill>
                <a:latin typeface="Calibri" pitchFamily="34" charset="0"/>
                <a:ea typeface="Calibri" pitchFamily="34" charset="-122"/>
                <a:cs typeface="Calibri" pitchFamily="34" charset="-120"/>
              </a:rPr>
              <a:t>One more AI session to build it. Then the loop starts again — deeper each time.</a:t>
            </a:r>
            <a:endParaRPr lang="en-US" sz="1200" dirty="0"/>
          </a:p>
        </p:txBody>
      </p:sp>
      <p:sp>
        <p:nvSpPr>
          <p:cNvPr id="5" name="Shape 3"/>
          <p:cNvSpPr/>
          <p:nvPr/>
        </p:nvSpPr>
        <p:spPr>
          <a:xfrm>
            <a:off x="347472" y="1143000"/>
            <a:ext cx="4069080" cy="2606040"/>
          </a:xfrm>
          <a:prstGeom prst="rect">
            <a:avLst/>
          </a:prstGeom>
          <a:solidFill>
            <a:srgbClr val="1E2D3D"/>
          </a:solidFill>
          <a:ln/>
          <a:effectLst>
            <a:outerShdw blurRad="76200" dist="25400" dir="8100000" algn="bl" rotWithShape="0">
              <a:srgbClr val="000000">
                <a:alpha val="15000"/>
              </a:srgbClr>
            </a:outerShdw>
          </a:effectLst>
        </p:spPr>
      </p:sp>
      <p:sp>
        <p:nvSpPr>
          <p:cNvPr id="6" name="Shape 4"/>
          <p:cNvSpPr/>
          <p:nvPr/>
        </p:nvSpPr>
        <p:spPr>
          <a:xfrm>
            <a:off x="347472" y="1143000"/>
            <a:ext cx="4069080" cy="411480"/>
          </a:xfrm>
          <a:prstGeom prst="rect">
            <a:avLst/>
          </a:prstGeom>
          <a:solidFill>
            <a:srgbClr val="1A6B8A"/>
          </a:solidFill>
          <a:ln/>
        </p:spPr>
      </p:sp>
      <p:sp>
        <p:nvSpPr>
          <p:cNvPr id="7" name="Text 5"/>
          <p:cNvSpPr/>
          <p:nvPr/>
        </p:nvSpPr>
        <p:spPr>
          <a:xfrm>
            <a:off x="475488" y="1161288"/>
            <a:ext cx="2286000" cy="365760"/>
          </a:xfrm>
          <a:prstGeom prst="rect">
            <a:avLst/>
          </a:prstGeom>
          <a:noFill/>
          <a:ln/>
        </p:spPr>
        <p:txBody>
          <a:bodyPr wrap="square" rtlCol="0" anchor="ctr"/>
          <a:lstStyle/>
          <a:p>
            <a:pPr marL="0" indent="0">
              <a:buNone/>
            </a:pPr>
            <a:r>
              <a:rPr lang="en-US" sz="1600" b="1" dirty="0">
                <a:solidFill>
                  <a:srgbClr val="FFFFFF"/>
                </a:solidFill>
                <a:latin typeface="Arial Black" pitchFamily="34" charset="0"/>
                <a:ea typeface="Arial Black" pitchFamily="34" charset="-122"/>
                <a:cs typeface="Arial Black" pitchFamily="34" charset="-120"/>
              </a:rPr>
              <a:t>E</a:t>
            </a:r>
            <a:r>
              <a:rPr lang="en-US" sz="1000" dirty="0">
                <a:solidFill>
                  <a:srgbClr val="CBD5E0"/>
                </a:solidFill>
                <a:latin typeface="Arial Black" pitchFamily="34" charset="0"/>
                <a:ea typeface="Arial Black" pitchFamily="34" charset="-122"/>
                <a:cs typeface="Arial Black" pitchFamily="34" charset="-120"/>
              </a:rPr>
              <a:t>XECUTE</a:t>
            </a:r>
            <a:endParaRPr lang="en-US" sz="1600" dirty="0"/>
          </a:p>
        </p:txBody>
      </p:sp>
      <p:sp>
        <p:nvSpPr>
          <p:cNvPr id="8" name="Shape 6"/>
          <p:cNvSpPr/>
          <p:nvPr/>
        </p:nvSpPr>
        <p:spPr>
          <a:xfrm>
            <a:off x="475488" y="1737360"/>
            <a:ext cx="201168" cy="201168"/>
          </a:xfrm>
          <a:prstGeom prst="rect">
            <a:avLst/>
          </a:prstGeom>
          <a:solidFill>
            <a:srgbClr val="1A6B8A"/>
          </a:solidFill>
          <a:ln/>
        </p:spPr>
      </p:sp>
      <p:sp>
        <p:nvSpPr>
          <p:cNvPr id="9" name="Text 7"/>
          <p:cNvSpPr/>
          <p:nvPr/>
        </p:nvSpPr>
        <p:spPr>
          <a:xfrm>
            <a:off x="475488" y="1737360"/>
            <a:ext cx="201168" cy="201168"/>
          </a:xfrm>
          <a:prstGeom prst="rect">
            <a:avLst/>
          </a:prstGeom>
          <a:noFill/>
          <a:ln/>
        </p:spPr>
        <p:txBody>
          <a:bodyPr wrap="square" rtlCol="0" anchor="ctr"/>
          <a:lstStyle/>
          <a:p>
            <a:pPr marL="0" indent="0" algn="ctr">
              <a:buNone/>
            </a:pPr>
            <a:r>
              <a:rPr lang="en-US" sz="900" b="1" dirty="0">
                <a:solidFill>
                  <a:srgbClr val="FFFFFF"/>
                </a:solidFill>
              </a:rPr>
              <a:t>✓</a:t>
            </a:r>
            <a:endParaRPr lang="en-US" sz="900" dirty="0"/>
          </a:p>
        </p:txBody>
      </p:sp>
      <p:sp>
        <p:nvSpPr>
          <p:cNvPr id="10" name="Text 8"/>
          <p:cNvSpPr/>
          <p:nvPr/>
        </p:nvSpPr>
        <p:spPr>
          <a:xfrm>
            <a:off x="749808" y="1645920"/>
            <a:ext cx="3547872" cy="548640"/>
          </a:xfrm>
          <a:prstGeom prst="rect">
            <a:avLst/>
          </a:prstGeom>
          <a:noFill/>
          <a:ln/>
        </p:spPr>
        <p:txBody>
          <a:bodyPr wrap="square" rtlCol="0" anchor="ctr"/>
          <a:lstStyle/>
          <a:p>
            <a:pPr marL="0" indent="0">
              <a:buNone/>
            </a:pPr>
            <a:r>
              <a:rPr lang="en-US" sz="1050" dirty="0">
                <a:solidFill>
                  <a:srgbClr val="CBD5E0"/>
                </a:solidFill>
                <a:latin typeface="Calibri" pitchFamily="34" charset="0"/>
                <a:ea typeface="Calibri" pitchFamily="34" charset="-122"/>
                <a:cs typeface="Calibri" pitchFamily="34" charset="-120"/>
              </a:rPr>
              <a:t>One more AI session on Thursday to build the sign-in integration.</a:t>
            </a:r>
            <a:endParaRPr lang="en-US" sz="1050" dirty="0"/>
          </a:p>
        </p:txBody>
      </p:sp>
      <p:sp>
        <p:nvSpPr>
          <p:cNvPr id="11" name="Shape 9"/>
          <p:cNvSpPr/>
          <p:nvPr/>
        </p:nvSpPr>
        <p:spPr>
          <a:xfrm>
            <a:off x="475488" y="2395728"/>
            <a:ext cx="201168" cy="201168"/>
          </a:xfrm>
          <a:prstGeom prst="rect">
            <a:avLst/>
          </a:prstGeom>
          <a:solidFill>
            <a:srgbClr val="1A6B8A"/>
          </a:solidFill>
          <a:ln/>
        </p:spPr>
      </p:sp>
      <p:sp>
        <p:nvSpPr>
          <p:cNvPr id="12" name="Text 10"/>
          <p:cNvSpPr/>
          <p:nvPr/>
        </p:nvSpPr>
        <p:spPr>
          <a:xfrm>
            <a:off x="475488" y="2395728"/>
            <a:ext cx="201168" cy="201168"/>
          </a:xfrm>
          <a:prstGeom prst="rect">
            <a:avLst/>
          </a:prstGeom>
          <a:noFill/>
          <a:ln/>
        </p:spPr>
        <p:txBody>
          <a:bodyPr wrap="square" rtlCol="0" anchor="ctr"/>
          <a:lstStyle/>
          <a:p>
            <a:pPr marL="0" indent="0" algn="ctr">
              <a:buNone/>
            </a:pPr>
            <a:r>
              <a:rPr lang="en-US" sz="900" b="1" dirty="0">
                <a:solidFill>
                  <a:srgbClr val="FFFFFF"/>
                </a:solidFill>
              </a:rPr>
              <a:t>✓</a:t>
            </a:r>
            <a:endParaRPr lang="en-US" sz="900" dirty="0"/>
          </a:p>
        </p:txBody>
      </p:sp>
      <p:sp>
        <p:nvSpPr>
          <p:cNvPr id="13" name="Text 11"/>
          <p:cNvSpPr/>
          <p:nvPr/>
        </p:nvSpPr>
        <p:spPr>
          <a:xfrm>
            <a:off x="749808" y="2304288"/>
            <a:ext cx="3547872" cy="548640"/>
          </a:xfrm>
          <a:prstGeom prst="rect">
            <a:avLst/>
          </a:prstGeom>
          <a:noFill/>
          <a:ln/>
        </p:spPr>
        <p:txBody>
          <a:bodyPr wrap="square" rtlCol="0" anchor="ctr"/>
          <a:lstStyle/>
          <a:p>
            <a:pPr marL="0" indent="0">
              <a:buNone/>
            </a:pPr>
            <a:r>
              <a:rPr lang="en-US" sz="1050" dirty="0">
                <a:solidFill>
                  <a:srgbClr val="CBD5E0"/>
                </a:solidFill>
                <a:latin typeface="Calibri" pitchFamily="34" charset="0"/>
                <a:ea typeface="Calibri" pitchFamily="34" charset="-122"/>
                <a:cs typeface="Calibri" pitchFamily="34" charset="-120"/>
              </a:rPr>
              <a:t>Tested with 3 subcontractors before full rollout.</a:t>
            </a:r>
            <a:endParaRPr lang="en-US" sz="1050" dirty="0"/>
          </a:p>
        </p:txBody>
      </p:sp>
      <p:sp>
        <p:nvSpPr>
          <p:cNvPr id="14" name="Shape 12"/>
          <p:cNvSpPr/>
          <p:nvPr/>
        </p:nvSpPr>
        <p:spPr>
          <a:xfrm>
            <a:off x="475488" y="3054096"/>
            <a:ext cx="201168" cy="201168"/>
          </a:xfrm>
          <a:prstGeom prst="rect">
            <a:avLst/>
          </a:prstGeom>
          <a:solidFill>
            <a:srgbClr val="1A6B8A"/>
          </a:solidFill>
          <a:ln/>
        </p:spPr>
      </p:sp>
      <p:sp>
        <p:nvSpPr>
          <p:cNvPr id="15" name="Text 13"/>
          <p:cNvSpPr/>
          <p:nvPr/>
        </p:nvSpPr>
        <p:spPr>
          <a:xfrm>
            <a:off x="475488" y="3054096"/>
            <a:ext cx="201168" cy="201168"/>
          </a:xfrm>
          <a:prstGeom prst="rect">
            <a:avLst/>
          </a:prstGeom>
          <a:noFill/>
          <a:ln/>
        </p:spPr>
        <p:txBody>
          <a:bodyPr wrap="square" rtlCol="0" anchor="ctr"/>
          <a:lstStyle/>
          <a:p>
            <a:pPr marL="0" indent="0" algn="ctr">
              <a:buNone/>
            </a:pPr>
            <a:r>
              <a:rPr lang="en-US" sz="900" b="1" dirty="0">
                <a:solidFill>
                  <a:srgbClr val="FFFFFF"/>
                </a:solidFill>
              </a:rPr>
              <a:t>✓</a:t>
            </a:r>
            <a:endParaRPr lang="en-US" sz="900" dirty="0"/>
          </a:p>
        </p:txBody>
      </p:sp>
      <p:sp>
        <p:nvSpPr>
          <p:cNvPr id="16" name="Text 14"/>
          <p:cNvSpPr/>
          <p:nvPr/>
        </p:nvSpPr>
        <p:spPr>
          <a:xfrm>
            <a:off x="749808" y="2962656"/>
            <a:ext cx="3547872" cy="548640"/>
          </a:xfrm>
          <a:prstGeom prst="rect">
            <a:avLst/>
          </a:prstGeom>
          <a:noFill/>
          <a:ln/>
        </p:spPr>
        <p:txBody>
          <a:bodyPr wrap="square" rtlCol="0" anchor="ctr"/>
          <a:lstStyle/>
          <a:p>
            <a:pPr marL="0" indent="0">
              <a:buNone/>
            </a:pPr>
            <a:r>
              <a:rPr lang="en-US" sz="1050" dirty="0">
                <a:solidFill>
                  <a:srgbClr val="CBD5E0"/>
                </a:solidFill>
                <a:latin typeface="Calibri" pitchFamily="34" charset="0"/>
                <a:ea typeface="Calibri" pitchFamily="34" charset="-122"/>
                <a:cs typeface="Calibri" pitchFamily="34" charset="-120"/>
              </a:rPr>
              <a:t>Running by Monday morning.</a:t>
            </a:r>
            <a:endParaRPr lang="en-US" sz="1050" dirty="0"/>
          </a:p>
        </p:txBody>
      </p:sp>
      <p:sp>
        <p:nvSpPr>
          <p:cNvPr id="17" name="Shape 15"/>
          <p:cNvSpPr/>
          <p:nvPr/>
        </p:nvSpPr>
        <p:spPr>
          <a:xfrm>
            <a:off x="4709160" y="1143000"/>
            <a:ext cx="4069080" cy="2606040"/>
          </a:xfrm>
          <a:prstGeom prst="rect">
            <a:avLst/>
          </a:prstGeom>
          <a:solidFill>
            <a:srgbClr val="1E2D3D"/>
          </a:solidFill>
          <a:ln/>
          <a:effectLst>
            <a:outerShdw blurRad="76200" dist="25400" dir="8100000" algn="bl" rotWithShape="0">
              <a:srgbClr val="000000">
                <a:alpha val="15000"/>
              </a:srgbClr>
            </a:outerShdw>
          </a:effectLst>
        </p:spPr>
      </p:sp>
      <p:sp>
        <p:nvSpPr>
          <p:cNvPr id="18" name="Shape 16"/>
          <p:cNvSpPr/>
          <p:nvPr/>
        </p:nvSpPr>
        <p:spPr>
          <a:xfrm>
            <a:off x="4709160" y="1143000"/>
            <a:ext cx="4069080" cy="411480"/>
          </a:xfrm>
          <a:prstGeom prst="rect">
            <a:avLst/>
          </a:prstGeom>
          <a:solidFill>
            <a:srgbClr val="8B6914"/>
          </a:solidFill>
          <a:ln/>
        </p:spPr>
      </p:sp>
      <p:sp>
        <p:nvSpPr>
          <p:cNvPr id="19" name="Text 17"/>
          <p:cNvSpPr/>
          <p:nvPr/>
        </p:nvSpPr>
        <p:spPr>
          <a:xfrm>
            <a:off x="4828032" y="1161288"/>
            <a:ext cx="2286000" cy="365760"/>
          </a:xfrm>
          <a:prstGeom prst="rect">
            <a:avLst/>
          </a:prstGeom>
          <a:noFill/>
          <a:ln/>
        </p:spPr>
        <p:txBody>
          <a:bodyPr wrap="square" rtlCol="0" anchor="ctr"/>
          <a:lstStyle/>
          <a:p>
            <a:pPr marL="0" indent="0">
              <a:buNone/>
            </a:pPr>
            <a:r>
              <a:rPr lang="en-US" sz="1600" b="1" dirty="0">
                <a:solidFill>
                  <a:srgbClr val="FFFFFF"/>
                </a:solidFill>
                <a:latin typeface="Arial Black" pitchFamily="34" charset="0"/>
                <a:ea typeface="Arial Black" pitchFamily="34" charset="-122"/>
                <a:cs typeface="Arial Black" pitchFamily="34" charset="-120"/>
              </a:rPr>
              <a:t>R</a:t>
            </a:r>
            <a:r>
              <a:rPr lang="en-US" sz="1000" dirty="0">
                <a:solidFill>
                  <a:srgbClr val="CBD5E0"/>
                </a:solidFill>
                <a:latin typeface="Arial Black" pitchFamily="34" charset="0"/>
                <a:ea typeface="Arial Black" pitchFamily="34" charset="-122"/>
                <a:cs typeface="Arial Black" pitchFamily="34" charset="-120"/>
              </a:rPr>
              <a:t>EFINE</a:t>
            </a:r>
            <a:endParaRPr lang="en-US" sz="1600" dirty="0"/>
          </a:p>
        </p:txBody>
      </p:sp>
      <p:sp>
        <p:nvSpPr>
          <p:cNvPr id="20" name="Shape 18"/>
          <p:cNvSpPr/>
          <p:nvPr/>
        </p:nvSpPr>
        <p:spPr>
          <a:xfrm>
            <a:off x="4828032" y="1645920"/>
            <a:ext cx="640080" cy="237744"/>
          </a:xfrm>
          <a:prstGeom prst="rect">
            <a:avLst/>
          </a:prstGeom>
          <a:solidFill>
            <a:srgbClr val="8B6914"/>
          </a:solidFill>
          <a:ln/>
        </p:spPr>
      </p:sp>
      <p:sp>
        <p:nvSpPr>
          <p:cNvPr id="21" name="Text 19"/>
          <p:cNvSpPr/>
          <p:nvPr/>
        </p:nvSpPr>
        <p:spPr>
          <a:xfrm>
            <a:off x="4828032" y="1645920"/>
            <a:ext cx="640080" cy="237744"/>
          </a:xfrm>
          <a:prstGeom prst="rect">
            <a:avLst/>
          </a:prstGeom>
          <a:noFill/>
          <a:ln/>
        </p:spPr>
        <p:txBody>
          <a:bodyPr wrap="square" rtlCol="0" anchor="ctr"/>
          <a:lstStyle/>
          <a:p>
            <a:pPr marL="0" indent="0" algn="ctr">
              <a:buNone/>
            </a:pPr>
            <a:r>
              <a:rPr lang="en-US" sz="750" b="1" dirty="0">
                <a:solidFill>
                  <a:srgbClr val="FFFFFF"/>
                </a:solidFill>
              </a:rPr>
              <a:t>Month 1</a:t>
            </a:r>
            <a:endParaRPr lang="en-US" sz="750" dirty="0"/>
          </a:p>
        </p:txBody>
      </p:sp>
      <p:sp>
        <p:nvSpPr>
          <p:cNvPr id="22" name="Text 20"/>
          <p:cNvSpPr/>
          <p:nvPr/>
        </p:nvSpPr>
        <p:spPr>
          <a:xfrm>
            <a:off x="5559552" y="1627632"/>
            <a:ext cx="3127248" cy="777240"/>
          </a:xfrm>
          <a:prstGeom prst="rect">
            <a:avLst/>
          </a:prstGeom>
          <a:noFill/>
          <a:ln/>
        </p:spPr>
        <p:txBody>
          <a:bodyPr wrap="square" rtlCol="0" anchor="ctr"/>
          <a:lstStyle/>
          <a:p>
            <a:pPr marL="0" indent="0">
              <a:buNone/>
            </a:pPr>
            <a:r>
              <a:rPr lang="en-US" sz="1000" dirty="0">
                <a:solidFill>
                  <a:srgbClr val="CBD5E0"/>
                </a:solidFill>
                <a:latin typeface="Calibri" pitchFamily="34" charset="0"/>
                <a:ea typeface="Calibri" pitchFamily="34" charset="-122"/>
                <a:cs typeface="Calibri" pitchFamily="34" charset="-120"/>
              </a:rPr>
              <a:t>Sarah creates an AI Project — subcontractor rules, certificate types, her voice.</a:t>
            </a:r>
            <a:endParaRPr lang="en-US" sz="1000" dirty="0"/>
          </a:p>
        </p:txBody>
      </p:sp>
      <p:sp>
        <p:nvSpPr>
          <p:cNvPr id="23" name="Shape 21"/>
          <p:cNvSpPr/>
          <p:nvPr/>
        </p:nvSpPr>
        <p:spPr>
          <a:xfrm>
            <a:off x="4828032" y="2724912"/>
            <a:ext cx="640080" cy="237744"/>
          </a:xfrm>
          <a:prstGeom prst="rect">
            <a:avLst/>
          </a:prstGeom>
          <a:solidFill>
            <a:srgbClr val="8B6914"/>
          </a:solidFill>
          <a:ln/>
        </p:spPr>
      </p:sp>
      <p:sp>
        <p:nvSpPr>
          <p:cNvPr id="24" name="Text 22"/>
          <p:cNvSpPr/>
          <p:nvPr/>
        </p:nvSpPr>
        <p:spPr>
          <a:xfrm>
            <a:off x="4828032" y="2724912"/>
            <a:ext cx="640080" cy="237744"/>
          </a:xfrm>
          <a:prstGeom prst="rect">
            <a:avLst/>
          </a:prstGeom>
          <a:noFill/>
          <a:ln/>
        </p:spPr>
        <p:txBody>
          <a:bodyPr wrap="square" rtlCol="0" anchor="ctr"/>
          <a:lstStyle/>
          <a:p>
            <a:pPr marL="0" indent="0" algn="ctr">
              <a:buNone/>
            </a:pPr>
            <a:r>
              <a:rPr lang="en-US" sz="750" b="1" dirty="0">
                <a:solidFill>
                  <a:srgbClr val="FFFFFF"/>
                </a:solidFill>
              </a:rPr>
              <a:t>Month 3</a:t>
            </a:r>
            <a:endParaRPr lang="en-US" sz="750" dirty="0"/>
          </a:p>
        </p:txBody>
      </p:sp>
      <p:sp>
        <p:nvSpPr>
          <p:cNvPr id="25" name="Text 23"/>
          <p:cNvSpPr/>
          <p:nvPr/>
        </p:nvSpPr>
        <p:spPr>
          <a:xfrm>
            <a:off x="5559552" y="2706624"/>
            <a:ext cx="3127248" cy="777240"/>
          </a:xfrm>
          <a:prstGeom prst="rect">
            <a:avLst/>
          </a:prstGeom>
          <a:noFill/>
          <a:ln/>
        </p:spPr>
        <p:txBody>
          <a:bodyPr wrap="square" rtlCol="0" anchor="ctr"/>
          <a:lstStyle/>
          <a:p>
            <a:pPr marL="0" indent="0">
              <a:buNone/>
            </a:pPr>
            <a:r>
              <a:rPr lang="en-US" sz="1000" dirty="0">
                <a:solidFill>
                  <a:srgbClr val="CBD5E0"/>
                </a:solidFill>
                <a:latin typeface="Calibri" pitchFamily="34" charset="0"/>
                <a:ea typeface="Calibri" pitchFamily="34" charset="-122"/>
                <a:cs typeface="Calibri" pitchFamily="34" charset="-120"/>
              </a:rPr>
              <a:t>Her compliance tracker becomes a live web tool. Expiry alerts automated.</a:t>
            </a:r>
            <a:endParaRPr lang="en-US" sz="1000" dirty="0"/>
          </a:p>
        </p:txBody>
      </p:sp>
      <p:sp>
        <p:nvSpPr>
          <p:cNvPr id="26" name="Text 24"/>
          <p:cNvSpPr/>
          <p:nvPr/>
        </p:nvSpPr>
        <p:spPr>
          <a:xfrm>
            <a:off x="4828032" y="3017520"/>
            <a:ext cx="3840480" cy="566928"/>
          </a:xfrm>
          <a:prstGeom prst="rect">
            <a:avLst/>
          </a:prstGeom>
          <a:noFill/>
          <a:ln/>
        </p:spPr>
        <p:txBody>
          <a:bodyPr wrap="square" rtlCol="0" anchor="ctr"/>
          <a:lstStyle/>
          <a:p>
            <a:pPr marL="0" indent="0">
              <a:buNone/>
            </a:pPr>
            <a:r>
              <a:rPr lang="en-US" sz="1000" i="1" dirty="0">
                <a:solidFill>
                  <a:srgbClr val="8B9FA8"/>
                </a:solidFill>
                <a:latin typeface="Calibri" pitchFamily="34" charset="0"/>
                <a:ea typeface="Calibri" pitchFamily="34" charset="-122"/>
                <a:cs typeface="Calibri" pitchFamily="34" charset="-120"/>
              </a:rPr>
              <a:t>Same method. Deeper each time.</a:t>
            </a:r>
            <a:endParaRPr lang="en-US" sz="1000" dirty="0"/>
          </a:p>
        </p:txBody>
      </p:sp>
      <p:sp>
        <p:nvSpPr>
          <p:cNvPr id="27" name="Text 25"/>
          <p:cNvSpPr/>
          <p:nvPr/>
        </p:nvSpPr>
        <p:spPr>
          <a:xfrm>
            <a:off x="4462272" y="2194560"/>
            <a:ext cx="228600" cy="365760"/>
          </a:xfrm>
          <a:prstGeom prst="rect">
            <a:avLst/>
          </a:prstGeom>
          <a:noFill/>
          <a:ln/>
        </p:spPr>
        <p:txBody>
          <a:bodyPr wrap="square" rtlCol="0" anchor="ctr"/>
          <a:lstStyle/>
          <a:p>
            <a:pPr marL="0" indent="0" algn="ctr">
              <a:buNone/>
            </a:pPr>
            <a:r>
              <a:rPr lang="en-US" sz="2000" dirty="0">
                <a:solidFill>
                  <a:srgbClr val="1A7A9E"/>
                </a:solidFill>
              </a:rPr>
              <a:t>→</a:t>
            </a:r>
            <a:endParaRPr lang="en-US" sz="2000" dirty="0"/>
          </a:p>
        </p:txBody>
      </p:sp>
      <p:sp>
        <p:nvSpPr>
          <p:cNvPr id="28" name="Shape 26"/>
          <p:cNvSpPr/>
          <p:nvPr/>
        </p:nvSpPr>
        <p:spPr>
          <a:xfrm>
            <a:off x="347472" y="3858768"/>
            <a:ext cx="8412480" cy="685800"/>
          </a:xfrm>
          <a:prstGeom prst="rect">
            <a:avLst/>
          </a:prstGeom>
          <a:solidFill>
            <a:srgbClr val="0F4C75"/>
          </a:solidFill>
          <a:ln/>
          <a:effectLst>
            <a:outerShdw blurRad="76200" dist="25400" dir="8100000" algn="bl" rotWithShape="0">
              <a:srgbClr val="000000">
                <a:alpha val="15000"/>
              </a:srgbClr>
            </a:outerShdw>
          </a:effectLst>
        </p:spPr>
      </p:sp>
      <p:sp>
        <p:nvSpPr>
          <p:cNvPr id="29" name="Shape 27"/>
          <p:cNvSpPr/>
          <p:nvPr/>
        </p:nvSpPr>
        <p:spPr>
          <a:xfrm>
            <a:off x="347472" y="3858768"/>
            <a:ext cx="73152" cy="685800"/>
          </a:xfrm>
          <a:prstGeom prst="rect">
            <a:avLst/>
          </a:prstGeom>
          <a:solidFill>
            <a:srgbClr val="1A7A9E"/>
          </a:solidFill>
          <a:ln/>
        </p:spPr>
      </p:sp>
      <p:sp>
        <p:nvSpPr>
          <p:cNvPr id="30" name="Text 28"/>
          <p:cNvSpPr/>
          <p:nvPr/>
        </p:nvSpPr>
        <p:spPr>
          <a:xfrm>
            <a:off x="548640" y="3858768"/>
            <a:ext cx="7132320" cy="384048"/>
          </a:xfrm>
          <a:prstGeom prst="rect">
            <a:avLst/>
          </a:prstGeom>
          <a:noFill/>
          <a:ln/>
        </p:spPr>
        <p:txBody>
          <a:bodyPr wrap="square" rtlCol="0" anchor="b"/>
          <a:lstStyle/>
          <a:p>
            <a:pPr marL="0" indent="0">
              <a:buNone/>
            </a:pPr>
            <a:r>
              <a:rPr lang="en-US" sz="1800" b="1" dirty="0">
                <a:solidFill>
                  <a:srgbClr val="FFFFFF"/>
                </a:solidFill>
                <a:latin typeface="Arial Black" pitchFamily="34" charset="0"/>
                <a:ea typeface="Arial Black" pitchFamily="34" charset="-122"/>
                <a:cs typeface="Arial Black" pitchFamily="34" charset="-120"/>
              </a:rPr>
              <a:t>Monday mornings: 2 hours → 20 minutes.</a:t>
            </a:r>
            <a:endParaRPr lang="en-US" sz="1800" dirty="0"/>
          </a:p>
        </p:txBody>
      </p:sp>
      <p:sp>
        <p:nvSpPr>
          <p:cNvPr id="31" name="Text 29"/>
          <p:cNvSpPr/>
          <p:nvPr/>
        </p:nvSpPr>
        <p:spPr>
          <a:xfrm>
            <a:off x="548640" y="4197096"/>
            <a:ext cx="7132320" cy="292608"/>
          </a:xfrm>
          <a:prstGeom prst="rect">
            <a:avLst/>
          </a:prstGeom>
          <a:noFill/>
          <a:ln/>
        </p:spPr>
        <p:txBody>
          <a:bodyPr wrap="square" rtlCol="0" anchor="t"/>
          <a:lstStyle/>
          <a:p>
            <a:pPr marL="0" indent="0">
              <a:buNone/>
            </a:pPr>
            <a:r>
              <a:rPr lang="en-US" sz="1100" dirty="0">
                <a:solidFill>
                  <a:srgbClr val="AECBDC"/>
                </a:solidFill>
                <a:latin typeface="Calibri" pitchFamily="34" charset="0"/>
                <a:ea typeface="Calibri" pitchFamily="34" charset="-122"/>
                <a:cs typeface="Calibri" pitchFamily="34" charset="-120"/>
              </a:rPr>
              <a:t>Three years. Same problem. Fixed in one session.</a:t>
            </a:r>
            <a:endParaRPr lang="en-US" sz="1100" dirty="0"/>
          </a:p>
        </p:txBody>
      </p:sp>
      <p:sp>
        <p:nvSpPr>
          <p:cNvPr id="32" name="Text 30"/>
          <p:cNvSpPr/>
          <p:nvPr/>
        </p:nvSpPr>
        <p:spPr>
          <a:xfrm>
            <a:off x="7452360" y="3858768"/>
            <a:ext cx="1188720" cy="685800"/>
          </a:xfrm>
          <a:prstGeom prst="rect">
            <a:avLst/>
          </a:prstGeom>
          <a:noFill/>
          <a:ln/>
        </p:spPr>
        <p:txBody>
          <a:bodyPr wrap="square" rtlCol="0" anchor="ctr"/>
          <a:lstStyle/>
          <a:p>
            <a:pPr marL="0" indent="0" algn="ctr">
              <a:buNone/>
            </a:pPr>
            <a:r>
              <a:rPr lang="en-US" sz="1200" b="1" dirty="0">
                <a:solidFill>
                  <a:srgbClr val="1A7A9E"/>
                </a:solidFill>
                <a:latin typeface="Calibri" pitchFamily="34" charset="0"/>
                <a:ea typeface="Calibri" pitchFamily="34" charset="-122"/>
                <a:cs typeface="Calibri" pitchFamily="34" charset="-120"/>
              </a:rPr>
              <a:t>Beginner.</a:t>
            </a:r>
            <a:endParaRPr lang="en-US" sz="1200" dirty="0"/>
          </a:p>
        </p:txBody>
      </p:sp>
      <p:sp>
        <p:nvSpPr>
          <p:cNvPr id="33" name="Shape 31"/>
          <p:cNvSpPr/>
          <p:nvPr/>
        </p:nvSpPr>
        <p:spPr>
          <a:xfrm>
            <a:off x="347472" y="4626864"/>
            <a:ext cx="8412480" cy="548640"/>
          </a:xfrm>
          <a:prstGeom prst="rect">
            <a:avLst/>
          </a:prstGeom>
          <a:solidFill>
            <a:srgbClr val="0A1F0A"/>
          </a:solidFill>
          <a:ln w="12700">
            <a:solidFill>
              <a:srgbClr val="2C5F2D"/>
            </a:solidFill>
            <a:prstDash val="solid"/>
          </a:ln>
        </p:spPr>
      </p:sp>
      <p:sp>
        <p:nvSpPr>
          <p:cNvPr id="34" name="Text 32"/>
          <p:cNvSpPr/>
          <p:nvPr/>
        </p:nvSpPr>
        <p:spPr>
          <a:xfrm>
            <a:off x="502920" y="4626864"/>
            <a:ext cx="8321040" cy="548640"/>
          </a:xfrm>
          <a:prstGeom prst="rect">
            <a:avLst/>
          </a:prstGeom>
          <a:noFill/>
          <a:ln/>
        </p:spPr>
        <p:txBody>
          <a:bodyPr wrap="square" rtlCol="0" anchor="ctr"/>
          <a:lstStyle/>
          <a:p>
            <a:pPr marL="0" indent="0" algn="ctr">
              <a:buNone/>
            </a:pPr>
            <a:r>
              <a:rPr lang="en-US" sz="1200" dirty="0">
                <a:solidFill>
                  <a:srgbClr val="AECBDC"/>
                </a:solidFill>
                <a:latin typeface="Calibri" pitchFamily="34" charset="0"/>
                <a:ea typeface="Calibri" pitchFamily="34" charset="-122"/>
                <a:cs typeface="Calibri" pitchFamily="34" charset="-120"/>
              </a:rPr>
              <a:t>The DEEPER framework works on every problem. </a:t>
            </a:r>
            <a:r>
              <a:rPr lang="en-US" sz="1200" b="1" dirty="0">
                <a:solidFill>
                  <a:srgbClr val="FFFFFF"/>
                </a:solidFill>
                <a:latin typeface="Calibri" pitchFamily="34" charset="0"/>
                <a:ea typeface="Calibri" pitchFamily="34" charset="-122"/>
                <a:cs typeface="Calibri" pitchFamily="34" charset="-120"/>
              </a:rPr>
              <a:t>The only question is what you go deeper on next.</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7A9E"/>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1B2A"/>
          </a:solidFill>
          <a:ln w="12700">
            <a:solidFill>
              <a:srgbClr val="0D1B2A"/>
            </a:solidFill>
            <a:prstDash val="solid"/>
          </a:ln>
        </p:spPr>
      </p:sp>
      <p:sp>
        <p:nvSpPr>
          <p:cNvPr id="3" name="Text 1"/>
          <p:cNvSpPr/>
          <p:nvPr/>
        </p:nvSpPr>
        <p:spPr>
          <a:xfrm>
            <a:off x="347472" y="594360"/>
            <a:ext cx="8412480" cy="1371600"/>
          </a:xfrm>
          <a:prstGeom prst="rect">
            <a:avLst/>
          </a:prstGeom>
          <a:noFill/>
          <a:ln/>
        </p:spPr>
        <p:txBody>
          <a:bodyPr wrap="square" rtlCol="0" anchor="ctr"/>
          <a:lstStyle/>
          <a:p>
            <a:pPr marL="0" indent="0">
              <a:buNone/>
            </a:pPr>
            <a:r>
              <a:rPr lang="en-US" sz="3400" b="1" dirty="0">
                <a:solidFill>
                  <a:srgbClr val="FFFFFF"/>
                </a:solidFill>
                <a:latin typeface="Arial Black" pitchFamily="34" charset="0"/>
                <a:ea typeface="Arial Black" pitchFamily="34" charset="-122"/>
                <a:cs typeface="Arial Black" pitchFamily="34" charset="-120"/>
              </a:rPr>
              <a:t>WHAT'S YOUR VERSION OF</a:t>
            </a:r>
            <a:endParaRPr lang="en-US" sz="3400" dirty="0"/>
          </a:p>
          <a:p>
            <a:pPr marL="0" indent="0">
              <a:buNone/>
            </a:pPr>
            <a:r>
              <a:rPr lang="en-US" sz="3400" b="1" dirty="0">
                <a:solidFill>
                  <a:srgbClr val="FFFFFF"/>
                </a:solidFill>
                <a:latin typeface="Arial Black" pitchFamily="34" charset="0"/>
                <a:ea typeface="Arial Black" pitchFamily="34" charset="-122"/>
                <a:cs typeface="Arial Black" pitchFamily="34" charset="-120"/>
              </a:rPr>
              <a:t>SARAH'S MONDAY MORNING?</a:t>
            </a:r>
            <a:endParaRPr lang="en-US" sz="3400" dirty="0"/>
          </a:p>
        </p:txBody>
      </p:sp>
      <p:sp>
        <p:nvSpPr>
          <p:cNvPr id="4" name="Text 2"/>
          <p:cNvSpPr/>
          <p:nvPr/>
        </p:nvSpPr>
        <p:spPr>
          <a:xfrm>
            <a:off x="347472" y="2011680"/>
            <a:ext cx="8412480" cy="411480"/>
          </a:xfrm>
          <a:prstGeom prst="rect">
            <a:avLst/>
          </a:prstGeom>
          <a:noFill/>
          <a:ln/>
        </p:spPr>
        <p:txBody>
          <a:bodyPr wrap="square" rtlCol="0" anchor="ctr"/>
          <a:lstStyle/>
          <a:p>
            <a:pPr marL="0" indent="0">
              <a:buNone/>
            </a:pPr>
            <a:r>
              <a:rPr lang="en-US" sz="1500" i="1" dirty="0">
                <a:solidFill>
                  <a:srgbClr val="FFFFFF"/>
                </a:solidFill>
                <a:latin typeface="Calibri" pitchFamily="34" charset="0"/>
                <a:ea typeface="Calibri" pitchFamily="34" charset="-122"/>
                <a:cs typeface="Calibri" pitchFamily="34" charset="-120"/>
              </a:rPr>
              <a:t>Pick one thing. Real. Specific. Yours.</a:t>
            </a:r>
            <a:endParaRPr lang="en-US" sz="1500" dirty="0"/>
          </a:p>
        </p:txBody>
      </p:sp>
      <p:pic>
        <p:nvPicPr>
          <p:cNvPr id="5" name="Image 0" descr="preencoded.png"/>
          <p:cNvPicPr>
            <a:picLocks noChangeAspect="1"/>
          </p:cNvPicPr>
          <p:nvPr/>
        </p:nvPicPr>
        <p:blipFill>
          <a:blip r:embed="rId3"/>
          <a:stretch>
            <a:fillRect/>
          </a:stretch>
        </p:blipFill>
        <p:spPr>
          <a:xfrm>
            <a:off x="457200" y="2633472"/>
            <a:ext cx="292608" cy="292608"/>
          </a:xfrm>
          <a:prstGeom prst="rect">
            <a:avLst/>
          </a:prstGeom>
        </p:spPr>
      </p:pic>
      <p:sp>
        <p:nvSpPr>
          <p:cNvPr id="6" name="Text 3"/>
          <p:cNvSpPr/>
          <p:nvPr/>
        </p:nvSpPr>
        <p:spPr>
          <a:xfrm>
            <a:off x="868680" y="2578608"/>
            <a:ext cx="7863840" cy="402336"/>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Takes too long</a:t>
            </a:r>
            <a:endParaRPr lang="en-US" sz="1400" dirty="0"/>
          </a:p>
        </p:txBody>
      </p:sp>
      <p:pic>
        <p:nvPicPr>
          <p:cNvPr id="7" name="Image 1" descr="preencoded.png"/>
          <p:cNvPicPr>
            <a:picLocks noChangeAspect="1"/>
          </p:cNvPicPr>
          <p:nvPr/>
        </p:nvPicPr>
        <p:blipFill>
          <a:blip r:embed="rId3"/>
          <a:stretch>
            <a:fillRect/>
          </a:stretch>
        </p:blipFill>
        <p:spPr>
          <a:xfrm>
            <a:off x="457200" y="3090672"/>
            <a:ext cx="292608" cy="292608"/>
          </a:xfrm>
          <a:prstGeom prst="rect">
            <a:avLst/>
          </a:prstGeom>
        </p:spPr>
      </p:pic>
      <p:sp>
        <p:nvSpPr>
          <p:cNvPr id="8" name="Text 4"/>
          <p:cNvSpPr/>
          <p:nvPr/>
        </p:nvSpPr>
        <p:spPr>
          <a:xfrm>
            <a:off x="868680" y="3035808"/>
            <a:ext cx="7863840" cy="402336"/>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Is repetitive</a:t>
            </a:r>
            <a:endParaRPr lang="en-US" sz="1400" dirty="0"/>
          </a:p>
        </p:txBody>
      </p:sp>
      <p:pic>
        <p:nvPicPr>
          <p:cNvPr id="9" name="Image 2" descr="preencoded.png"/>
          <p:cNvPicPr>
            <a:picLocks noChangeAspect="1"/>
          </p:cNvPicPr>
          <p:nvPr/>
        </p:nvPicPr>
        <p:blipFill>
          <a:blip r:embed="rId3"/>
          <a:stretch>
            <a:fillRect/>
          </a:stretch>
        </p:blipFill>
        <p:spPr>
          <a:xfrm>
            <a:off x="457200" y="3547872"/>
            <a:ext cx="292608" cy="292608"/>
          </a:xfrm>
          <a:prstGeom prst="rect">
            <a:avLst/>
          </a:prstGeom>
        </p:spPr>
      </p:pic>
      <p:sp>
        <p:nvSpPr>
          <p:cNvPr id="10" name="Text 5"/>
          <p:cNvSpPr/>
          <p:nvPr/>
        </p:nvSpPr>
        <p:spPr>
          <a:xfrm>
            <a:off x="868680" y="3493008"/>
            <a:ext cx="7863840" cy="402336"/>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Frustrates you</a:t>
            </a:r>
            <a:endParaRPr lang="en-US" sz="1400" dirty="0"/>
          </a:p>
        </p:txBody>
      </p:sp>
      <p:pic>
        <p:nvPicPr>
          <p:cNvPr id="11" name="Image 3" descr="preencoded.png"/>
          <p:cNvPicPr>
            <a:picLocks noChangeAspect="1"/>
          </p:cNvPicPr>
          <p:nvPr/>
        </p:nvPicPr>
        <p:blipFill>
          <a:blip r:embed="rId3"/>
          <a:stretch>
            <a:fillRect/>
          </a:stretch>
        </p:blipFill>
        <p:spPr>
          <a:xfrm>
            <a:off x="457200" y="4005072"/>
            <a:ext cx="292608" cy="292608"/>
          </a:xfrm>
          <a:prstGeom prst="rect">
            <a:avLst/>
          </a:prstGeom>
        </p:spPr>
      </p:pic>
      <p:sp>
        <p:nvSpPr>
          <p:cNvPr id="12" name="Text 6"/>
          <p:cNvSpPr/>
          <p:nvPr/>
        </p:nvSpPr>
        <p:spPr>
          <a:xfrm>
            <a:off x="868680" y="3950208"/>
            <a:ext cx="7863840" cy="402336"/>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You suspect could be done better</a:t>
            </a:r>
            <a:endParaRPr lang="en-US" sz="1400" dirty="0"/>
          </a:p>
        </p:txBody>
      </p:sp>
      <p:sp>
        <p:nvSpPr>
          <p:cNvPr id="13" name="Shape 7"/>
          <p:cNvSpPr/>
          <p:nvPr/>
        </p:nvSpPr>
        <p:spPr>
          <a:xfrm>
            <a:off x="347472" y="4480560"/>
            <a:ext cx="8412480" cy="685800"/>
          </a:xfrm>
          <a:prstGeom prst="rect">
            <a:avLst/>
          </a:prstGeom>
          <a:solidFill>
            <a:srgbClr val="0D1B2A"/>
          </a:solidFill>
          <a:ln/>
        </p:spPr>
      </p:sp>
      <p:sp>
        <p:nvSpPr>
          <p:cNvPr id="14" name="Text 8"/>
          <p:cNvSpPr/>
          <p:nvPr/>
        </p:nvSpPr>
        <p:spPr>
          <a:xfrm>
            <a:off x="347472" y="4480560"/>
            <a:ext cx="8412480" cy="685800"/>
          </a:xfrm>
          <a:prstGeom prst="rect">
            <a:avLst/>
          </a:prstGeom>
          <a:noFill/>
          <a:ln/>
        </p:spPr>
        <p:txBody>
          <a:bodyPr wrap="square" rtlCol="0" anchor="ctr"/>
          <a:lstStyle/>
          <a:p>
            <a:pPr marL="0" indent="0" algn="ctr">
              <a:buNone/>
            </a:pPr>
            <a:r>
              <a:rPr lang="en-US" sz="1400" b="1" dirty="0">
                <a:solidFill>
                  <a:srgbClr val="FFFFFF"/>
                </a:solidFill>
              </a:rPr>
              <a:t>Use the starter prompt from S20. Clarity → Curiosity → Challenge.</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2EFE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A7A9E"/>
          </a:solidFill>
          <a:ln w="12700">
            <a:solidFill>
              <a:srgbClr val="1A7A9E"/>
            </a:solidFill>
            <a:prstDash val="solid"/>
          </a:ln>
        </p:spPr>
      </p:sp>
      <p:sp>
        <p:nvSpPr>
          <p:cNvPr id="3" name="Text 1"/>
          <p:cNvSpPr/>
          <p:nvPr/>
        </p:nvSpPr>
        <p:spPr>
          <a:xfrm>
            <a:off x="347472" y="566928"/>
            <a:ext cx="8412480" cy="594360"/>
          </a:xfrm>
          <a:prstGeom prst="rect">
            <a:avLst/>
          </a:prstGeom>
          <a:noFill/>
          <a:ln/>
        </p:spPr>
        <p:txBody>
          <a:bodyPr wrap="square" rtlCol="0" anchor="ctr"/>
          <a:lstStyle/>
          <a:p>
            <a:pPr marL="0" indent="0">
              <a:buNone/>
            </a:pPr>
            <a:r>
              <a:rPr lang="en-US" sz="2800" b="1" dirty="0">
                <a:solidFill>
                  <a:srgbClr val="0D1B2A"/>
                </a:solidFill>
                <a:latin typeface="Arial Black" pitchFamily="34" charset="0"/>
                <a:ea typeface="Arial Black" pitchFamily="34" charset="-122"/>
                <a:cs typeface="Arial Black" pitchFamily="34" charset="-120"/>
              </a:rPr>
              <a:t>WHERE THIS GETS YOU</a:t>
            </a:r>
            <a:endParaRPr lang="en-US" sz="2800" dirty="0"/>
          </a:p>
        </p:txBody>
      </p:sp>
      <p:sp>
        <p:nvSpPr>
          <p:cNvPr id="4" name="Shape 2"/>
          <p:cNvSpPr/>
          <p:nvPr/>
        </p:nvSpPr>
        <p:spPr>
          <a:xfrm>
            <a:off x="347472" y="1371600"/>
            <a:ext cx="8412480" cy="1060704"/>
          </a:xfrm>
          <a:prstGeom prst="rect">
            <a:avLst/>
          </a:prstGeom>
          <a:solidFill>
            <a:srgbClr val="FFFFFF"/>
          </a:solidFill>
          <a:ln/>
          <a:effectLst>
            <a:outerShdw blurRad="76200" dist="25400" dir="8100000" algn="bl" rotWithShape="0">
              <a:srgbClr val="000000">
                <a:alpha val="15000"/>
              </a:srgbClr>
            </a:outerShdw>
          </a:effectLst>
        </p:spPr>
      </p:sp>
      <p:sp>
        <p:nvSpPr>
          <p:cNvPr id="5" name="Shape 3"/>
          <p:cNvSpPr/>
          <p:nvPr/>
        </p:nvSpPr>
        <p:spPr>
          <a:xfrm>
            <a:off x="347472" y="1371600"/>
            <a:ext cx="1417320" cy="1060704"/>
          </a:xfrm>
          <a:prstGeom prst="rect">
            <a:avLst/>
          </a:prstGeom>
          <a:solidFill>
            <a:srgbClr val="1A7A9E"/>
          </a:solidFill>
          <a:ln/>
        </p:spPr>
      </p:sp>
      <p:sp>
        <p:nvSpPr>
          <p:cNvPr id="6" name="Text 4"/>
          <p:cNvSpPr/>
          <p:nvPr/>
        </p:nvSpPr>
        <p:spPr>
          <a:xfrm>
            <a:off x="347472" y="1371600"/>
            <a:ext cx="1417320" cy="1060704"/>
          </a:xfrm>
          <a:prstGeom prst="rect">
            <a:avLst/>
          </a:prstGeom>
          <a:noFill/>
          <a:ln/>
        </p:spPr>
        <p:txBody>
          <a:bodyPr wrap="square"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WEEK 1</a:t>
            </a:r>
            <a:endParaRPr lang="en-US" sz="1400" dirty="0"/>
          </a:p>
        </p:txBody>
      </p:sp>
      <p:sp>
        <p:nvSpPr>
          <p:cNvPr id="7" name="Text 5"/>
          <p:cNvSpPr/>
          <p:nvPr/>
        </p:nvSpPr>
        <p:spPr>
          <a:xfrm>
            <a:off x="1901952" y="1481328"/>
            <a:ext cx="6675120" cy="841248"/>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You change how you prompt. The output quality doubles immediately. One phrase does it.</a:t>
            </a:r>
            <a:endParaRPr lang="en-US" sz="1400" dirty="0"/>
          </a:p>
        </p:txBody>
      </p:sp>
      <p:sp>
        <p:nvSpPr>
          <p:cNvPr id="8" name="Shape 6"/>
          <p:cNvSpPr/>
          <p:nvPr/>
        </p:nvSpPr>
        <p:spPr>
          <a:xfrm>
            <a:off x="347472" y="2542032"/>
            <a:ext cx="8412480" cy="1060704"/>
          </a:xfrm>
          <a:prstGeom prst="rect">
            <a:avLst/>
          </a:prstGeom>
          <a:solidFill>
            <a:srgbClr val="FFFFFF"/>
          </a:solidFill>
          <a:ln/>
          <a:effectLst>
            <a:outerShdw blurRad="76200" dist="25400" dir="8100000" algn="bl" rotWithShape="0">
              <a:srgbClr val="000000">
                <a:alpha val="15000"/>
              </a:srgbClr>
            </a:outerShdw>
          </a:effectLst>
        </p:spPr>
      </p:sp>
      <p:sp>
        <p:nvSpPr>
          <p:cNvPr id="9" name="Shape 7"/>
          <p:cNvSpPr/>
          <p:nvPr/>
        </p:nvSpPr>
        <p:spPr>
          <a:xfrm>
            <a:off x="347472" y="2542032"/>
            <a:ext cx="1417320" cy="1060704"/>
          </a:xfrm>
          <a:prstGeom prst="rect">
            <a:avLst/>
          </a:prstGeom>
          <a:solidFill>
            <a:srgbClr val="D4641A"/>
          </a:solidFill>
          <a:ln/>
        </p:spPr>
      </p:sp>
      <p:sp>
        <p:nvSpPr>
          <p:cNvPr id="10" name="Text 8"/>
          <p:cNvSpPr/>
          <p:nvPr/>
        </p:nvSpPr>
        <p:spPr>
          <a:xfrm>
            <a:off x="347472" y="2542032"/>
            <a:ext cx="1417320" cy="1060704"/>
          </a:xfrm>
          <a:prstGeom prst="rect">
            <a:avLst/>
          </a:prstGeom>
          <a:noFill/>
          <a:ln/>
        </p:spPr>
        <p:txBody>
          <a:bodyPr wrap="square"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MONTH 1</a:t>
            </a:r>
            <a:endParaRPr lang="en-US" sz="1400" dirty="0"/>
          </a:p>
        </p:txBody>
      </p:sp>
      <p:sp>
        <p:nvSpPr>
          <p:cNvPr id="11" name="Text 9"/>
          <p:cNvSpPr/>
          <p:nvPr/>
        </p:nvSpPr>
        <p:spPr>
          <a:xfrm>
            <a:off x="1901952" y="2651760"/>
            <a:ext cx="6675120" cy="841248"/>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You've solved two or three problems that have been sitting on your list. Real tools. Real time saved.</a:t>
            </a:r>
            <a:endParaRPr lang="en-US" sz="1400" dirty="0"/>
          </a:p>
        </p:txBody>
      </p:sp>
      <p:sp>
        <p:nvSpPr>
          <p:cNvPr id="12" name="Shape 10"/>
          <p:cNvSpPr/>
          <p:nvPr/>
        </p:nvSpPr>
        <p:spPr>
          <a:xfrm>
            <a:off x="347472" y="3712464"/>
            <a:ext cx="8412480" cy="1060704"/>
          </a:xfrm>
          <a:prstGeom prst="rect">
            <a:avLst/>
          </a:prstGeom>
          <a:solidFill>
            <a:srgbClr val="FFFFFF"/>
          </a:solidFill>
          <a:ln/>
          <a:effectLst>
            <a:outerShdw blurRad="76200" dist="25400" dir="8100000" algn="bl" rotWithShape="0">
              <a:srgbClr val="000000">
                <a:alpha val="15000"/>
              </a:srgbClr>
            </a:outerShdw>
          </a:effectLst>
        </p:spPr>
      </p:sp>
      <p:sp>
        <p:nvSpPr>
          <p:cNvPr id="13" name="Shape 11"/>
          <p:cNvSpPr/>
          <p:nvPr/>
        </p:nvSpPr>
        <p:spPr>
          <a:xfrm>
            <a:off x="347472" y="3712464"/>
            <a:ext cx="1417320" cy="1060704"/>
          </a:xfrm>
          <a:prstGeom prst="rect">
            <a:avLst/>
          </a:prstGeom>
          <a:solidFill>
            <a:srgbClr val="2C5F2D"/>
          </a:solidFill>
          <a:ln/>
        </p:spPr>
      </p:sp>
      <p:sp>
        <p:nvSpPr>
          <p:cNvPr id="14" name="Text 12"/>
          <p:cNvSpPr/>
          <p:nvPr/>
        </p:nvSpPr>
        <p:spPr>
          <a:xfrm>
            <a:off x="347472" y="3712464"/>
            <a:ext cx="1417320" cy="1060704"/>
          </a:xfrm>
          <a:prstGeom prst="rect">
            <a:avLst/>
          </a:prstGeom>
          <a:noFill/>
          <a:ln/>
        </p:spPr>
        <p:txBody>
          <a:bodyPr wrap="square"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MONTH 3</a:t>
            </a:r>
            <a:endParaRPr lang="en-US" sz="1400" dirty="0"/>
          </a:p>
        </p:txBody>
      </p:sp>
      <p:sp>
        <p:nvSpPr>
          <p:cNvPr id="15" name="Text 13"/>
          <p:cNvSpPr/>
          <p:nvPr/>
        </p:nvSpPr>
        <p:spPr>
          <a:xfrm>
            <a:off x="1901952" y="3822192"/>
            <a:ext cx="6675120" cy="841248"/>
          </a:xfrm>
          <a:prstGeom prst="rect">
            <a:avLst/>
          </a:prstGeom>
          <a:noFill/>
          <a:ln/>
        </p:spPr>
        <p:txBody>
          <a:bodyPr wrap="square" rtlCol="0" anchor="ctr"/>
          <a:lstStyle/>
          <a:p>
            <a:pPr marL="0" indent="0">
              <a:buNone/>
            </a:pPr>
            <a:r>
              <a:rPr lang="en-US" sz="1400" dirty="0">
                <a:solidFill>
                  <a:srgbClr val="0D1B2A"/>
                </a:solidFill>
                <a:latin typeface="Calibri" pitchFamily="34" charset="0"/>
                <a:ea typeface="Calibri" pitchFamily="34" charset="-122"/>
                <a:cs typeface="Calibri" pitchFamily="34" charset="-120"/>
              </a:rPr>
              <a:t>You're building things that used to cost $100k and take six months. In an afternoon.</a:t>
            </a:r>
            <a:endParaRPr lang="en-US" sz="1400" dirty="0"/>
          </a:p>
        </p:txBody>
      </p:sp>
      <p:sp>
        <p:nvSpPr>
          <p:cNvPr id="16" name="Text 14"/>
          <p:cNvSpPr/>
          <p:nvPr/>
        </p:nvSpPr>
        <p:spPr>
          <a:xfrm>
            <a:off x="347472" y="4892040"/>
            <a:ext cx="8412480" cy="274320"/>
          </a:xfrm>
          <a:prstGeom prst="rect">
            <a:avLst/>
          </a:prstGeom>
          <a:noFill/>
          <a:ln/>
        </p:spPr>
        <p:txBody>
          <a:bodyPr wrap="square" rtlCol="0" anchor="ctr"/>
          <a:lstStyle/>
          <a:p>
            <a:pPr marL="0" indent="0" algn="ctr">
              <a:buNone/>
            </a:pPr>
            <a:r>
              <a:rPr lang="en-US" sz="1100" i="1" dirty="0">
                <a:solidFill>
                  <a:srgbClr val="1A7A9E"/>
                </a:solidFill>
                <a:latin typeface="Calibri" pitchFamily="34" charset="0"/>
                <a:ea typeface="Calibri" pitchFamily="34" charset="-122"/>
                <a:cs typeface="Calibri" pitchFamily="34" charset="-120"/>
              </a:rPr>
              <a:t>When you give yourself time to go deep with AI — the results are 10x.</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A7A9E"/>
          </a:solidFill>
          <a:ln w="12700">
            <a:solidFill>
              <a:srgbClr val="1A7A9E"/>
            </a:solidFill>
            <a:prstDash val="solid"/>
          </a:ln>
        </p:spPr>
      </p:sp>
      <p:sp>
        <p:nvSpPr>
          <p:cNvPr id="3" name="Text 1"/>
          <p:cNvSpPr/>
          <p:nvPr/>
        </p:nvSpPr>
        <p:spPr>
          <a:xfrm>
            <a:off x="347472" y="566928"/>
            <a:ext cx="8412480" cy="566928"/>
          </a:xfrm>
          <a:prstGeom prst="rect">
            <a:avLst/>
          </a:prstGeom>
          <a:noFill/>
          <a:ln/>
        </p:spPr>
        <p:txBody>
          <a:bodyPr wrap="square" rtlCol="0" anchor="ctr"/>
          <a:lstStyle/>
          <a:p>
            <a:pPr marL="0" indent="0">
              <a:buNone/>
            </a:pPr>
            <a:r>
              <a:rPr lang="en-US" sz="3000" b="1" dirty="0">
                <a:solidFill>
                  <a:srgbClr val="FFFFFF"/>
                </a:solidFill>
                <a:latin typeface="Arial Black" pitchFamily="34" charset="0"/>
                <a:ea typeface="Arial Black" pitchFamily="34" charset="-122"/>
                <a:cs typeface="Arial Black" pitchFamily="34" charset="-120"/>
              </a:rPr>
              <a:t>THREE LEVELS. ONE METHOD.</a:t>
            </a:r>
            <a:endParaRPr lang="en-US" sz="3000" dirty="0"/>
          </a:p>
        </p:txBody>
      </p:sp>
      <p:sp>
        <p:nvSpPr>
          <p:cNvPr id="4" name="Text 2"/>
          <p:cNvSpPr/>
          <p:nvPr/>
        </p:nvSpPr>
        <p:spPr>
          <a:xfrm>
            <a:off x="347472" y="1115568"/>
            <a:ext cx="8412480" cy="320040"/>
          </a:xfrm>
          <a:prstGeom prst="rect">
            <a:avLst/>
          </a:prstGeom>
          <a:noFill/>
          <a:ln/>
        </p:spPr>
        <p:txBody>
          <a:bodyPr wrap="square" rtlCol="0" anchor="ctr"/>
          <a:lstStyle/>
          <a:p>
            <a:pPr marL="0" indent="0">
              <a:buNone/>
            </a:pPr>
            <a:r>
              <a:rPr lang="en-US" sz="1300" dirty="0">
                <a:solidFill>
                  <a:srgbClr val="AECBDC"/>
                </a:solidFill>
                <a:latin typeface="Calibri" pitchFamily="34" charset="0"/>
                <a:ea typeface="Calibri" pitchFamily="34" charset="-122"/>
                <a:cs typeface="Calibri" pitchFamily="34" charset="-120"/>
              </a:rPr>
              <a:t>The DEEPER framework works at every level. The R — Refine — is what makes the ceiling keep rising.</a:t>
            </a:r>
            <a:endParaRPr lang="en-US" sz="1300" dirty="0"/>
          </a:p>
        </p:txBody>
      </p:sp>
      <p:sp>
        <p:nvSpPr>
          <p:cNvPr id="5" name="Shape 3"/>
          <p:cNvSpPr/>
          <p:nvPr/>
        </p:nvSpPr>
        <p:spPr>
          <a:xfrm>
            <a:off x="347472" y="1572768"/>
            <a:ext cx="2743200" cy="3401568"/>
          </a:xfrm>
          <a:prstGeom prst="rect">
            <a:avLst/>
          </a:prstGeom>
          <a:solidFill>
            <a:srgbClr val="1E2D3D"/>
          </a:solidFill>
          <a:ln/>
          <a:effectLst>
            <a:outerShdw blurRad="76200" dist="25400" dir="8100000" algn="bl" rotWithShape="0">
              <a:srgbClr val="000000">
                <a:alpha val="15000"/>
              </a:srgbClr>
            </a:outerShdw>
          </a:effectLst>
        </p:spPr>
      </p:sp>
      <p:sp>
        <p:nvSpPr>
          <p:cNvPr id="6" name="Shape 4"/>
          <p:cNvSpPr/>
          <p:nvPr/>
        </p:nvSpPr>
        <p:spPr>
          <a:xfrm>
            <a:off x="347472" y="1572768"/>
            <a:ext cx="2743200" cy="438912"/>
          </a:xfrm>
          <a:prstGeom prst="rect">
            <a:avLst/>
          </a:prstGeom>
          <a:solidFill>
            <a:srgbClr val="1A7A9E"/>
          </a:solidFill>
          <a:ln/>
        </p:spPr>
      </p:sp>
      <p:sp>
        <p:nvSpPr>
          <p:cNvPr id="7" name="Text 5"/>
          <p:cNvSpPr/>
          <p:nvPr/>
        </p:nvSpPr>
        <p:spPr>
          <a:xfrm>
            <a:off x="438912" y="1572768"/>
            <a:ext cx="1737360" cy="438912"/>
          </a:xfrm>
          <a:prstGeom prst="rect">
            <a:avLst/>
          </a:prstGeom>
          <a:noFill/>
          <a:ln/>
        </p:spPr>
        <p:txBody>
          <a:bodyPr wrap="square"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BEGINNER</a:t>
            </a:r>
            <a:endParaRPr lang="en-US" sz="1300" dirty="0"/>
          </a:p>
        </p:txBody>
      </p:sp>
      <p:sp>
        <p:nvSpPr>
          <p:cNvPr id="8" name="Shape 6"/>
          <p:cNvSpPr/>
          <p:nvPr/>
        </p:nvSpPr>
        <p:spPr>
          <a:xfrm>
            <a:off x="2194560" y="1664208"/>
            <a:ext cx="822960" cy="256032"/>
          </a:xfrm>
          <a:prstGeom prst="rect">
            <a:avLst/>
          </a:prstGeom>
          <a:solidFill>
            <a:srgbClr val="0D1B2A"/>
          </a:solidFill>
          <a:ln w="12700">
            <a:solidFill>
              <a:srgbClr val="0D1B2A"/>
            </a:solidFill>
            <a:prstDash val="solid"/>
          </a:ln>
        </p:spPr>
      </p:sp>
      <p:sp>
        <p:nvSpPr>
          <p:cNvPr id="9" name="Text 7"/>
          <p:cNvSpPr/>
          <p:nvPr/>
        </p:nvSpPr>
        <p:spPr>
          <a:xfrm>
            <a:off x="2194560" y="1664208"/>
            <a:ext cx="822960" cy="256032"/>
          </a:xfrm>
          <a:prstGeom prst="rect">
            <a:avLst/>
          </a:prstGeom>
          <a:noFill/>
          <a:ln/>
        </p:spPr>
        <p:txBody>
          <a:bodyPr wrap="square" rtlCol="0" anchor="ctr"/>
          <a:lstStyle/>
          <a:p>
            <a:pPr marL="0" indent="0" algn="ctr">
              <a:buNone/>
            </a:pPr>
            <a:r>
              <a:rPr lang="en-US" sz="650" b="1" dirty="0">
                <a:solidFill>
                  <a:srgbClr val="1A7A9E"/>
                </a:solidFill>
              </a:rPr>
              <a:t>START HERE</a:t>
            </a:r>
            <a:endParaRPr lang="en-US" sz="650" dirty="0"/>
          </a:p>
        </p:txBody>
      </p:sp>
      <p:sp>
        <p:nvSpPr>
          <p:cNvPr id="10" name="Text 8"/>
          <p:cNvSpPr/>
          <p:nvPr/>
        </p:nvSpPr>
        <p:spPr>
          <a:xfrm>
            <a:off x="457200" y="2084832"/>
            <a:ext cx="640080" cy="256032"/>
          </a:xfrm>
          <a:prstGeom prst="rect">
            <a:avLst/>
          </a:prstGeom>
          <a:noFill/>
          <a:ln/>
        </p:spPr>
        <p:txBody>
          <a:bodyPr wrap="square" rtlCol="0" anchor="ctr"/>
          <a:lstStyle/>
          <a:p>
            <a:pPr marL="0" indent="0">
              <a:buNone/>
            </a:pPr>
            <a:r>
              <a:rPr lang="en-US" sz="750" b="1" dirty="0">
                <a:solidFill>
                  <a:srgbClr val="1A7A9E"/>
                </a:solidFill>
                <a:latin typeface="Calibri" pitchFamily="34" charset="0"/>
                <a:ea typeface="Calibri" pitchFamily="34" charset="-122"/>
                <a:cs typeface="Calibri" pitchFamily="34" charset="-120"/>
              </a:rPr>
              <a:t>WHO</a:t>
            </a:r>
            <a:endParaRPr lang="en-US" sz="750" dirty="0"/>
          </a:p>
        </p:txBody>
      </p:sp>
      <p:sp>
        <p:nvSpPr>
          <p:cNvPr id="11" name="Text 9"/>
          <p:cNvSpPr/>
          <p:nvPr/>
        </p:nvSpPr>
        <p:spPr>
          <a:xfrm>
            <a:off x="457200" y="2286000"/>
            <a:ext cx="2523744" cy="502920"/>
          </a:xfrm>
          <a:prstGeom prst="rect">
            <a:avLst/>
          </a:prstGeom>
          <a:noFill/>
          <a:ln/>
        </p:spPr>
        <p:txBody>
          <a:bodyPr wrap="square" rtlCol="0" anchor="ctr"/>
          <a:lstStyle/>
          <a:p>
            <a:pPr marL="0" indent="0">
              <a:buNone/>
            </a:pPr>
            <a:r>
              <a:rPr lang="en-US" sz="950" dirty="0">
                <a:solidFill>
                  <a:srgbClr val="CBD5E0"/>
                </a:solidFill>
                <a:latin typeface="Calibri" pitchFamily="34" charset="0"/>
                <a:ea typeface="Calibri" pitchFamily="34" charset="-122"/>
                <a:cs typeface="Calibri" pitchFamily="34" charset="-120"/>
              </a:rPr>
              <a:t>Haven't started, or tried and got mixed results.</a:t>
            </a:r>
            <a:endParaRPr lang="en-US" sz="950" dirty="0"/>
          </a:p>
        </p:txBody>
      </p:sp>
      <p:sp>
        <p:nvSpPr>
          <p:cNvPr id="12" name="Text 10"/>
          <p:cNvSpPr/>
          <p:nvPr/>
        </p:nvSpPr>
        <p:spPr>
          <a:xfrm>
            <a:off x="457200" y="2670048"/>
            <a:ext cx="640080" cy="256032"/>
          </a:xfrm>
          <a:prstGeom prst="rect">
            <a:avLst/>
          </a:prstGeom>
          <a:noFill/>
          <a:ln/>
        </p:spPr>
        <p:txBody>
          <a:bodyPr wrap="square" rtlCol="0" anchor="ctr"/>
          <a:lstStyle/>
          <a:p>
            <a:pPr marL="0" indent="0">
              <a:buNone/>
            </a:pPr>
            <a:r>
              <a:rPr lang="en-US" sz="750" b="1" dirty="0">
                <a:solidFill>
                  <a:srgbClr val="1A7A9E"/>
                </a:solidFill>
                <a:latin typeface="Calibri" pitchFamily="34" charset="0"/>
                <a:ea typeface="Calibri" pitchFamily="34" charset="-122"/>
                <a:cs typeface="Calibri" pitchFamily="34" charset="-120"/>
              </a:rPr>
              <a:t>WHAT</a:t>
            </a:r>
            <a:endParaRPr lang="en-US" sz="750" dirty="0"/>
          </a:p>
        </p:txBody>
      </p:sp>
      <p:sp>
        <p:nvSpPr>
          <p:cNvPr id="13" name="Text 11"/>
          <p:cNvSpPr/>
          <p:nvPr/>
        </p:nvSpPr>
        <p:spPr>
          <a:xfrm>
            <a:off x="457200" y="2871216"/>
            <a:ext cx="2523744" cy="502920"/>
          </a:xfrm>
          <a:prstGeom prst="rect">
            <a:avLst/>
          </a:prstGeom>
          <a:noFill/>
          <a:ln/>
        </p:spPr>
        <p:txBody>
          <a:bodyPr wrap="square" rtlCol="0" anchor="ctr"/>
          <a:lstStyle/>
          <a:p>
            <a:pPr marL="0" indent="0">
              <a:buNone/>
            </a:pPr>
            <a:r>
              <a:rPr lang="en-US" sz="950" dirty="0">
                <a:solidFill>
                  <a:srgbClr val="CBD5E0"/>
                </a:solidFill>
                <a:latin typeface="Calibri" pitchFamily="34" charset="0"/>
                <a:ea typeface="Calibri" pitchFamily="34" charset="-122"/>
                <a:cs typeface="Calibri" pitchFamily="34" charset="-120"/>
              </a:rPr>
              <a:t>One good prompt. One good conversation. A real problem solved.</a:t>
            </a:r>
            <a:endParaRPr lang="en-US" sz="950" dirty="0"/>
          </a:p>
        </p:txBody>
      </p:sp>
      <p:sp>
        <p:nvSpPr>
          <p:cNvPr id="14" name="Text 12"/>
          <p:cNvSpPr/>
          <p:nvPr/>
        </p:nvSpPr>
        <p:spPr>
          <a:xfrm>
            <a:off x="457200" y="3337560"/>
            <a:ext cx="640080" cy="256032"/>
          </a:xfrm>
          <a:prstGeom prst="rect">
            <a:avLst/>
          </a:prstGeom>
          <a:noFill/>
          <a:ln/>
        </p:spPr>
        <p:txBody>
          <a:bodyPr wrap="square" rtlCol="0" anchor="ctr"/>
          <a:lstStyle/>
          <a:p>
            <a:pPr marL="0" indent="0">
              <a:buNone/>
            </a:pPr>
            <a:r>
              <a:rPr lang="en-US" sz="750" b="1" dirty="0">
                <a:solidFill>
                  <a:srgbClr val="1A7A9E"/>
                </a:solidFill>
                <a:latin typeface="Calibri" pitchFamily="34" charset="0"/>
                <a:ea typeface="Calibri" pitchFamily="34" charset="-122"/>
                <a:cs typeface="Calibri" pitchFamily="34" charset="-120"/>
              </a:rPr>
              <a:t>EXAMPLE</a:t>
            </a:r>
            <a:endParaRPr lang="en-US" sz="750" dirty="0"/>
          </a:p>
        </p:txBody>
      </p:sp>
      <p:sp>
        <p:nvSpPr>
          <p:cNvPr id="15" name="Text 13"/>
          <p:cNvSpPr/>
          <p:nvPr/>
        </p:nvSpPr>
        <p:spPr>
          <a:xfrm>
            <a:off x="457200" y="3538728"/>
            <a:ext cx="2523744" cy="502920"/>
          </a:xfrm>
          <a:prstGeom prst="rect">
            <a:avLst/>
          </a:prstGeom>
          <a:noFill/>
          <a:ln/>
        </p:spPr>
        <p:txBody>
          <a:bodyPr wrap="square" rtlCol="0" anchor="ctr"/>
          <a:lstStyle/>
          <a:p>
            <a:pPr marL="0" indent="0">
              <a:buNone/>
            </a:pPr>
            <a:r>
              <a:rPr lang="en-US" sz="950" dirty="0">
                <a:solidFill>
                  <a:srgbClr val="CBD5E0"/>
                </a:solidFill>
                <a:latin typeface="Calibri" pitchFamily="34" charset="0"/>
                <a:ea typeface="Calibri" pitchFamily="34" charset="-122"/>
                <a:cs typeface="Calibri" pitchFamily="34" charset="-120"/>
              </a:rPr>
              <a:t>Sarah: 2 hours of Monday compliance work → 20 minutes.</a:t>
            </a:r>
            <a:endParaRPr lang="en-US" sz="950" dirty="0"/>
          </a:p>
        </p:txBody>
      </p:sp>
      <p:sp>
        <p:nvSpPr>
          <p:cNvPr id="16" name="Text 14"/>
          <p:cNvSpPr/>
          <p:nvPr/>
        </p:nvSpPr>
        <p:spPr>
          <a:xfrm>
            <a:off x="457200" y="4114800"/>
            <a:ext cx="640080" cy="256032"/>
          </a:xfrm>
          <a:prstGeom prst="rect">
            <a:avLst/>
          </a:prstGeom>
          <a:noFill/>
          <a:ln/>
        </p:spPr>
        <p:txBody>
          <a:bodyPr wrap="square" rtlCol="0" anchor="ctr"/>
          <a:lstStyle/>
          <a:p>
            <a:pPr marL="0" indent="0">
              <a:buNone/>
            </a:pPr>
            <a:r>
              <a:rPr lang="en-US" sz="750" b="1" dirty="0">
                <a:solidFill>
                  <a:srgbClr val="1A7A9E"/>
                </a:solidFill>
                <a:latin typeface="Calibri" pitchFamily="34" charset="0"/>
                <a:ea typeface="Calibri" pitchFamily="34" charset="-122"/>
                <a:cs typeface="Calibri" pitchFamily="34" charset="-120"/>
              </a:rPr>
              <a:t>TOOLS</a:t>
            </a:r>
            <a:endParaRPr lang="en-US" sz="750" dirty="0"/>
          </a:p>
        </p:txBody>
      </p:sp>
      <p:sp>
        <p:nvSpPr>
          <p:cNvPr id="17" name="Text 15"/>
          <p:cNvSpPr/>
          <p:nvPr/>
        </p:nvSpPr>
        <p:spPr>
          <a:xfrm>
            <a:off x="457200" y="4315968"/>
            <a:ext cx="2523744" cy="502920"/>
          </a:xfrm>
          <a:prstGeom prst="rect">
            <a:avLst/>
          </a:prstGeom>
          <a:noFill/>
          <a:ln/>
        </p:spPr>
        <p:txBody>
          <a:bodyPr wrap="square" rtlCol="0" anchor="ctr"/>
          <a:lstStyle/>
          <a:p>
            <a:pPr marL="0" indent="0">
              <a:buNone/>
            </a:pPr>
            <a:r>
              <a:rPr lang="en-US" sz="950" dirty="0">
                <a:solidFill>
                  <a:srgbClr val="CBD5E0"/>
                </a:solidFill>
                <a:latin typeface="Calibri" pitchFamily="34" charset="0"/>
                <a:ea typeface="Calibri" pitchFamily="34" charset="-122"/>
                <a:cs typeface="Calibri" pitchFamily="34" charset="-120"/>
              </a:rPr>
              <a:t>Claude.ai  ·  The C³ starter prompt</a:t>
            </a:r>
            <a:endParaRPr lang="en-US" sz="950" dirty="0"/>
          </a:p>
        </p:txBody>
      </p:sp>
      <p:sp>
        <p:nvSpPr>
          <p:cNvPr id="18" name="Shape 16"/>
          <p:cNvSpPr/>
          <p:nvPr/>
        </p:nvSpPr>
        <p:spPr>
          <a:xfrm>
            <a:off x="3246120" y="1572768"/>
            <a:ext cx="2743200" cy="3401568"/>
          </a:xfrm>
          <a:prstGeom prst="rect">
            <a:avLst/>
          </a:prstGeom>
          <a:solidFill>
            <a:srgbClr val="1E2D3D"/>
          </a:solidFill>
          <a:ln/>
          <a:effectLst>
            <a:outerShdw blurRad="76200" dist="25400" dir="8100000" algn="bl" rotWithShape="0">
              <a:srgbClr val="000000">
                <a:alpha val="15000"/>
              </a:srgbClr>
            </a:outerShdw>
          </a:effectLst>
        </p:spPr>
      </p:sp>
      <p:sp>
        <p:nvSpPr>
          <p:cNvPr id="19" name="Shape 17"/>
          <p:cNvSpPr/>
          <p:nvPr/>
        </p:nvSpPr>
        <p:spPr>
          <a:xfrm>
            <a:off x="3246120" y="1572768"/>
            <a:ext cx="2743200" cy="438912"/>
          </a:xfrm>
          <a:prstGeom prst="rect">
            <a:avLst/>
          </a:prstGeom>
          <a:solidFill>
            <a:srgbClr val="D4641A"/>
          </a:solidFill>
          <a:ln/>
        </p:spPr>
      </p:sp>
      <p:sp>
        <p:nvSpPr>
          <p:cNvPr id="20" name="Text 18"/>
          <p:cNvSpPr/>
          <p:nvPr/>
        </p:nvSpPr>
        <p:spPr>
          <a:xfrm>
            <a:off x="3337560" y="1572768"/>
            <a:ext cx="1737360" cy="438912"/>
          </a:xfrm>
          <a:prstGeom prst="rect">
            <a:avLst/>
          </a:prstGeom>
          <a:noFill/>
          <a:ln/>
        </p:spPr>
        <p:txBody>
          <a:bodyPr wrap="square"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INTERMEDIATE</a:t>
            </a:r>
            <a:endParaRPr lang="en-US" sz="1300" dirty="0"/>
          </a:p>
        </p:txBody>
      </p:sp>
      <p:sp>
        <p:nvSpPr>
          <p:cNvPr id="21" name="Shape 19"/>
          <p:cNvSpPr/>
          <p:nvPr/>
        </p:nvSpPr>
        <p:spPr>
          <a:xfrm>
            <a:off x="5093208" y="1664208"/>
            <a:ext cx="822960" cy="256032"/>
          </a:xfrm>
          <a:prstGeom prst="rect">
            <a:avLst/>
          </a:prstGeom>
          <a:solidFill>
            <a:srgbClr val="0D1B2A"/>
          </a:solidFill>
          <a:ln w="12700">
            <a:solidFill>
              <a:srgbClr val="0D1B2A"/>
            </a:solidFill>
            <a:prstDash val="solid"/>
          </a:ln>
        </p:spPr>
      </p:sp>
      <p:sp>
        <p:nvSpPr>
          <p:cNvPr id="22" name="Text 20"/>
          <p:cNvSpPr/>
          <p:nvPr/>
        </p:nvSpPr>
        <p:spPr>
          <a:xfrm>
            <a:off x="5093208" y="1664208"/>
            <a:ext cx="822960" cy="256032"/>
          </a:xfrm>
          <a:prstGeom prst="rect">
            <a:avLst/>
          </a:prstGeom>
          <a:noFill/>
          <a:ln/>
        </p:spPr>
        <p:txBody>
          <a:bodyPr wrap="square" rtlCol="0" anchor="ctr"/>
          <a:lstStyle/>
          <a:p>
            <a:pPr marL="0" indent="0" algn="ctr">
              <a:buNone/>
            </a:pPr>
            <a:r>
              <a:rPr lang="en-US" sz="650" b="1" dirty="0">
                <a:solidFill>
                  <a:srgbClr val="D4641A"/>
                </a:solidFill>
              </a:rPr>
              <a:t>NEXT LEVEL</a:t>
            </a:r>
            <a:endParaRPr lang="en-US" sz="650" dirty="0"/>
          </a:p>
        </p:txBody>
      </p:sp>
      <p:sp>
        <p:nvSpPr>
          <p:cNvPr id="23" name="Text 21"/>
          <p:cNvSpPr/>
          <p:nvPr/>
        </p:nvSpPr>
        <p:spPr>
          <a:xfrm>
            <a:off x="3355848" y="2084832"/>
            <a:ext cx="640080" cy="256032"/>
          </a:xfrm>
          <a:prstGeom prst="rect">
            <a:avLst/>
          </a:prstGeom>
          <a:noFill/>
          <a:ln/>
        </p:spPr>
        <p:txBody>
          <a:bodyPr wrap="square" rtlCol="0" anchor="ctr"/>
          <a:lstStyle/>
          <a:p>
            <a:pPr marL="0" indent="0">
              <a:buNone/>
            </a:pPr>
            <a:r>
              <a:rPr lang="en-US" sz="750" b="1" dirty="0">
                <a:solidFill>
                  <a:srgbClr val="D4641A"/>
                </a:solidFill>
                <a:latin typeface="Calibri" pitchFamily="34" charset="0"/>
                <a:ea typeface="Calibri" pitchFamily="34" charset="-122"/>
                <a:cs typeface="Calibri" pitchFamily="34" charset="-120"/>
              </a:rPr>
              <a:t>WHO</a:t>
            </a:r>
            <a:endParaRPr lang="en-US" sz="750" dirty="0"/>
          </a:p>
        </p:txBody>
      </p:sp>
      <p:sp>
        <p:nvSpPr>
          <p:cNvPr id="24" name="Text 22"/>
          <p:cNvSpPr/>
          <p:nvPr/>
        </p:nvSpPr>
        <p:spPr>
          <a:xfrm>
            <a:off x="3355848" y="2286000"/>
            <a:ext cx="2523744" cy="502920"/>
          </a:xfrm>
          <a:prstGeom prst="rect">
            <a:avLst/>
          </a:prstGeom>
          <a:noFill/>
          <a:ln/>
        </p:spPr>
        <p:txBody>
          <a:bodyPr wrap="square" rtlCol="0" anchor="ctr"/>
          <a:lstStyle/>
          <a:p>
            <a:pPr marL="0" indent="0">
              <a:buNone/>
            </a:pPr>
            <a:r>
              <a:rPr lang="en-US" sz="950" dirty="0">
                <a:solidFill>
                  <a:srgbClr val="CBD5E0"/>
                </a:solidFill>
                <a:latin typeface="Calibri" pitchFamily="34" charset="0"/>
                <a:ea typeface="Calibri" pitchFamily="34" charset="-122"/>
                <a:cs typeface="Calibri" pitchFamily="34" charset="-120"/>
              </a:rPr>
              <a:t>Using it regularly. Want more from it.</a:t>
            </a:r>
            <a:endParaRPr lang="en-US" sz="950" dirty="0"/>
          </a:p>
        </p:txBody>
      </p:sp>
      <p:sp>
        <p:nvSpPr>
          <p:cNvPr id="25" name="Text 23"/>
          <p:cNvSpPr/>
          <p:nvPr/>
        </p:nvSpPr>
        <p:spPr>
          <a:xfrm>
            <a:off x="3355848" y="2670048"/>
            <a:ext cx="640080" cy="256032"/>
          </a:xfrm>
          <a:prstGeom prst="rect">
            <a:avLst/>
          </a:prstGeom>
          <a:noFill/>
          <a:ln/>
        </p:spPr>
        <p:txBody>
          <a:bodyPr wrap="square" rtlCol="0" anchor="ctr"/>
          <a:lstStyle/>
          <a:p>
            <a:pPr marL="0" indent="0">
              <a:buNone/>
            </a:pPr>
            <a:r>
              <a:rPr lang="en-US" sz="750" b="1" dirty="0">
                <a:solidFill>
                  <a:srgbClr val="D4641A"/>
                </a:solidFill>
                <a:latin typeface="Calibri" pitchFamily="34" charset="0"/>
                <a:ea typeface="Calibri" pitchFamily="34" charset="-122"/>
                <a:cs typeface="Calibri" pitchFamily="34" charset="-120"/>
              </a:rPr>
              <a:t>WHAT</a:t>
            </a:r>
            <a:endParaRPr lang="en-US" sz="750" dirty="0"/>
          </a:p>
        </p:txBody>
      </p:sp>
      <p:sp>
        <p:nvSpPr>
          <p:cNvPr id="26" name="Text 24"/>
          <p:cNvSpPr/>
          <p:nvPr/>
        </p:nvSpPr>
        <p:spPr>
          <a:xfrm>
            <a:off x="3355848" y="2871216"/>
            <a:ext cx="2523744" cy="502920"/>
          </a:xfrm>
          <a:prstGeom prst="rect">
            <a:avLst/>
          </a:prstGeom>
          <a:noFill/>
          <a:ln/>
        </p:spPr>
        <p:txBody>
          <a:bodyPr wrap="square" rtlCol="0" anchor="ctr"/>
          <a:lstStyle/>
          <a:p>
            <a:pPr marL="0" indent="0">
              <a:buNone/>
            </a:pPr>
            <a:r>
              <a:rPr lang="en-US" sz="950" dirty="0">
                <a:solidFill>
                  <a:srgbClr val="CBD5E0"/>
                </a:solidFill>
                <a:latin typeface="Calibri" pitchFamily="34" charset="0"/>
                <a:ea typeface="Calibri" pitchFamily="34" charset="-122"/>
                <a:cs typeface="Calibri" pitchFamily="34" charset="-120"/>
              </a:rPr>
              <a:t>AI knows your business. Tools built. Sessions chained. Connected to your software.</a:t>
            </a:r>
            <a:endParaRPr lang="en-US" sz="950" dirty="0"/>
          </a:p>
        </p:txBody>
      </p:sp>
      <p:sp>
        <p:nvSpPr>
          <p:cNvPr id="27" name="Text 25"/>
          <p:cNvSpPr/>
          <p:nvPr/>
        </p:nvSpPr>
        <p:spPr>
          <a:xfrm>
            <a:off x="3355848" y="3337560"/>
            <a:ext cx="640080" cy="256032"/>
          </a:xfrm>
          <a:prstGeom prst="rect">
            <a:avLst/>
          </a:prstGeom>
          <a:noFill/>
          <a:ln/>
        </p:spPr>
        <p:txBody>
          <a:bodyPr wrap="square" rtlCol="0" anchor="ctr"/>
          <a:lstStyle/>
          <a:p>
            <a:pPr marL="0" indent="0">
              <a:buNone/>
            </a:pPr>
            <a:r>
              <a:rPr lang="en-US" sz="750" b="1" dirty="0">
                <a:solidFill>
                  <a:srgbClr val="D4641A"/>
                </a:solidFill>
                <a:latin typeface="Calibri" pitchFamily="34" charset="0"/>
                <a:ea typeface="Calibri" pitchFamily="34" charset="-122"/>
                <a:cs typeface="Calibri" pitchFamily="34" charset="-120"/>
              </a:rPr>
              <a:t>EXAMPLE</a:t>
            </a:r>
            <a:endParaRPr lang="en-US" sz="750" dirty="0"/>
          </a:p>
        </p:txBody>
      </p:sp>
      <p:sp>
        <p:nvSpPr>
          <p:cNvPr id="28" name="Text 26"/>
          <p:cNvSpPr/>
          <p:nvPr/>
        </p:nvSpPr>
        <p:spPr>
          <a:xfrm>
            <a:off x="3355848" y="3538728"/>
            <a:ext cx="2523744" cy="502920"/>
          </a:xfrm>
          <a:prstGeom prst="rect">
            <a:avLst/>
          </a:prstGeom>
          <a:noFill/>
          <a:ln/>
        </p:spPr>
        <p:txBody>
          <a:bodyPr wrap="square" rtlCol="0" anchor="ctr"/>
          <a:lstStyle/>
          <a:p>
            <a:pPr marL="0" indent="0">
              <a:buNone/>
            </a:pPr>
            <a:r>
              <a:rPr lang="en-US" sz="950" dirty="0">
                <a:solidFill>
                  <a:srgbClr val="CBD5E0"/>
                </a:solidFill>
                <a:latin typeface="Calibri" pitchFamily="34" charset="0"/>
                <a:ea typeface="Calibri" pitchFamily="34" charset="-122"/>
                <a:cs typeface="Calibri" pitchFamily="34" charset="-120"/>
              </a:rPr>
              <a:t>A quoting calculator. A compliance tracker. A proposal writer that knows your voice.</a:t>
            </a:r>
            <a:endParaRPr lang="en-US" sz="950" dirty="0"/>
          </a:p>
        </p:txBody>
      </p:sp>
      <p:sp>
        <p:nvSpPr>
          <p:cNvPr id="29" name="Text 27"/>
          <p:cNvSpPr/>
          <p:nvPr/>
        </p:nvSpPr>
        <p:spPr>
          <a:xfrm>
            <a:off x="3355848" y="4114800"/>
            <a:ext cx="640080" cy="256032"/>
          </a:xfrm>
          <a:prstGeom prst="rect">
            <a:avLst/>
          </a:prstGeom>
          <a:noFill/>
          <a:ln/>
        </p:spPr>
        <p:txBody>
          <a:bodyPr wrap="square" rtlCol="0" anchor="ctr"/>
          <a:lstStyle/>
          <a:p>
            <a:pPr marL="0" indent="0">
              <a:buNone/>
            </a:pPr>
            <a:r>
              <a:rPr lang="en-US" sz="750" b="1" dirty="0">
                <a:solidFill>
                  <a:srgbClr val="D4641A"/>
                </a:solidFill>
                <a:latin typeface="Calibri" pitchFamily="34" charset="0"/>
                <a:ea typeface="Calibri" pitchFamily="34" charset="-122"/>
                <a:cs typeface="Calibri" pitchFamily="34" charset="-120"/>
              </a:rPr>
              <a:t>TOOLS</a:t>
            </a:r>
            <a:endParaRPr lang="en-US" sz="750" dirty="0"/>
          </a:p>
        </p:txBody>
      </p:sp>
      <p:sp>
        <p:nvSpPr>
          <p:cNvPr id="30" name="Text 28"/>
          <p:cNvSpPr/>
          <p:nvPr/>
        </p:nvSpPr>
        <p:spPr>
          <a:xfrm>
            <a:off x="3355848" y="4315968"/>
            <a:ext cx="2523744" cy="502920"/>
          </a:xfrm>
          <a:prstGeom prst="rect">
            <a:avLst/>
          </a:prstGeom>
          <a:noFill/>
          <a:ln/>
        </p:spPr>
        <p:txBody>
          <a:bodyPr wrap="square" rtlCol="0" anchor="ctr"/>
          <a:lstStyle/>
          <a:p>
            <a:pPr marL="0" indent="0">
              <a:buNone/>
            </a:pPr>
            <a:r>
              <a:rPr lang="en-US" sz="950" dirty="0">
                <a:solidFill>
                  <a:srgbClr val="CBD5E0"/>
                </a:solidFill>
                <a:latin typeface="Calibri" pitchFamily="34" charset="0"/>
                <a:ea typeface="Calibri" pitchFamily="34" charset="-122"/>
                <a:cs typeface="Calibri" pitchFamily="34" charset="-120"/>
              </a:rPr>
              <a:t>Claude Projects  ·  Claude Code  ·  Zapier / Make</a:t>
            </a:r>
            <a:endParaRPr lang="en-US" sz="950" dirty="0"/>
          </a:p>
        </p:txBody>
      </p:sp>
      <p:sp>
        <p:nvSpPr>
          <p:cNvPr id="31" name="Shape 29"/>
          <p:cNvSpPr/>
          <p:nvPr/>
        </p:nvSpPr>
        <p:spPr>
          <a:xfrm>
            <a:off x="6144768" y="1572768"/>
            <a:ext cx="2743200" cy="3401568"/>
          </a:xfrm>
          <a:prstGeom prst="rect">
            <a:avLst/>
          </a:prstGeom>
          <a:solidFill>
            <a:srgbClr val="1E2D3D"/>
          </a:solidFill>
          <a:ln/>
          <a:effectLst>
            <a:outerShdw blurRad="76200" dist="25400" dir="8100000" algn="bl" rotWithShape="0">
              <a:srgbClr val="000000">
                <a:alpha val="15000"/>
              </a:srgbClr>
            </a:outerShdw>
          </a:effectLst>
        </p:spPr>
      </p:sp>
      <p:sp>
        <p:nvSpPr>
          <p:cNvPr id="32" name="Shape 30"/>
          <p:cNvSpPr/>
          <p:nvPr/>
        </p:nvSpPr>
        <p:spPr>
          <a:xfrm>
            <a:off x="6144768" y="1572768"/>
            <a:ext cx="2743200" cy="438912"/>
          </a:xfrm>
          <a:prstGeom prst="rect">
            <a:avLst/>
          </a:prstGeom>
          <a:solidFill>
            <a:srgbClr val="2C5F2D"/>
          </a:solidFill>
          <a:ln/>
        </p:spPr>
      </p:sp>
      <p:sp>
        <p:nvSpPr>
          <p:cNvPr id="33" name="Text 31"/>
          <p:cNvSpPr/>
          <p:nvPr/>
        </p:nvSpPr>
        <p:spPr>
          <a:xfrm>
            <a:off x="6236208" y="1572768"/>
            <a:ext cx="1737360" cy="438912"/>
          </a:xfrm>
          <a:prstGeom prst="rect">
            <a:avLst/>
          </a:prstGeom>
          <a:noFill/>
          <a:ln/>
        </p:spPr>
        <p:txBody>
          <a:bodyPr wrap="square"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ADVANCED</a:t>
            </a:r>
            <a:endParaRPr lang="en-US" sz="1300" dirty="0"/>
          </a:p>
        </p:txBody>
      </p:sp>
      <p:sp>
        <p:nvSpPr>
          <p:cNvPr id="34" name="Shape 32"/>
          <p:cNvSpPr/>
          <p:nvPr/>
        </p:nvSpPr>
        <p:spPr>
          <a:xfrm>
            <a:off x="7991856" y="1664208"/>
            <a:ext cx="822960" cy="256032"/>
          </a:xfrm>
          <a:prstGeom prst="rect">
            <a:avLst/>
          </a:prstGeom>
          <a:solidFill>
            <a:srgbClr val="0D1B2A"/>
          </a:solidFill>
          <a:ln w="12700">
            <a:solidFill>
              <a:srgbClr val="0D1B2A"/>
            </a:solidFill>
            <a:prstDash val="solid"/>
          </a:ln>
        </p:spPr>
      </p:sp>
      <p:sp>
        <p:nvSpPr>
          <p:cNvPr id="35" name="Text 33"/>
          <p:cNvSpPr/>
          <p:nvPr/>
        </p:nvSpPr>
        <p:spPr>
          <a:xfrm>
            <a:off x="7991856" y="1664208"/>
            <a:ext cx="822960" cy="256032"/>
          </a:xfrm>
          <a:prstGeom prst="rect">
            <a:avLst/>
          </a:prstGeom>
          <a:noFill/>
          <a:ln/>
        </p:spPr>
        <p:txBody>
          <a:bodyPr wrap="square" rtlCol="0" anchor="ctr"/>
          <a:lstStyle/>
          <a:p>
            <a:pPr marL="0" indent="0" algn="ctr">
              <a:buNone/>
            </a:pPr>
            <a:r>
              <a:rPr lang="en-US" sz="650" b="1" dirty="0">
                <a:solidFill>
                  <a:srgbClr val="2C5F2D"/>
                </a:solidFill>
              </a:rPr>
              <a:t>THE CEILING</a:t>
            </a:r>
            <a:endParaRPr lang="en-US" sz="650" dirty="0"/>
          </a:p>
        </p:txBody>
      </p:sp>
      <p:sp>
        <p:nvSpPr>
          <p:cNvPr id="36" name="Text 34"/>
          <p:cNvSpPr/>
          <p:nvPr/>
        </p:nvSpPr>
        <p:spPr>
          <a:xfrm>
            <a:off x="6254496" y="2084832"/>
            <a:ext cx="640080" cy="256032"/>
          </a:xfrm>
          <a:prstGeom prst="rect">
            <a:avLst/>
          </a:prstGeom>
          <a:noFill/>
          <a:ln/>
        </p:spPr>
        <p:txBody>
          <a:bodyPr wrap="square" rtlCol="0" anchor="ctr"/>
          <a:lstStyle/>
          <a:p>
            <a:pPr marL="0" indent="0">
              <a:buNone/>
            </a:pPr>
            <a:r>
              <a:rPr lang="en-US" sz="750" b="1" dirty="0">
                <a:solidFill>
                  <a:srgbClr val="2C5F2D"/>
                </a:solidFill>
                <a:latin typeface="Calibri" pitchFamily="34" charset="0"/>
                <a:ea typeface="Calibri" pitchFamily="34" charset="-122"/>
                <a:cs typeface="Calibri" pitchFamily="34" charset="-120"/>
              </a:rPr>
              <a:t>WHO</a:t>
            </a:r>
            <a:endParaRPr lang="en-US" sz="750" dirty="0"/>
          </a:p>
        </p:txBody>
      </p:sp>
      <p:sp>
        <p:nvSpPr>
          <p:cNvPr id="37" name="Text 35"/>
          <p:cNvSpPr/>
          <p:nvPr/>
        </p:nvSpPr>
        <p:spPr>
          <a:xfrm>
            <a:off x="6254496" y="2286000"/>
            <a:ext cx="2523744" cy="502920"/>
          </a:xfrm>
          <a:prstGeom prst="rect">
            <a:avLst/>
          </a:prstGeom>
          <a:noFill/>
          <a:ln/>
        </p:spPr>
        <p:txBody>
          <a:bodyPr wrap="square" rtlCol="0" anchor="ctr"/>
          <a:lstStyle/>
          <a:p>
            <a:pPr marL="0" indent="0">
              <a:buNone/>
            </a:pPr>
            <a:r>
              <a:rPr lang="en-US" sz="950" dirty="0">
                <a:solidFill>
                  <a:srgbClr val="CBD5E0"/>
                </a:solidFill>
                <a:latin typeface="Calibri" pitchFamily="34" charset="0"/>
                <a:ea typeface="Calibri" pitchFamily="34" charset="-122"/>
                <a:cs typeface="Calibri" pitchFamily="34" charset="-120"/>
              </a:rPr>
              <a:t>Already getting results. Ready to compound.</a:t>
            </a:r>
            <a:endParaRPr lang="en-US" sz="950" dirty="0"/>
          </a:p>
        </p:txBody>
      </p:sp>
      <p:sp>
        <p:nvSpPr>
          <p:cNvPr id="38" name="Text 36"/>
          <p:cNvSpPr/>
          <p:nvPr/>
        </p:nvSpPr>
        <p:spPr>
          <a:xfrm>
            <a:off x="6254496" y="2670048"/>
            <a:ext cx="640080" cy="256032"/>
          </a:xfrm>
          <a:prstGeom prst="rect">
            <a:avLst/>
          </a:prstGeom>
          <a:noFill/>
          <a:ln/>
        </p:spPr>
        <p:txBody>
          <a:bodyPr wrap="square" rtlCol="0" anchor="ctr"/>
          <a:lstStyle/>
          <a:p>
            <a:pPr marL="0" indent="0">
              <a:buNone/>
            </a:pPr>
            <a:r>
              <a:rPr lang="en-US" sz="750" b="1" dirty="0">
                <a:solidFill>
                  <a:srgbClr val="2C5F2D"/>
                </a:solidFill>
                <a:latin typeface="Calibri" pitchFamily="34" charset="0"/>
                <a:ea typeface="Calibri" pitchFamily="34" charset="-122"/>
                <a:cs typeface="Calibri" pitchFamily="34" charset="-120"/>
              </a:rPr>
              <a:t>WHAT</a:t>
            </a:r>
            <a:endParaRPr lang="en-US" sz="750" dirty="0"/>
          </a:p>
        </p:txBody>
      </p:sp>
      <p:sp>
        <p:nvSpPr>
          <p:cNvPr id="39" name="Text 37"/>
          <p:cNvSpPr/>
          <p:nvPr/>
        </p:nvSpPr>
        <p:spPr>
          <a:xfrm>
            <a:off x="6254496" y="2871216"/>
            <a:ext cx="2523744" cy="502920"/>
          </a:xfrm>
          <a:prstGeom prst="rect">
            <a:avLst/>
          </a:prstGeom>
          <a:noFill/>
          <a:ln/>
        </p:spPr>
        <p:txBody>
          <a:bodyPr wrap="square" rtlCol="0" anchor="ctr"/>
          <a:lstStyle/>
          <a:p>
            <a:pPr marL="0" indent="0">
              <a:buNone/>
            </a:pPr>
            <a:r>
              <a:rPr lang="en-US" sz="950" dirty="0">
                <a:solidFill>
                  <a:srgbClr val="CBD5E0"/>
                </a:solidFill>
                <a:latin typeface="Calibri" pitchFamily="34" charset="0"/>
                <a:ea typeface="Calibri" pitchFamily="34" charset="-122"/>
                <a:cs typeface="Calibri" pitchFamily="34" charset="-120"/>
              </a:rPr>
              <a:t>AI that knows your whole business context and works proactively — not just when you ask.</a:t>
            </a:r>
            <a:endParaRPr lang="en-US" sz="950" dirty="0"/>
          </a:p>
        </p:txBody>
      </p:sp>
      <p:sp>
        <p:nvSpPr>
          <p:cNvPr id="40" name="Text 38"/>
          <p:cNvSpPr/>
          <p:nvPr/>
        </p:nvSpPr>
        <p:spPr>
          <a:xfrm>
            <a:off x="6254496" y="3337560"/>
            <a:ext cx="640080" cy="256032"/>
          </a:xfrm>
          <a:prstGeom prst="rect">
            <a:avLst/>
          </a:prstGeom>
          <a:noFill/>
          <a:ln/>
        </p:spPr>
        <p:txBody>
          <a:bodyPr wrap="square" rtlCol="0" anchor="ctr"/>
          <a:lstStyle/>
          <a:p>
            <a:pPr marL="0" indent="0">
              <a:buNone/>
            </a:pPr>
            <a:r>
              <a:rPr lang="en-US" sz="750" b="1" dirty="0">
                <a:solidFill>
                  <a:srgbClr val="2C5F2D"/>
                </a:solidFill>
                <a:latin typeface="Calibri" pitchFamily="34" charset="0"/>
                <a:ea typeface="Calibri" pitchFamily="34" charset="-122"/>
                <a:cs typeface="Calibri" pitchFamily="34" charset="-120"/>
              </a:rPr>
              <a:t>EXAMPLE</a:t>
            </a:r>
            <a:endParaRPr lang="en-US" sz="750" dirty="0"/>
          </a:p>
        </p:txBody>
      </p:sp>
      <p:sp>
        <p:nvSpPr>
          <p:cNvPr id="41" name="Text 39"/>
          <p:cNvSpPr/>
          <p:nvPr/>
        </p:nvSpPr>
        <p:spPr>
          <a:xfrm>
            <a:off x="6254496" y="3538728"/>
            <a:ext cx="2523744" cy="502920"/>
          </a:xfrm>
          <a:prstGeom prst="rect">
            <a:avLst/>
          </a:prstGeom>
          <a:noFill/>
          <a:ln/>
        </p:spPr>
        <p:txBody>
          <a:bodyPr wrap="square" rtlCol="0" anchor="ctr"/>
          <a:lstStyle/>
          <a:p>
            <a:pPr marL="0" indent="0">
              <a:buNone/>
            </a:pPr>
            <a:r>
              <a:rPr lang="en-US" sz="950" dirty="0">
                <a:solidFill>
                  <a:srgbClr val="CBD5E0"/>
                </a:solidFill>
                <a:latin typeface="Calibri" pitchFamily="34" charset="0"/>
                <a:ea typeface="Calibri" pitchFamily="34" charset="-122"/>
                <a:cs typeface="Calibri" pitchFamily="34" charset="-120"/>
              </a:rPr>
              <a:t>A system that surfaces problems before you see them. Workflows that run without you.</a:t>
            </a:r>
            <a:endParaRPr lang="en-US" sz="950" dirty="0"/>
          </a:p>
        </p:txBody>
      </p:sp>
      <p:sp>
        <p:nvSpPr>
          <p:cNvPr id="42" name="Text 40"/>
          <p:cNvSpPr/>
          <p:nvPr/>
        </p:nvSpPr>
        <p:spPr>
          <a:xfrm>
            <a:off x="6254496" y="4114800"/>
            <a:ext cx="640080" cy="256032"/>
          </a:xfrm>
          <a:prstGeom prst="rect">
            <a:avLst/>
          </a:prstGeom>
          <a:noFill/>
          <a:ln/>
        </p:spPr>
        <p:txBody>
          <a:bodyPr wrap="square" rtlCol="0" anchor="ctr"/>
          <a:lstStyle/>
          <a:p>
            <a:pPr marL="0" indent="0">
              <a:buNone/>
            </a:pPr>
            <a:r>
              <a:rPr lang="en-US" sz="750" b="1" dirty="0">
                <a:solidFill>
                  <a:srgbClr val="2C5F2D"/>
                </a:solidFill>
                <a:latin typeface="Calibri" pitchFamily="34" charset="0"/>
                <a:ea typeface="Calibri" pitchFamily="34" charset="-122"/>
                <a:cs typeface="Calibri" pitchFamily="34" charset="-120"/>
              </a:rPr>
              <a:t>TOOLS</a:t>
            </a:r>
            <a:endParaRPr lang="en-US" sz="750" dirty="0"/>
          </a:p>
        </p:txBody>
      </p:sp>
      <p:sp>
        <p:nvSpPr>
          <p:cNvPr id="43" name="Text 41"/>
          <p:cNvSpPr/>
          <p:nvPr/>
        </p:nvSpPr>
        <p:spPr>
          <a:xfrm>
            <a:off x="6254496" y="4315968"/>
            <a:ext cx="2523744" cy="502920"/>
          </a:xfrm>
          <a:prstGeom prst="rect">
            <a:avLst/>
          </a:prstGeom>
          <a:noFill/>
          <a:ln/>
        </p:spPr>
        <p:txBody>
          <a:bodyPr wrap="square" rtlCol="0" anchor="ctr"/>
          <a:lstStyle/>
          <a:p>
            <a:pPr marL="0" indent="0">
              <a:buNone/>
            </a:pPr>
            <a:r>
              <a:rPr lang="en-US" sz="950" dirty="0">
                <a:solidFill>
                  <a:srgbClr val="CBD5E0"/>
                </a:solidFill>
                <a:latin typeface="Calibri" pitchFamily="34" charset="0"/>
                <a:ea typeface="Calibri" pitchFamily="34" charset="-122"/>
                <a:cs typeface="Calibri" pitchFamily="34" charset="-120"/>
              </a:rPr>
              <a:t>Claude Projects  ·  Agents  ·  Custom integrations</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2EFE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A7A9E"/>
          </a:solidFill>
          <a:ln w="12700">
            <a:solidFill>
              <a:srgbClr val="1A7A9E"/>
            </a:solidFill>
            <a:prstDash val="solid"/>
          </a:ln>
        </p:spPr>
      </p:sp>
      <p:sp>
        <p:nvSpPr>
          <p:cNvPr id="3" name="Text 1"/>
          <p:cNvSpPr/>
          <p:nvPr/>
        </p:nvSpPr>
        <p:spPr>
          <a:xfrm>
            <a:off x="347472" y="566928"/>
            <a:ext cx="8412480" cy="594360"/>
          </a:xfrm>
          <a:prstGeom prst="rect">
            <a:avLst/>
          </a:prstGeom>
          <a:noFill/>
          <a:ln/>
        </p:spPr>
        <p:txBody>
          <a:bodyPr wrap="square" rtlCol="0" anchor="ctr"/>
          <a:lstStyle/>
          <a:p>
            <a:pPr marL="0" indent="0">
              <a:buNone/>
            </a:pPr>
            <a:r>
              <a:rPr lang="en-US" sz="2600" b="1" dirty="0">
                <a:solidFill>
                  <a:srgbClr val="0D1B2A"/>
                </a:solidFill>
                <a:latin typeface="Arial Black" pitchFamily="34" charset="0"/>
                <a:ea typeface="Arial Black" pitchFamily="34" charset="-122"/>
                <a:cs typeface="Arial Black" pitchFamily="34" charset="-120"/>
              </a:rPr>
              <a:t>WHERE DO YOU GO FROM HERE?</a:t>
            </a:r>
            <a:endParaRPr lang="en-US" sz="2600" dirty="0"/>
          </a:p>
        </p:txBody>
      </p:sp>
      <p:sp>
        <p:nvSpPr>
          <p:cNvPr id="4" name="Text 2"/>
          <p:cNvSpPr/>
          <p:nvPr/>
        </p:nvSpPr>
        <p:spPr>
          <a:xfrm>
            <a:off x="347472" y="1133856"/>
            <a:ext cx="8412480" cy="320040"/>
          </a:xfrm>
          <a:prstGeom prst="rect">
            <a:avLst/>
          </a:prstGeom>
          <a:noFill/>
          <a:ln/>
        </p:spPr>
        <p:txBody>
          <a:bodyPr wrap="square" rtlCol="0" anchor="ctr"/>
          <a:lstStyle/>
          <a:p>
            <a:pPr marL="0" indent="0">
              <a:buNone/>
            </a:pPr>
            <a:r>
              <a:rPr lang="en-US" sz="1200" i="1" dirty="0">
                <a:solidFill>
                  <a:srgbClr val="6B7280"/>
                </a:solidFill>
              </a:rPr>
              <a:t>Find your level. Pick your next move.</a:t>
            </a:r>
            <a:endParaRPr lang="en-US" sz="1200" dirty="0"/>
          </a:p>
        </p:txBody>
      </p:sp>
      <p:sp>
        <p:nvSpPr>
          <p:cNvPr id="5" name="Shape 3"/>
          <p:cNvSpPr/>
          <p:nvPr/>
        </p:nvSpPr>
        <p:spPr>
          <a:xfrm>
            <a:off x="347472" y="1536192"/>
            <a:ext cx="8412480" cy="932688"/>
          </a:xfrm>
          <a:prstGeom prst="rect">
            <a:avLst/>
          </a:prstGeom>
          <a:solidFill>
            <a:srgbClr val="FFFFFF"/>
          </a:solidFill>
          <a:ln/>
          <a:effectLst>
            <a:outerShdw blurRad="76200" dist="25400" dir="8100000" algn="bl" rotWithShape="0">
              <a:srgbClr val="000000">
                <a:alpha val="15000"/>
              </a:srgbClr>
            </a:outerShdw>
          </a:effectLst>
        </p:spPr>
      </p:sp>
      <p:sp>
        <p:nvSpPr>
          <p:cNvPr id="6" name="Shape 4"/>
          <p:cNvSpPr/>
          <p:nvPr/>
        </p:nvSpPr>
        <p:spPr>
          <a:xfrm>
            <a:off x="347472" y="1536192"/>
            <a:ext cx="1417320" cy="932688"/>
          </a:xfrm>
          <a:prstGeom prst="rect">
            <a:avLst/>
          </a:prstGeom>
          <a:solidFill>
            <a:srgbClr val="1A7A9E"/>
          </a:solidFill>
          <a:ln/>
        </p:spPr>
      </p:sp>
      <p:sp>
        <p:nvSpPr>
          <p:cNvPr id="7" name="Text 5"/>
          <p:cNvSpPr/>
          <p:nvPr/>
        </p:nvSpPr>
        <p:spPr>
          <a:xfrm>
            <a:off x="347472" y="1536192"/>
            <a:ext cx="1417320" cy="932688"/>
          </a:xfrm>
          <a:prstGeom prst="rect">
            <a:avLst/>
          </a:prstGeom>
          <a:noFill/>
          <a:ln/>
        </p:spPr>
        <p:txBody>
          <a:bodyPr wrap="square" rtlCol="0" anchor="ctr"/>
          <a:lstStyle/>
          <a:p>
            <a:pPr marL="0" indent="0" algn="ctr">
              <a:buNone/>
            </a:pPr>
            <a:r>
              <a:rPr lang="en-US" sz="1000" b="1" dirty="0">
                <a:solidFill>
                  <a:srgbClr val="FFFFFF"/>
                </a:solidFill>
                <a:latin typeface="Arial Black" pitchFamily="34" charset="0"/>
                <a:ea typeface="Arial Black" pitchFamily="34" charset="-122"/>
                <a:cs typeface="Arial Black" pitchFamily="34" charset="-120"/>
              </a:rPr>
              <a:t>BEGINNER</a:t>
            </a:r>
            <a:endParaRPr lang="en-US" sz="1000" dirty="0"/>
          </a:p>
        </p:txBody>
      </p:sp>
      <p:sp>
        <p:nvSpPr>
          <p:cNvPr id="8" name="Text 6"/>
          <p:cNvSpPr/>
          <p:nvPr/>
        </p:nvSpPr>
        <p:spPr>
          <a:xfrm>
            <a:off x="1874520" y="1572768"/>
            <a:ext cx="6766560" cy="219456"/>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Haven't started, or tried and got mixed results</a:t>
            </a:r>
            <a:endParaRPr lang="en-US" sz="900" dirty="0"/>
          </a:p>
        </p:txBody>
      </p:sp>
      <p:sp>
        <p:nvSpPr>
          <p:cNvPr id="9" name="Text 7"/>
          <p:cNvSpPr/>
          <p:nvPr/>
        </p:nvSpPr>
        <p:spPr>
          <a:xfrm>
            <a:off x="1874520" y="1783080"/>
            <a:ext cx="6766560" cy="274320"/>
          </a:xfrm>
          <a:prstGeom prst="rect">
            <a:avLst/>
          </a:prstGeom>
          <a:noFill/>
          <a:ln/>
        </p:spPr>
        <p:txBody>
          <a:bodyPr wrap="square"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 Use the C³ starter prompt on one real problem this week.</a:t>
            </a:r>
            <a:endParaRPr lang="en-US" sz="1050" dirty="0"/>
          </a:p>
        </p:txBody>
      </p:sp>
      <p:sp>
        <p:nvSpPr>
          <p:cNvPr id="10" name="Text 8"/>
          <p:cNvSpPr/>
          <p:nvPr/>
        </p:nvSpPr>
        <p:spPr>
          <a:xfrm>
            <a:off x="1874520" y="2048256"/>
            <a:ext cx="5120640" cy="201168"/>
          </a:xfrm>
          <a:prstGeom prst="rect">
            <a:avLst/>
          </a:prstGeom>
          <a:noFill/>
          <a:ln/>
        </p:spPr>
        <p:txBody>
          <a:bodyPr wrap="square" rtlCol="0" anchor="ctr"/>
          <a:lstStyle/>
          <a:p>
            <a:pPr marL="0" indent="0">
              <a:buNone/>
            </a:pPr>
            <a:r>
              <a:rPr lang="en-US" sz="850" dirty="0">
                <a:solidFill>
                  <a:srgbClr val="6B7280"/>
                </a:solidFill>
                <a:latin typeface="Calibri" pitchFamily="34" charset="0"/>
                <a:ea typeface="Calibri" pitchFamily="34" charset="-122"/>
                <a:cs typeface="Calibri" pitchFamily="34" charset="-120"/>
              </a:rPr>
              <a:t>One good conversation  ·  One problem solved  ·  One process improved</a:t>
            </a:r>
            <a:endParaRPr lang="en-US" sz="850" dirty="0"/>
          </a:p>
        </p:txBody>
      </p:sp>
      <p:sp>
        <p:nvSpPr>
          <p:cNvPr id="11" name="Shape 9"/>
          <p:cNvSpPr/>
          <p:nvPr/>
        </p:nvSpPr>
        <p:spPr>
          <a:xfrm>
            <a:off x="7086600" y="1993392"/>
            <a:ext cx="1645920" cy="329184"/>
          </a:xfrm>
          <a:prstGeom prst="rect">
            <a:avLst/>
          </a:prstGeom>
          <a:solidFill>
            <a:srgbClr val="1A7A9E"/>
          </a:solidFill>
          <a:ln/>
        </p:spPr>
      </p:sp>
      <p:sp>
        <p:nvSpPr>
          <p:cNvPr id="12" name="Text 10"/>
          <p:cNvSpPr/>
          <p:nvPr/>
        </p:nvSpPr>
        <p:spPr>
          <a:xfrm>
            <a:off x="7086600" y="1993392"/>
            <a:ext cx="1645920" cy="329184"/>
          </a:xfrm>
          <a:prstGeom prst="rect">
            <a:avLst/>
          </a:prstGeom>
          <a:noFill/>
          <a:ln/>
        </p:spPr>
        <p:txBody>
          <a:bodyPr wrap="square"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Claude.ai</a:t>
            </a:r>
            <a:endParaRPr lang="en-US" sz="750" dirty="0"/>
          </a:p>
        </p:txBody>
      </p:sp>
      <p:sp>
        <p:nvSpPr>
          <p:cNvPr id="13" name="Shape 11"/>
          <p:cNvSpPr/>
          <p:nvPr/>
        </p:nvSpPr>
        <p:spPr>
          <a:xfrm>
            <a:off x="347472" y="2578608"/>
            <a:ext cx="8412480" cy="932688"/>
          </a:xfrm>
          <a:prstGeom prst="rect">
            <a:avLst/>
          </a:prstGeom>
          <a:solidFill>
            <a:srgbClr val="FFFFFF"/>
          </a:solidFill>
          <a:ln/>
          <a:effectLst>
            <a:outerShdw blurRad="76200" dist="25400" dir="8100000" algn="bl" rotWithShape="0">
              <a:srgbClr val="000000">
                <a:alpha val="15000"/>
              </a:srgbClr>
            </a:outerShdw>
          </a:effectLst>
        </p:spPr>
      </p:sp>
      <p:sp>
        <p:nvSpPr>
          <p:cNvPr id="14" name="Shape 12"/>
          <p:cNvSpPr/>
          <p:nvPr/>
        </p:nvSpPr>
        <p:spPr>
          <a:xfrm>
            <a:off x="347472" y="2578608"/>
            <a:ext cx="1417320" cy="932688"/>
          </a:xfrm>
          <a:prstGeom prst="rect">
            <a:avLst/>
          </a:prstGeom>
          <a:solidFill>
            <a:srgbClr val="D4641A"/>
          </a:solidFill>
          <a:ln/>
        </p:spPr>
      </p:sp>
      <p:sp>
        <p:nvSpPr>
          <p:cNvPr id="15" name="Text 13"/>
          <p:cNvSpPr/>
          <p:nvPr/>
        </p:nvSpPr>
        <p:spPr>
          <a:xfrm>
            <a:off x="347472" y="2578608"/>
            <a:ext cx="1417320" cy="932688"/>
          </a:xfrm>
          <a:prstGeom prst="rect">
            <a:avLst/>
          </a:prstGeom>
          <a:noFill/>
          <a:ln/>
        </p:spPr>
        <p:txBody>
          <a:bodyPr wrap="square" rtlCol="0" anchor="ctr"/>
          <a:lstStyle/>
          <a:p>
            <a:pPr marL="0" indent="0" algn="ctr">
              <a:buNone/>
            </a:pPr>
            <a:r>
              <a:rPr lang="en-US" sz="1000" b="1" dirty="0">
                <a:solidFill>
                  <a:srgbClr val="FFFFFF"/>
                </a:solidFill>
                <a:latin typeface="Arial Black" pitchFamily="34" charset="0"/>
                <a:ea typeface="Arial Black" pitchFamily="34" charset="-122"/>
                <a:cs typeface="Arial Black" pitchFamily="34" charset="-120"/>
              </a:rPr>
              <a:t>INTERMEDIATE</a:t>
            </a:r>
            <a:endParaRPr lang="en-US" sz="1000" dirty="0"/>
          </a:p>
        </p:txBody>
      </p:sp>
      <p:sp>
        <p:nvSpPr>
          <p:cNvPr id="16" name="Text 14"/>
          <p:cNvSpPr/>
          <p:nvPr/>
        </p:nvSpPr>
        <p:spPr>
          <a:xfrm>
            <a:off x="1874520" y="2615184"/>
            <a:ext cx="6766560" cy="219456"/>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Using AI regularly, want more consistent and deeper results</a:t>
            </a:r>
            <a:endParaRPr lang="en-US" sz="900" dirty="0"/>
          </a:p>
        </p:txBody>
      </p:sp>
      <p:sp>
        <p:nvSpPr>
          <p:cNvPr id="17" name="Text 15"/>
          <p:cNvSpPr/>
          <p:nvPr/>
        </p:nvSpPr>
        <p:spPr>
          <a:xfrm>
            <a:off x="1874520" y="2825496"/>
            <a:ext cx="6766560" cy="274320"/>
          </a:xfrm>
          <a:prstGeom prst="rect">
            <a:avLst/>
          </a:prstGeom>
          <a:noFill/>
          <a:ln/>
        </p:spPr>
        <p:txBody>
          <a:bodyPr wrap="square"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 Create an AI Project for your role. Give it context about your business, your clients, your voice.</a:t>
            </a:r>
            <a:endParaRPr lang="en-US" sz="1050" dirty="0"/>
          </a:p>
        </p:txBody>
      </p:sp>
      <p:sp>
        <p:nvSpPr>
          <p:cNvPr id="18" name="Text 16"/>
          <p:cNvSpPr/>
          <p:nvPr/>
        </p:nvSpPr>
        <p:spPr>
          <a:xfrm>
            <a:off x="1874520" y="3090672"/>
            <a:ext cx="5120640" cy="201168"/>
          </a:xfrm>
          <a:prstGeom prst="rect">
            <a:avLst/>
          </a:prstGeom>
          <a:noFill/>
          <a:ln/>
        </p:spPr>
        <p:txBody>
          <a:bodyPr wrap="square" rtlCol="0" anchor="ctr"/>
          <a:lstStyle/>
          <a:p>
            <a:pPr marL="0" indent="0">
              <a:buNone/>
            </a:pPr>
            <a:r>
              <a:rPr lang="en-US" sz="850" dirty="0">
                <a:solidFill>
                  <a:srgbClr val="6B7280"/>
                </a:solidFill>
                <a:latin typeface="Calibri" pitchFamily="34" charset="0"/>
                <a:ea typeface="Calibri" pitchFamily="34" charset="-122"/>
                <a:cs typeface="Calibri" pitchFamily="34" charset="-120"/>
              </a:rPr>
              <a:t>Proposal writer that sounds like you  ·  Quoting tool  ·  Compliance tracker  ·  Zapier automations</a:t>
            </a:r>
            <a:endParaRPr lang="en-US" sz="850" dirty="0"/>
          </a:p>
        </p:txBody>
      </p:sp>
      <p:sp>
        <p:nvSpPr>
          <p:cNvPr id="19" name="Shape 17"/>
          <p:cNvSpPr/>
          <p:nvPr/>
        </p:nvSpPr>
        <p:spPr>
          <a:xfrm>
            <a:off x="7086600" y="3035808"/>
            <a:ext cx="1645920" cy="329184"/>
          </a:xfrm>
          <a:prstGeom prst="rect">
            <a:avLst/>
          </a:prstGeom>
          <a:solidFill>
            <a:srgbClr val="D4641A"/>
          </a:solidFill>
          <a:ln/>
        </p:spPr>
      </p:sp>
      <p:sp>
        <p:nvSpPr>
          <p:cNvPr id="20" name="Text 18"/>
          <p:cNvSpPr/>
          <p:nvPr/>
        </p:nvSpPr>
        <p:spPr>
          <a:xfrm>
            <a:off x="7086600" y="3035808"/>
            <a:ext cx="1645920" cy="329184"/>
          </a:xfrm>
          <a:prstGeom prst="rect">
            <a:avLst/>
          </a:prstGeom>
          <a:noFill/>
          <a:ln/>
        </p:spPr>
        <p:txBody>
          <a:bodyPr wrap="square"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Claude Projects  ·  Claude Code  ·  Zapier / Make</a:t>
            </a:r>
            <a:endParaRPr lang="en-US" sz="750" dirty="0"/>
          </a:p>
        </p:txBody>
      </p:sp>
      <p:sp>
        <p:nvSpPr>
          <p:cNvPr id="21" name="Shape 19"/>
          <p:cNvSpPr/>
          <p:nvPr/>
        </p:nvSpPr>
        <p:spPr>
          <a:xfrm>
            <a:off x="347472" y="3621024"/>
            <a:ext cx="8412480" cy="932688"/>
          </a:xfrm>
          <a:prstGeom prst="rect">
            <a:avLst/>
          </a:prstGeom>
          <a:solidFill>
            <a:srgbClr val="FFFFFF"/>
          </a:solidFill>
          <a:ln/>
          <a:effectLst>
            <a:outerShdw blurRad="76200" dist="25400" dir="8100000" algn="bl" rotWithShape="0">
              <a:srgbClr val="000000">
                <a:alpha val="15000"/>
              </a:srgbClr>
            </a:outerShdw>
          </a:effectLst>
        </p:spPr>
      </p:sp>
      <p:sp>
        <p:nvSpPr>
          <p:cNvPr id="22" name="Shape 20"/>
          <p:cNvSpPr/>
          <p:nvPr/>
        </p:nvSpPr>
        <p:spPr>
          <a:xfrm>
            <a:off x="347472" y="3621024"/>
            <a:ext cx="1417320" cy="932688"/>
          </a:xfrm>
          <a:prstGeom prst="rect">
            <a:avLst/>
          </a:prstGeom>
          <a:solidFill>
            <a:srgbClr val="2C5F2D"/>
          </a:solidFill>
          <a:ln/>
        </p:spPr>
      </p:sp>
      <p:sp>
        <p:nvSpPr>
          <p:cNvPr id="23" name="Text 21"/>
          <p:cNvSpPr/>
          <p:nvPr/>
        </p:nvSpPr>
        <p:spPr>
          <a:xfrm>
            <a:off x="347472" y="3621024"/>
            <a:ext cx="1417320" cy="932688"/>
          </a:xfrm>
          <a:prstGeom prst="rect">
            <a:avLst/>
          </a:prstGeom>
          <a:noFill/>
          <a:ln/>
        </p:spPr>
        <p:txBody>
          <a:bodyPr wrap="square" rtlCol="0" anchor="ctr"/>
          <a:lstStyle/>
          <a:p>
            <a:pPr marL="0" indent="0" algn="ctr">
              <a:buNone/>
            </a:pPr>
            <a:r>
              <a:rPr lang="en-US" sz="1000" b="1" dirty="0">
                <a:solidFill>
                  <a:srgbClr val="FFFFFF"/>
                </a:solidFill>
                <a:latin typeface="Arial Black" pitchFamily="34" charset="0"/>
                <a:ea typeface="Arial Black" pitchFamily="34" charset="-122"/>
                <a:cs typeface="Arial Black" pitchFamily="34" charset="-120"/>
              </a:rPr>
              <a:t>ADVANCED</a:t>
            </a:r>
            <a:endParaRPr lang="en-US" sz="1000" dirty="0"/>
          </a:p>
        </p:txBody>
      </p:sp>
      <p:sp>
        <p:nvSpPr>
          <p:cNvPr id="24" name="Text 22"/>
          <p:cNvSpPr/>
          <p:nvPr/>
        </p:nvSpPr>
        <p:spPr>
          <a:xfrm>
            <a:off x="1874520" y="3657600"/>
            <a:ext cx="6766560" cy="219456"/>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AI is already working in your business — you want it to compound</a:t>
            </a:r>
            <a:endParaRPr lang="en-US" sz="900" dirty="0"/>
          </a:p>
        </p:txBody>
      </p:sp>
      <p:sp>
        <p:nvSpPr>
          <p:cNvPr id="25" name="Text 23"/>
          <p:cNvSpPr/>
          <p:nvPr/>
        </p:nvSpPr>
        <p:spPr>
          <a:xfrm>
            <a:off x="1874520" y="3867912"/>
            <a:ext cx="6766560" cy="274320"/>
          </a:xfrm>
          <a:prstGeom prst="rect">
            <a:avLst/>
          </a:prstGeom>
          <a:noFill/>
          <a:ln/>
        </p:spPr>
        <p:txBody>
          <a:bodyPr wrap="square" rtlCol="0" anchor="ctr"/>
          <a:lstStyle/>
          <a:p>
            <a:pPr marL="0" indent="0">
              <a:buNone/>
            </a:pPr>
            <a:r>
              <a:rPr lang="en-US" sz="1050" b="1" dirty="0">
                <a:solidFill>
                  <a:srgbClr val="0D1B2A"/>
                </a:solidFill>
                <a:latin typeface="Calibri" pitchFamily="34" charset="0"/>
                <a:ea typeface="Calibri" pitchFamily="34" charset="-122"/>
                <a:cs typeface="Calibri" pitchFamily="34" charset="-120"/>
              </a:rPr>
              <a:t>→ Build AI that knows your whole business context and surfaces problems before you see them.</a:t>
            </a:r>
            <a:endParaRPr lang="en-US" sz="1050" dirty="0"/>
          </a:p>
        </p:txBody>
      </p:sp>
      <p:sp>
        <p:nvSpPr>
          <p:cNvPr id="26" name="Text 24"/>
          <p:cNvSpPr/>
          <p:nvPr/>
        </p:nvSpPr>
        <p:spPr>
          <a:xfrm>
            <a:off x="1874520" y="4133088"/>
            <a:ext cx="5120640" cy="201168"/>
          </a:xfrm>
          <a:prstGeom prst="rect">
            <a:avLst/>
          </a:prstGeom>
          <a:noFill/>
          <a:ln/>
        </p:spPr>
        <p:txBody>
          <a:bodyPr wrap="square" rtlCol="0" anchor="ctr"/>
          <a:lstStyle/>
          <a:p>
            <a:pPr marL="0" indent="0">
              <a:buNone/>
            </a:pPr>
            <a:r>
              <a:rPr lang="en-US" sz="850" dirty="0">
                <a:solidFill>
                  <a:srgbClr val="6B7280"/>
                </a:solidFill>
                <a:latin typeface="Calibri" pitchFamily="34" charset="0"/>
                <a:ea typeface="Calibri" pitchFamily="34" charset="-122"/>
                <a:cs typeface="Calibri" pitchFamily="34" charset="-120"/>
              </a:rPr>
              <a:t>Custom internal tools  ·  Automated reporting  ·  Workflows that run without you</a:t>
            </a:r>
            <a:endParaRPr lang="en-US" sz="850" dirty="0"/>
          </a:p>
        </p:txBody>
      </p:sp>
      <p:sp>
        <p:nvSpPr>
          <p:cNvPr id="27" name="Shape 25"/>
          <p:cNvSpPr/>
          <p:nvPr/>
        </p:nvSpPr>
        <p:spPr>
          <a:xfrm>
            <a:off x="7086600" y="4078224"/>
            <a:ext cx="1645920" cy="329184"/>
          </a:xfrm>
          <a:prstGeom prst="rect">
            <a:avLst/>
          </a:prstGeom>
          <a:solidFill>
            <a:srgbClr val="2C5F2D"/>
          </a:solidFill>
          <a:ln/>
        </p:spPr>
      </p:sp>
      <p:sp>
        <p:nvSpPr>
          <p:cNvPr id="28" name="Text 26"/>
          <p:cNvSpPr/>
          <p:nvPr/>
        </p:nvSpPr>
        <p:spPr>
          <a:xfrm>
            <a:off x="7086600" y="4078224"/>
            <a:ext cx="1645920" cy="329184"/>
          </a:xfrm>
          <a:prstGeom prst="rect">
            <a:avLst/>
          </a:prstGeom>
          <a:noFill/>
          <a:ln/>
        </p:spPr>
        <p:txBody>
          <a:bodyPr wrap="square"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Claude Projects + memory  ·  Claude Code + Supabase  ·  Custom agents</a:t>
            </a:r>
            <a:endParaRPr lang="en-US" sz="750" dirty="0"/>
          </a:p>
        </p:txBody>
      </p:sp>
      <p:sp>
        <p:nvSpPr>
          <p:cNvPr id="29" name="Shape 27"/>
          <p:cNvSpPr/>
          <p:nvPr/>
        </p:nvSpPr>
        <p:spPr>
          <a:xfrm>
            <a:off x="347472" y="4663440"/>
            <a:ext cx="8412480" cy="475488"/>
          </a:xfrm>
          <a:prstGeom prst="rect">
            <a:avLst/>
          </a:prstGeom>
          <a:solidFill>
            <a:srgbClr val="0D1B2A"/>
          </a:solidFill>
          <a:ln/>
        </p:spPr>
      </p:sp>
      <p:sp>
        <p:nvSpPr>
          <p:cNvPr id="30" name="Text 28"/>
          <p:cNvSpPr/>
          <p:nvPr/>
        </p:nvSpPr>
        <p:spPr>
          <a:xfrm>
            <a:off x="502920" y="4663440"/>
            <a:ext cx="8229600" cy="475488"/>
          </a:xfrm>
          <a:prstGeom prst="rect">
            <a:avLst/>
          </a:prstGeom>
          <a:noFill/>
          <a:ln/>
        </p:spPr>
        <p:txBody>
          <a:bodyPr wrap="square" rtlCol="0" anchor="ctr"/>
          <a:lstStyle/>
          <a:p>
            <a:pPr marL="0" indent="0">
              <a:buNone/>
            </a:pPr>
            <a:r>
              <a:rPr lang="en-US" sz="1100" i="1" dirty="0">
                <a:solidFill>
                  <a:srgbClr val="AECBDC"/>
                </a:solidFill>
                <a:latin typeface="Calibri" pitchFamily="34" charset="0"/>
                <a:ea typeface="Calibri" pitchFamily="34" charset="-122"/>
                <a:cs typeface="Calibri" pitchFamily="34" charset="-120"/>
              </a:rPr>
              <a:t>Wherever you are — the next level uses the same method. Just more context, more connection, more compounding.</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4641A"/>
          </a:solidFill>
          <a:ln w="12700">
            <a:solidFill>
              <a:srgbClr val="D4641A"/>
            </a:solidFill>
            <a:prstDash val="solid"/>
          </a:ln>
        </p:spPr>
      </p:sp>
      <p:sp>
        <p:nvSpPr>
          <p:cNvPr id="3" name="Shape 1"/>
          <p:cNvSpPr/>
          <p:nvPr/>
        </p:nvSpPr>
        <p:spPr>
          <a:xfrm>
            <a:off x="731520" y="777240"/>
            <a:ext cx="7680960" cy="2148840"/>
          </a:xfrm>
          <a:prstGeom prst="rect">
            <a:avLst/>
          </a:prstGeom>
          <a:solidFill>
            <a:srgbClr val="1E2D3D"/>
          </a:solidFill>
          <a:ln/>
          <a:effectLst>
            <a:outerShdw blurRad="76200" dist="25400" dir="8100000" algn="bl" rotWithShape="0">
              <a:srgbClr val="000000">
                <a:alpha val="15000"/>
              </a:srgbClr>
            </a:outerShdw>
          </a:effectLst>
        </p:spPr>
      </p:sp>
      <p:sp>
        <p:nvSpPr>
          <p:cNvPr id="4" name="Shape 2"/>
          <p:cNvSpPr/>
          <p:nvPr/>
        </p:nvSpPr>
        <p:spPr>
          <a:xfrm>
            <a:off x="731520" y="777240"/>
            <a:ext cx="64008" cy="2148840"/>
          </a:xfrm>
          <a:prstGeom prst="rect">
            <a:avLst/>
          </a:prstGeom>
          <a:solidFill>
            <a:srgbClr val="1A7A9E"/>
          </a:solidFill>
          <a:ln/>
        </p:spPr>
      </p:sp>
      <p:sp>
        <p:nvSpPr>
          <p:cNvPr id="5" name="Text 3"/>
          <p:cNvSpPr/>
          <p:nvPr/>
        </p:nvSpPr>
        <p:spPr>
          <a:xfrm>
            <a:off x="822960" y="749808"/>
            <a:ext cx="457200" cy="731520"/>
          </a:xfrm>
          <a:prstGeom prst="rect">
            <a:avLst/>
          </a:prstGeom>
          <a:noFill/>
          <a:ln/>
        </p:spPr>
        <p:txBody>
          <a:bodyPr wrap="square" rtlCol="0" anchor="ctr"/>
          <a:lstStyle/>
          <a:p>
            <a:pPr marL="0" indent="0">
              <a:buNone/>
            </a:pPr>
            <a:r>
              <a:rPr lang="en-US" sz="6000" dirty="0">
                <a:solidFill>
                  <a:srgbClr val="1A7A9E"/>
                </a:solidFill>
                <a:latin typeface="Georgia" pitchFamily="34" charset="0"/>
                <a:ea typeface="Georgia" pitchFamily="34" charset="-122"/>
                <a:cs typeface="Georgia" pitchFamily="34" charset="-120"/>
              </a:rPr>
              <a:t>"</a:t>
            </a:r>
            <a:endParaRPr lang="en-US" sz="6000" dirty="0"/>
          </a:p>
        </p:txBody>
      </p:sp>
      <p:sp>
        <p:nvSpPr>
          <p:cNvPr id="6" name="Text 4"/>
          <p:cNvSpPr/>
          <p:nvPr/>
        </p:nvSpPr>
        <p:spPr>
          <a:xfrm>
            <a:off x="960120" y="1024128"/>
            <a:ext cx="7132320" cy="1691640"/>
          </a:xfrm>
          <a:prstGeom prst="rect">
            <a:avLst/>
          </a:prstGeom>
          <a:noFill/>
          <a:ln/>
        </p:spPr>
        <p:txBody>
          <a:bodyPr wrap="square" rtlCol="0" anchor="ctr"/>
          <a:lstStyle/>
          <a:p>
            <a:pPr marL="0" indent="0">
              <a:buNone/>
            </a:pPr>
            <a:r>
              <a:rPr lang="en-US" sz="1700" i="1" dirty="0">
                <a:solidFill>
                  <a:srgbClr val="FFFFFF"/>
                </a:solidFill>
                <a:latin typeface="Calibri" pitchFamily="34" charset="0"/>
                <a:ea typeface="Calibri" pitchFamily="34" charset="-122"/>
                <a:cs typeface="Calibri" pitchFamily="34" charset="-120"/>
              </a:rPr>
              <a:t>The person who knows the job will always beat the person who knows the tech.</a:t>
            </a:r>
            <a:endParaRPr lang="en-US" sz="1700" dirty="0"/>
          </a:p>
          <a:p>
            <a:pPr marL="0" indent="0">
              <a:buNone/>
            </a:pPr>
            <a:r>
              <a:rPr lang="en-US" sz="1700" i="1" dirty="0">
                <a:solidFill>
                  <a:srgbClr val="FFFFFF"/>
                </a:solidFill>
                <a:latin typeface="Calibri" pitchFamily="34" charset="0"/>
                <a:ea typeface="Calibri" pitchFamily="34" charset="-122"/>
                <a:cs typeface="Calibri" pitchFamily="34" charset="-120"/>
              </a:rPr>
              <a:t>You know the job. Now you've got the multiplier.</a:t>
            </a:r>
            <a:endParaRPr lang="en-US" sz="1700" dirty="0"/>
          </a:p>
        </p:txBody>
      </p:sp>
      <p:sp>
        <p:nvSpPr>
          <p:cNvPr id="7" name="Text 5"/>
          <p:cNvSpPr/>
          <p:nvPr/>
        </p:nvSpPr>
        <p:spPr>
          <a:xfrm>
            <a:off x="347472" y="3127248"/>
            <a:ext cx="8412480" cy="685800"/>
          </a:xfrm>
          <a:prstGeom prst="rect">
            <a:avLst/>
          </a:prstGeom>
          <a:noFill/>
          <a:ln/>
        </p:spPr>
        <p:txBody>
          <a:bodyPr wrap="square" rtlCol="0" anchor="ctr"/>
          <a:lstStyle/>
          <a:p>
            <a:pPr marL="0" indent="0" algn="ctr">
              <a:buNone/>
            </a:pPr>
            <a:r>
              <a:rPr lang="en-US" sz="2800" b="1" dirty="0">
                <a:solidFill>
                  <a:srgbClr val="FFFFFF"/>
                </a:solidFill>
                <a:latin typeface="Arial Black" pitchFamily="34" charset="0"/>
                <a:ea typeface="Arial Black" pitchFamily="34" charset="-122"/>
                <a:cs typeface="Arial Black" pitchFamily="34" charset="-120"/>
              </a:rPr>
              <a:t>You've already started. Keep going.</a:t>
            </a:r>
            <a:endParaRPr lang="en-US" sz="2800" dirty="0"/>
          </a:p>
        </p:txBody>
      </p:sp>
      <p:sp>
        <p:nvSpPr>
          <p:cNvPr id="8" name="Shape 6"/>
          <p:cNvSpPr/>
          <p:nvPr/>
        </p:nvSpPr>
        <p:spPr>
          <a:xfrm>
            <a:off x="548640" y="3986784"/>
            <a:ext cx="237744" cy="237744"/>
          </a:xfrm>
          <a:prstGeom prst="line">
            <a:avLst/>
          </a:prstGeom>
          <a:solidFill>
            <a:srgbClr val="D4641A"/>
          </a:solidFill>
          <a:ln/>
        </p:spPr>
      </p:sp>
      <p:sp>
        <p:nvSpPr>
          <p:cNvPr id="11" name="Shape 9"/>
          <p:cNvSpPr/>
          <p:nvPr/>
        </p:nvSpPr>
        <p:spPr>
          <a:xfrm>
            <a:off x="548640" y="4334256"/>
            <a:ext cx="237744" cy="237744"/>
          </a:xfrm>
          <a:prstGeom prst="line">
            <a:avLst/>
          </a:prstGeom>
          <a:solidFill>
            <a:srgbClr val="D4641A"/>
          </a:solidFill>
          <a:ln/>
        </p:spPr>
      </p:sp>
      <p:sp>
        <p:nvSpPr>
          <p:cNvPr id="14" name="Shape 12"/>
          <p:cNvSpPr/>
          <p:nvPr/>
        </p:nvSpPr>
        <p:spPr>
          <a:xfrm>
            <a:off x="548640" y="4681728"/>
            <a:ext cx="237744" cy="237744"/>
          </a:xfrm>
          <a:prstGeom prst="line">
            <a:avLst/>
          </a:prstGeom>
          <a:solidFill>
            <a:srgbClr val="D4641A"/>
          </a:solidFill>
          <a:ln/>
        </p:spPr>
      </p:sp>
      <p:sp>
        <p:nvSpPr>
          <p:cNvPr id="17" name="Text 15"/>
          <p:cNvSpPr/>
          <p:nvPr/>
        </p:nvSpPr>
        <p:spPr>
          <a:xfrm>
            <a:off x="347472" y="4892040"/>
            <a:ext cx="8412480" cy="274320"/>
          </a:xfrm>
          <a:prstGeom prst="rect">
            <a:avLst/>
          </a:prstGeom>
          <a:noFill/>
          <a:ln/>
        </p:spPr>
        <p:txBody>
          <a:bodyPr wrap="square" rtlCol="0" anchor="ctr"/>
          <a:lstStyle/>
          <a:p>
            <a:pPr marL="0" indent="0" algn="ctr">
              <a:buNone/>
            </a:pPr>
            <a:r>
              <a:rPr lang="en-US" sz="1000" dirty="0">
                <a:solidFill>
                  <a:srgbClr val="6B7280"/>
                </a:solidFill>
              </a:rPr>
              <a:t>Wisdom Consulting Group  ·  wisdombi.ai</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7092</Words>
  <Application>Microsoft Macintosh PowerPoint</Application>
  <PresentationFormat>On-screen Show (16:9)</PresentationFormat>
  <Paragraphs>512</Paragraphs>
  <Slides>35</Slides>
  <Notes>35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Arial Black</vt:lpstr>
      <vt:lpstr>Calibri</vt:lpstr>
      <vt:lpstr>Courier New</vt:lpstr>
      <vt:lpstr>Georgia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Your Team — Webinar</dc:title>
  <dc:subject>PptxGenJS Presentation</dc:subject>
  <dc:creator>PptxGenJS</dc:creator>
  <cp:lastModifiedBy>Margaret Malouf</cp:lastModifiedBy>
  <cp:revision>2</cp:revision>
  <dcterms:created xsi:type="dcterms:W3CDTF">2026-04-08T23:56:52Z</dcterms:created>
  <dcterms:modified xsi:type="dcterms:W3CDTF">2026-04-09T00:14:35Z</dcterms:modified>
</cp:coreProperties>
</file>